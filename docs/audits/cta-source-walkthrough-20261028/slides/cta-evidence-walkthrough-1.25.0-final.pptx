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81d4a20064957" /><Relationship Type="http://schemas.openxmlformats.org/officeDocument/2006/relationships/extended-properties" Target="/docProps/app.xml" Id="R3dcb7ee0423c4690" /><Relationship Type="http://schemas.openxmlformats.org/officeDocument/2006/relationships/officeDocument" Target="/ppt/presentation.xml" Id="Ra0f70c8dacdb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769449d55d4aa2"/>
  </p:sldMasterIdLst>
  <p:notesMasterIdLst>
    <p:notesMasterId xmlns:r="http://schemas.openxmlformats.org/officeDocument/2006/relationships" r:id="R2626278ed8454b77"/>
  </p:notesMasterIdLst>
  <p:sldIdLst>
    <p:sldId xmlns:r="http://schemas.openxmlformats.org/officeDocument/2006/relationships" id="256" r:id="R759aeaa2372847b8"/>
    <p:sldId xmlns:r="http://schemas.openxmlformats.org/officeDocument/2006/relationships" id="257" r:id="R95f326ee388f4ac4"/>
    <p:sldId xmlns:r="http://schemas.openxmlformats.org/officeDocument/2006/relationships" id="258" r:id="R0e3af4faa8524ae6"/>
    <p:sldId xmlns:r="http://schemas.openxmlformats.org/officeDocument/2006/relationships" id="259" r:id="R0a73a1cf884c4d18"/>
    <p:sldId xmlns:r="http://schemas.openxmlformats.org/officeDocument/2006/relationships" id="260" r:id="R3b12420b7900468e"/>
    <p:sldId xmlns:r="http://schemas.openxmlformats.org/officeDocument/2006/relationships" id="261" r:id="Rf42195ab6f21442c"/>
    <p:sldId xmlns:r="http://schemas.openxmlformats.org/officeDocument/2006/relationships" id="262" r:id="Rc94ccc99d0ad49cf"/>
    <p:sldId xmlns:r="http://schemas.openxmlformats.org/officeDocument/2006/relationships" id="263" r:id="R91096898210b404a"/>
    <p:sldId xmlns:r="http://schemas.openxmlformats.org/officeDocument/2006/relationships" id="264" r:id="Rd908d68669f54ac6"/>
    <p:sldId xmlns:r="http://schemas.openxmlformats.org/officeDocument/2006/relationships" id="265" r:id="Ra4bc66ce5ee3434d"/>
    <p:sldId xmlns:r="http://schemas.openxmlformats.org/officeDocument/2006/relationships" id="266" r:id="Rdee86c66268b4ea2"/>
    <p:sldId xmlns:r="http://schemas.openxmlformats.org/officeDocument/2006/relationships" id="267" r:id="R75d9d04e151d4174"/>
    <p:sldId xmlns:r="http://schemas.openxmlformats.org/officeDocument/2006/relationships" id="268" r:id="Rb28c54653a2b41a0"/>
    <p:sldId xmlns:r="http://schemas.openxmlformats.org/officeDocument/2006/relationships" id="269" r:id="Rae95d46ac86f4cba"/>
    <p:sldId xmlns:r="http://schemas.openxmlformats.org/officeDocument/2006/relationships" id="270" r:id="Redafe23a4985493f"/>
    <p:sldId xmlns:r="http://schemas.openxmlformats.org/officeDocument/2006/relationships" id="271" r:id="R570c3d68a7544d33"/>
    <p:sldId xmlns:r="http://schemas.openxmlformats.org/officeDocument/2006/relationships" id="272" r:id="Ra803b48ea65e462b"/>
    <p:sldId xmlns:r="http://schemas.openxmlformats.org/officeDocument/2006/relationships" id="273" r:id="Red87e35f97934960"/>
    <p:sldId xmlns:r="http://schemas.openxmlformats.org/officeDocument/2006/relationships" id="274" r:id="R36ed574889d24c13"/>
    <p:sldId xmlns:r="http://schemas.openxmlformats.org/officeDocument/2006/relationships" id="275" r:id="R131d2f7b21b14fec"/>
    <p:sldId xmlns:r="http://schemas.openxmlformats.org/officeDocument/2006/relationships" id="276" r:id="R29bcd4340ed44daa"/>
    <p:sldId xmlns:r="http://schemas.openxmlformats.org/officeDocument/2006/relationships" id="277" r:id="Rc773815b4184406b"/>
    <p:sldId xmlns:r="http://schemas.openxmlformats.org/officeDocument/2006/relationships" id="278" r:id="Ra7b940f4d0874ef0"/>
    <p:sldId xmlns:r="http://schemas.openxmlformats.org/officeDocument/2006/relationships" id="279" r:id="Rc4b4c1db0bdb401c"/>
    <p:sldId xmlns:r="http://schemas.openxmlformats.org/officeDocument/2006/relationships" id="280" r:id="R3b969696b5ad4747"/>
    <p:sldId xmlns:r="http://schemas.openxmlformats.org/officeDocument/2006/relationships" id="281" r:id="R1cabe6d2063f4f99"/>
    <p:sldId xmlns:r="http://schemas.openxmlformats.org/officeDocument/2006/relationships" id="282" r:id="R8d6fc01e02ad4f97"/>
    <p:sldId xmlns:r="http://schemas.openxmlformats.org/officeDocument/2006/relationships" id="283" r:id="Rc55fe475d99642a3"/>
    <p:sldId xmlns:r="http://schemas.openxmlformats.org/officeDocument/2006/relationships" id="284" r:id="Rdccfc9df520246fb"/>
    <p:sldId xmlns:r="http://schemas.openxmlformats.org/officeDocument/2006/relationships" id="285" r:id="R371a947523fd4e41"/>
    <p:sldId xmlns:r="http://schemas.openxmlformats.org/officeDocument/2006/relationships" id="286" r:id="R84eaaee4c7d24936"/>
    <p:sldId xmlns:r="http://schemas.openxmlformats.org/officeDocument/2006/relationships" id="287" r:id="Rc17a2f49ed2e43c0"/>
    <p:sldId xmlns:r="http://schemas.openxmlformats.org/officeDocument/2006/relationships" id="288" r:id="R6224530eebda4d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adcc1d56df403c" /><Relationship Type="http://schemas.openxmlformats.org/officeDocument/2006/relationships/slideMaster" Target="/ppt/slideMasters/slideMaster1.xml" Id="R34769449d55d4aa2" /><Relationship Type="http://schemas.openxmlformats.org/officeDocument/2006/relationships/notesMaster" Target="/ppt/notesMasters/notesMaster1.xml" Id="R2626278ed8454b77" /><Relationship Type="http://schemas.openxmlformats.org/officeDocument/2006/relationships/presProps" Target="/ppt/presProps.xml" Id="R9de104b5c1894d2d" /><Relationship Type="http://schemas.openxmlformats.org/officeDocument/2006/relationships/tableStyles" Target="/ppt/tableStyles.xml" Id="Rf9dca25e65e14720" /><Relationship Type="http://schemas.openxmlformats.org/officeDocument/2006/relationships/slide" Target="/ppt/slides/slide1.xml" Id="R759aeaa2372847b8" /><Relationship Type="http://schemas.openxmlformats.org/officeDocument/2006/relationships/slide" Target="/ppt/slides/slide2.xml" Id="R95f326ee388f4ac4" /><Relationship Type="http://schemas.openxmlformats.org/officeDocument/2006/relationships/slide" Target="/ppt/slides/slide3.xml" Id="R0e3af4faa8524ae6" /><Relationship Type="http://schemas.openxmlformats.org/officeDocument/2006/relationships/slide" Target="/ppt/slides/slide4.xml" Id="R0a73a1cf884c4d18" /><Relationship Type="http://schemas.openxmlformats.org/officeDocument/2006/relationships/slide" Target="/ppt/slides/slide5.xml" Id="R3b12420b7900468e" /><Relationship Type="http://schemas.openxmlformats.org/officeDocument/2006/relationships/slide" Target="/ppt/slides/slide6.xml" Id="Rf42195ab6f21442c" /><Relationship Type="http://schemas.openxmlformats.org/officeDocument/2006/relationships/slide" Target="/ppt/slides/slide7.xml" Id="Rc94ccc99d0ad49cf" /><Relationship Type="http://schemas.openxmlformats.org/officeDocument/2006/relationships/slide" Target="/ppt/slides/slide8.xml" Id="R91096898210b404a" /><Relationship Type="http://schemas.openxmlformats.org/officeDocument/2006/relationships/slide" Target="/ppt/slides/slide9.xml" Id="Rd908d68669f54ac6" /><Relationship Type="http://schemas.openxmlformats.org/officeDocument/2006/relationships/slide" Target="/ppt/slides/slide10.xml" Id="Ra4bc66ce5ee3434d" /><Relationship Type="http://schemas.openxmlformats.org/officeDocument/2006/relationships/slide" Target="/ppt/slides/slide11.xml" Id="Rdee86c66268b4ea2" /><Relationship Type="http://schemas.openxmlformats.org/officeDocument/2006/relationships/slide" Target="/ppt/slides/slide12.xml" Id="R75d9d04e151d4174" /><Relationship Type="http://schemas.openxmlformats.org/officeDocument/2006/relationships/slide" Target="/ppt/slides/slide13.xml" Id="Rb28c54653a2b41a0" /><Relationship Type="http://schemas.openxmlformats.org/officeDocument/2006/relationships/slide" Target="/ppt/slides/slide14.xml" Id="Rae95d46ac86f4cba" /><Relationship Type="http://schemas.openxmlformats.org/officeDocument/2006/relationships/slide" Target="/ppt/slides/slide15.xml" Id="Redafe23a4985493f" /><Relationship Type="http://schemas.openxmlformats.org/officeDocument/2006/relationships/slide" Target="/ppt/slides/slide16.xml" Id="R570c3d68a7544d33" /><Relationship Type="http://schemas.openxmlformats.org/officeDocument/2006/relationships/slide" Target="/ppt/slides/slide17.xml" Id="Ra803b48ea65e462b" /><Relationship Type="http://schemas.openxmlformats.org/officeDocument/2006/relationships/slide" Target="/ppt/slides/slide18.xml" Id="Red87e35f97934960" /><Relationship Type="http://schemas.openxmlformats.org/officeDocument/2006/relationships/slide" Target="/ppt/slides/slide19.xml" Id="R36ed574889d24c13" /><Relationship Type="http://schemas.openxmlformats.org/officeDocument/2006/relationships/slide" Target="/ppt/slides/slide20.xml" Id="R131d2f7b21b14fec" /><Relationship Type="http://schemas.openxmlformats.org/officeDocument/2006/relationships/slide" Target="/ppt/slides/slide21.xml" Id="R29bcd4340ed44daa" /><Relationship Type="http://schemas.openxmlformats.org/officeDocument/2006/relationships/slide" Target="/ppt/slides/slide22.xml" Id="Rc773815b4184406b" /><Relationship Type="http://schemas.openxmlformats.org/officeDocument/2006/relationships/slide" Target="/ppt/slides/slide23.xml" Id="Ra7b940f4d0874ef0" /><Relationship Type="http://schemas.openxmlformats.org/officeDocument/2006/relationships/slide" Target="/ppt/slides/slide24.xml" Id="Rc4b4c1db0bdb401c" /><Relationship Type="http://schemas.openxmlformats.org/officeDocument/2006/relationships/slide" Target="/ppt/slides/slide25.xml" Id="R3b969696b5ad4747" /><Relationship Type="http://schemas.openxmlformats.org/officeDocument/2006/relationships/slide" Target="/ppt/slides/slide26.xml" Id="R1cabe6d2063f4f99" /><Relationship Type="http://schemas.openxmlformats.org/officeDocument/2006/relationships/slide" Target="/ppt/slides/slide27.xml" Id="R8d6fc01e02ad4f97" /><Relationship Type="http://schemas.openxmlformats.org/officeDocument/2006/relationships/slide" Target="/ppt/slides/slide28.xml" Id="Rc55fe475d99642a3" /><Relationship Type="http://schemas.openxmlformats.org/officeDocument/2006/relationships/slide" Target="/ppt/slides/slide29.xml" Id="Rdccfc9df520246fb" /><Relationship Type="http://schemas.openxmlformats.org/officeDocument/2006/relationships/slide" Target="/ppt/slides/slide30.xml" Id="R371a947523fd4e41" /><Relationship Type="http://schemas.openxmlformats.org/officeDocument/2006/relationships/slide" Target="/ppt/slides/slide31.xml" Id="R84eaaee4c7d24936" /><Relationship Type="http://schemas.openxmlformats.org/officeDocument/2006/relationships/slide" Target="/ppt/slides/slide32.xml" Id="Rc17a2f49ed2e43c0" /><Relationship Type="http://schemas.openxmlformats.org/officeDocument/2006/relationships/slide" Target="/ppt/slides/slide33.xml" Id="R6224530eebda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3bd0b11dd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654cf1e99c488d" /><Relationship Type="http://schemas.openxmlformats.org/officeDocument/2006/relationships/notesMaster" Target="/ppt/notesMasters/notesMaster1.xml" Id="Ra1db6183c29d43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9eed6f8a3f428b" /><Relationship Type="http://schemas.openxmlformats.org/officeDocument/2006/relationships/notesMaster" Target="/ppt/notesMasters/notesMaster1.xml" Id="R491e6f2800464c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1ab4eaf6994caf" /><Relationship Type="http://schemas.openxmlformats.org/officeDocument/2006/relationships/notesMaster" Target="/ppt/notesMasters/notesMaster1.xml" Id="R3292f71d2033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665c75bca4d83" /><Relationship Type="http://schemas.openxmlformats.org/officeDocument/2006/relationships/notesMaster" Target="/ppt/notesMasters/notesMaster1.xml" Id="R34ad188d3b7742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75d8508e44489" /><Relationship Type="http://schemas.openxmlformats.org/officeDocument/2006/relationships/notesMaster" Target="/ppt/notesMasters/notesMaster1.xml" Id="R36e68d406d1340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57830be18749de" /><Relationship Type="http://schemas.openxmlformats.org/officeDocument/2006/relationships/notesMaster" Target="/ppt/notesMasters/notesMaster1.xml" Id="R58b9137bca53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00e9147f43429d" /><Relationship Type="http://schemas.openxmlformats.org/officeDocument/2006/relationships/notesMaster" Target="/ppt/notesMasters/notesMaster1.xml" Id="R349a1c6bc185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5fd62e3b4e4a0f" /><Relationship Type="http://schemas.openxmlformats.org/officeDocument/2006/relationships/notesMaster" Target="/ppt/notesMasters/notesMaster1.xml" Id="Rc1d067ecdeca45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758b14cf24452b" /><Relationship Type="http://schemas.openxmlformats.org/officeDocument/2006/relationships/notesMaster" Target="/ppt/notesMasters/notesMaster1.xml" Id="R0e4b1fec555e46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e91ac2d106497e" /><Relationship Type="http://schemas.openxmlformats.org/officeDocument/2006/relationships/notesMaster" Target="/ppt/notesMasters/notesMaster1.xml" Id="R6bd1a5046f7844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1b800c3af741e0" /><Relationship Type="http://schemas.openxmlformats.org/officeDocument/2006/relationships/notesMaster" Target="/ppt/notesMasters/notesMaster1.xml" Id="Raf8b6367a09740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aecd449c874111" /><Relationship Type="http://schemas.openxmlformats.org/officeDocument/2006/relationships/notesMaster" Target="/ppt/notesMasters/notesMaster1.xml" Id="R13af33aff9f448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7465406a8a4a84" /><Relationship Type="http://schemas.openxmlformats.org/officeDocument/2006/relationships/notesMaster" Target="/ppt/notesMasters/notesMaster1.xml" Id="Red09cadc9b004e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6527b95cce43b8" /><Relationship Type="http://schemas.openxmlformats.org/officeDocument/2006/relationships/notesMaster" Target="/ppt/notesMasters/notesMaster1.xml" Id="R5c9e1db40f0244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f2f47a664b44b4" /><Relationship Type="http://schemas.openxmlformats.org/officeDocument/2006/relationships/notesMaster" Target="/ppt/notesMasters/notesMaster1.xml" Id="Ra20ab92256b94c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fb77c84faf4cbc" /><Relationship Type="http://schemas.openxmlformats.org/officeDocument/2006/relationships/notesMaster" Target="/ppt/notesMasters/notesMaster1.xml" Id="R1ccd7f70cee64b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13ad94e3c14e4c" /><Relationship Type="http://schemas.openxmlformats.org/officeDocument/2006/relationships/notesMaster" Target="/ppt/notesMasters/notesMaster1.xml" Id="R53e1543c7a2844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f0ed25a38845c1" /><Relationship Type="http://schemas.openxmlformats.org/officeDocument/2006/relationships/notesMaster" Target="/ppt/notesMasters/notesMaster1.xml" Id="R63bc95cf3b664a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0cb548269b4f7b" /><Relationship Type="http://schemas.openxmlformats.org/officeDocument/2006/relationships/notesMaster" Target="/ppt/notesMasters/notesMaster1.xml" Id="R43d62f976cfc4d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ed837e12ea478e" /><Relationship Type="http://schemas.openxmlformats.org/officeDocument/2006/relationships/notesMaster" Target="/ppt/notesMasters/notesMaster1.xml" Id="R23dcabd0c37045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923a52c6064669" /><Relationship Type="http://schemas.openxmlformats.org/officeDocument/2006/relationships/notesMaster" Target="/ppt/notesMasters/notesMaster1.xml" Id="R6e11a3fe6f6742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5a1eb060374b9f" /><Relationship Type="http://schemas.openxmlformats.org/officeDocument/2006/relationships/notesMaster" Target="/ppt/notesMasters/notesMaster1.xml" Id="Rb0dc1aa65e0c49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3db664255b4de6" /><Relationship Type="http://schemas.openxmlformats.org/officeDocument/2006/relationships/notesMaster" Target="/ppt/notesMasters/notesMaster1.xml" Id="R8d875e6838be4c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5e8ccf192914d03" /><Relationship Type="http://schemas.openxmlformats.org/officeDocument/2006/relationships/notesMaster" Target="/ppt/notesMasters/notesMaster1.xml" Id="Raee40f0bb30e4d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3efa7c1bb09432f" /><Relationship Type="http://schemas.openxmlformats.org/officeDocument/2006/relationships/notesMaster" Target="/ppt/notesMasters/notesMaster1.xml" Id="Re4e0b1bbfe624b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1a775f3d5b4256" /><Relationship Type="http://schemas.openxmlformats.org/officeDocument/2006/relationships/notesMaster" Target="/ppt/notesMasters/notesMaster1.xml" Id="R18bcd0596f3840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902b3a9bcc415d" /><Relationship Type="http://schemas.openxmlformats.org/officeDocument/2006/relationships/notesMaster" Target="/ppt/notesMasters/notesMaster1.xml" Id="R01fc6198d3d943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3a08e5d0714bbc" /><Relationship Type="http://schemas.openxmlformats.org/officeDocument/2006/relationships/notesMaster" Target="/ppt/notesMasters/notesMaster1.xml" Id="R23abfc67ce7748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0cba8633e04efa" /><Relationship Type="http://schemas.openxmlformats.org/officeDocument/2006/relationships/notesMaster" Target="/ppt/notesMasters/notesMaster1.xml" Id="R94de320d423c43d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85117bf51b4232" /><Relationship Type="http://schemas.openxmlformats.org/officeDocument/2006/relationships/notesMaster" Target="/ppt/notesMasters/notesMaster1.xml" Id="Rfa1a4ed634f04e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dc16e3cae04bdd" /><Relationship Type="http://schemas.openxmlformats.org/officeDocument/2006/relationships/notesMaster" Target="/ppt/notesMasters/notesMaster1.xml" Id="Rd5bd7dfef403432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9c653af8e04e1c" /><Relationship Type="http://schemas.openxmlformats.org/officeDocument/2006/relationships/notesMaster" Target="/ppt/notesMasters/notesMaster1.xml" Id="Rd7cb7286928244c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91f561575a43d8" /><Relationship Type="http://schemas.openxmlformats.org/officeDocument/2006/relationships/notesMaster" Target="/ppt/notesMasters/notesMaster1.xml" Id="R0c970ecb28b947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and dog CTA evidence</a:t>
            </a:r>
          </a:p>
          <a:p xmlns:a="http://schemas.openxmlformats.org/drawingml/2006/main">
            <a:r>
              <a:t>One RNA ceiling. Neither is the assessed normal-pass, noncandidate fallback. Unassigned is an assessment status, not a biological category.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Safety, cancer and Reproductive evidence</a:t>
            </a:r>
          </a:p>
          <a:p xmlns:a="http://schemas.openxmlformats.org/drawingml/2006/main">
            <a:r>
              <a:t>Only safety supplies Unsafe evidence. Reproductive is the umbrella for adult reproductive, placental, extraembryonic, embryonic and fetal contexts.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Diffuse expression is an identity question</a:t>
            </a:r>
          </a:p>
          <a:p xmlns:a="http://schemas.openxmlformats.org/drawingml/2006/main">
            <a:r>
              <a:t>The old normal-maximum veto is removed. Diffuseness averages N/(N+R) across fixed weighted normal contexts, including Disposable. The active 10% adult/placental identity boundary requires complete HPA measurements and an RNA- or IHC-supported positive reference. Thymus is Permissive and excluded. Supported embryonic evidence retains its separate route with unassessed concentration.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fixed GTEx core for every protein</a:t>
            </a:r>
          </a:p>
          <a:p xmlns:a="http://schemas.openxmlformats.org/drawingml/2006/main">
            <a:r>
              <a:t>GTEx v11 uses 52 native bulk contexts, 9 Reproductive and 43 other. Every member locus must be measured. 19,119 / 19,863 proteins have full coverage; no intermediate coverage profiles occur.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ZNF730: panel composition matters</a:t>
            </a:r>
          </a:p>
          <a:p xmlns:a="http://schemas.openxmlformats.org/drawingml/2006/main">
            <a:r>
              <a:t>Full tissue tables: https://pirl-unc.github.io/oncoref/audits/cta-unassigned-20261029/znf730/ . Original panels differ; scores are not a controlled assay comparison.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candidate lists</a:t>
            </a:r>
          </a:p>
          <a:p xmlns:a="http://schemas.openxmlformats.org/drawingml/2006/main">
            <a:r>
              <a:t>da Silva et al. (2017): https://doi.org/10.18632/oncotarget.21715</a:t>
            </a:r>
          </a:p>
          <a:p xmlns:a="http://schemas.openxmlformats.org/drawingml/2006/main">
            <a:r>
              <a:t>Wang et al. (2016): https://doi.org/10.1038/ncomms10499</a:t>
            </a:r>
          </a:p>
          <a:p xmlns:a="http://schemas.openxmlformats.org/drawingml/2006/main">
            <a:r>
              <a:t>Chang et al. (2019): https://doi.org/10.1002/cam4.2223</a:t>
            </a:r>
          </a:p>
          <a:p xmlns:a="http://schemas.openxmlformats.org/drawingml/2006/main">
            <a:r>
              <a:t>Gong et al. (2021): https://doi.org/10.1038/s41467-021-22695-y</a:t>
            </a:r>
          </a:p>
          <a:p xmlns:a="http://schemas.openxmlformats.org/drawingml/2006/main">
            <a:r>
              <a:t>Bruggeman et al. (2018): https://doi.org/10.1038/s41388-018-0357-2</a:t>
            </a:r>
          </a:p>
          <a:p xmlns:a="http://schemas.openxmlformats.org/drawingml/2006/main">
            <a:r>
              <a:t>Jamin et al. (2021): https://doi.org/10.1002/1878-0261.12900</a:t>
            </a:r>
          </a:p>
          <a:p xmlns:a="http://schemas.openxmlformats.org/drawingml/2006/main">
            <a:r>
              <a:t>Loriot et al. (2025): https://doi.org/10.1371/journal.pgen.1011734</a:t>
            </a:r>
          </a:p>
          <a:p xmlns:a="http://schemas.openxmlformats.org/drawingml/2006/main">
            <a:r>
              <a:t>Carter et al. (2023): https://doi.org/10.1136/jitc-2023-007935</a:t>
            </a:r>
          </a:p>
          <a:p xmlns:a="http://schemas.openxmlformats.org/drawingml/2006/main">
            <a:r>
              <a:t>Hirbo et al. (2015): https://doi.org/10.1371/journal.pone.0144155</a:t>
            </a:r>
          </a:p>
          <a:p xmlns:a="http://schemas.openxmlformats.org/drawingml/2006/main">
            <a:r>
              <a:t>Seager et al. (2024): https://doi.org/10.1186/s12967-024-04918-0</a:t>
            </a:r>
          </a:p>
          <a:p xmlns:a="http://schemas.openxmlformats.org/drawingml/2006/main">
            <a:r>
              <a:t>Sasaroli et al. (2011): https://doi.org/10.4161/cbt.12.3.16260</a:t>
            </a:r>
          </a:p>
          <a:p xmlns:a="http://schemas.openxmlformats.org/drawingml/2006/main">
            <a:r>
              <a:t>Garg et al. (2007): https://doi.org/10.1158/1078-0432.CCR-06-2340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Broader published nominations</a:t>
            </a:r>
          </a:p>
          <a:p xmlns:a="http://schemas.openxmlformats.org/drawingml/2006/main">
            <a:r>
              <a:t>Sasaroli et al. (2011) https://doi.org/10.4161/cbt.12.3.16260 . Hirbo et al. (2015) https://doi.org/10.1371/journal.pone.0144155 . Exact extracted rows and matching receipts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Overlap between published lists</a:t>
            </a:r>
          </a:p>
          <a:p xmlns:a="http://schemas.openxmlformats.org/drawingml/2006/main">
            <a:r>
              <a:t>Tables and author-recognized prior antigens within the same paper are unioned. Evidence roles, source IDs and pairwise counts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Reproductive evidence: measured branches</a:t>
            </a:r>
          </a:p>
          <a:p xmlns:a="http://schemas.openxmlformats.org/drawingml/2006/main">
            <a:r>
              <a:t>Tyser et al. (2021): https://doi.org/10.1038/s41586-021-04158-y . HPA v23 https://v23.proteinatlas.org/about/download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 and cancer measurement sources</a:t>
            </a:r>
          </a:p>
          <a:p xmlns:a="http://schemas.openxmlformats.org/drawingml/2006/main">
            <a:r>
              <a:t>HPA https://v23.proteinatlas.org/about/download ; DICE https://dice-database.org/ ; cornea https://www.ncbi.nlm.nih.gov/geo/query/acc.cgi?acc=GSE155683 ; Tyser https://doi.org/10.1038/s41586-021-04158-y . Full URLs and sample lineage accompany the report.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RNA cutoffs</a:t>
            </a:r>
          </a:p>
          <a:p xmlns:a="http://schemas.openxmlformats.org/drawingml/2006/main">
            <a:r>
              <a:t>The same nominal values apply across native TPM/nTPM assays. CP10K uses nominal /100, not a TPM conversion. Values are screening-policy choices, not measured toxicity limits.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evidence adjusts RNA ceilings</a:t>
            </a:r>
          </a:p>
          <a:p xmlns:a="http://schemas.openxmlformats.org/drawingml/2006/main">
            <a:r>
              <a:t>One step for reviewed treated-cohort evidence without identified grade 4-5 specificity-related toxicity; cap at Enhanced. Unknown or suspected specificity injury blocks product credit. Exact peptide/HLA/receptor limits remain. Clinical trial and SAE review: https://pirl-unc.github.io/oncoref/audits/cta-tcr-trials-20261029/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Serious events and antigen specificity</a:t>
            </a:r>
          </a:p>
          <a:p xmlns:a="http://schemas.openxmlformats.org/drawingml/2006/main">
            <a:r>
              <a:t>Letetresgene Autoleucel in Advanced/Metastatic Myxoid/Round Cell Liposarcoma: https://doi.org/10.1200/JCO-24-01466</a:t>
            </a:r>
          </a:p>
          <a:p xmlns:a="http://schemas.openxmlformats.org/drawingml/2006/main">
            <a:r>
              <a:t>Autologous T cell therapy for PRAME+ advanced solid tumors in HLA-A*02+ patients: a phase 1 trial: https://doi.org/10.1038/s41591-025-03650-6</a:t>
            </a:r>
          </a:p>
          <a:p xmlns:a="http://schemas.openxmlformats.org/drawingml/2006/main">
            <a:r>
              <a:t>Autologous T cell therapy for MAGE-A4+ solid cancers in HLA-A*02+ patients: a phase 1 trial: https://doi.org/10.1038/s41591-022-02128-z</a:t>
            </a:r>
          </a:p>
          <a:p xmlns:a="http://schemas.openxmlformats.org/drawingml/2006/main">
            <a:r>
              <a:t>SPEARHEAD-1: a single-arm phase 2 trial of afamitresgene autoleucel in advanced synovial sarcoma and myxoid/round cell liposarcoma: https://doi.org/10.1016/S0140-6736(24)00319-2</a:t>
            </a:r>
          </a:p>
          <a:p xmlns:a="http://schemas.openxmlformats.org/drawingml/2006/main">
            <a:r>
              <a:t>Identification of a Titin-Derived HLA-A1-Presented Peptide as a Cross-Reactive Target for Engineered MAGE A3-Directed T Cells: https://doi.org/10.1126/scitranslmed.3006034</a:t>
            </a:r>
          </a:p>
          <a:p xmlns:a="http://schemas.openxmlformats.org/drawingml/2006/main">
            <a:r>
              <a:t>Guillain-Barre syndrome observed with adoptive transfer of lymphocytes genetically engineered with an NY-ESO-1 reactive T-cell receptor: https://doi.org/10.1186/s40425-019-0759-x</a:t>
            </a:r>
          </a:p>
          <a:p xmlns:a="http://schemas.openxmlformats.org/drawingml/2006/main">
            <a:r>
              <a:t>NCT03709706 protocol: NY-ESO-1/LAGE-1A shared peptide and c259 receptor: https://cdn.clinicaltrials.gov/large-docs/06/NCT03709706/Prot_000.pdf</a:t>
            </a:r>
          </a:p>
          <a:p xmlns:a="http://schemas.openxmlformats.org/drawingml/2006/main">
            <a:r>
              <a:t>NCT03132922 protocol: MAGE-A4 c1032 target peptide: https://cdn.clinicaltrials.gov/large-docs/22/NCT03132922/Prot_000.pdf</a:t>
            </a:r>
          </a:p>
          <a:p xmlns:a="http://schemas.openxmlformats.org/drawingml/2006/main">
            <a:r>
              <a:t>First-in-human dose escalation trial to evaluate the clinical safety and efficacy of an anti-MAGEA1 autologous TCR-transgenic T cell therapy in relapsed and refractory solid tumors: https://doi.org/10.1136/jitc-2023-008668</a:t>
            </a:r>
          </a:p>
          <a:p xmlns:a="http://schemas.openxmlformats.org/drawingml/2006/main">
            <a:r>
              <a:t>Phase I clinical trial evaluating the safety and efficacy of ADP-A2M10 SPEAR T cells in patients with MAGE-A10+ advanced non-small cell lung cancer: https://doi.org/10.1136/jitc-2021-003581</a:t>
            </a:r>
          </a:p>
          <a:p xmlns:a="http://schemas.openxmlformats.org/drawingml/2006/main">
            <a:r>
              <a:t>NY-ESO-1-specific redirected T cells with endogenous TCR knockdown mediate tumor response and cytokine release syndrome: https://doi.org/10.1136/jitc-2021-003811</a:t>
            </a:r>
          </a:p>
          <a:p xmlns:a="http://schemas.openxmlformats.org/drawingml/2006/main">
            <a:r>
              <a:t>Cancer regression and neurological toxicity following anti-MAGE-A3 TCR gene therapy: https://pubmed.ncbi.nlm.nih.gov/23377668/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Neither is the normal-pass fallback</a:t>
            </a:r>
          </a:p>
          <a:p xmlns:a="http://schemas.openxmlformats.org/drawingml/2006/main">
            <a:r>
              <a:t>Complete required normal coverage and resolved evidence are required. Cancer expression may be high, low or missing. No profile overrides a normal ceiling.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Tumor-restricted candidates</a:t>
            </a:r>
          </a:p>
          <a:p xmlns:a="http://schemas.openxmlformats.org/drawingml/2006/main">
            <a:r>
              <a:t>Two distinct tumor samples at &gt;=10 native TPM, or reviewed reliable tumor protein. Restriction also requires low measured normal/developmental expression and adequate coverage of relevant rare cells and states.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filtering layer can contribute</a:t>
            </a:r>
          </a:p>
          <a:p xmlns:a="http://schemas.openxmlformats.org/drawingml/2006/main">
            <a:r>
              <a:t>The gray segment is held/unassigned evidence, not Neither. The final profile check assigns Neither. All layers evaluate every protein; final categories are independent of display order.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Removals at each filter</a:t>
            </a:r>
          </a:p>
          <a:p xmlns:a="http://schemas.openxmlformats.org/drawingml/2006/main">
            <a:r>
              <a:t>Sequential first removals depend on the displayed order; the independent-layer table reports overlaps.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IHC matching to measured RNA compartments</a:t>
            </a:r>
          </a:p>
          <a:p xmlns:a="http://schemas.openxmlformats.org/drawingml/2006/main">
            <a:r>
              <a:t>HPA colon https://www.proteinatlas.org/learn/dictionary/normal/colon ; bronchus https://www.proteinatlas.org/learn/dictionary/normal/bronchus . Parent-compartment credit is a declared anatomical interpretation, not proof that all rare cells were sampled.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adult/placental versus embryonic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healthy RNA in TPM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CTA: normal corneal RNA</a:t>
            </a:r>
          </a:p>
          <a:p xmlns:a="http://schemas.openxmlformats.org/drawingml/2006/main">
            <a:r>
              <a:t>Color uses the highest supported non-disposable healthy expression within the stated native unit. There is no mixed-unit maximum. Labels include widely studied antigens with mapped values. Companion panels label all selected proteins ≥5 on both axes. Missing embryonic measurements appear in a separate categorical band; every selected protein is represented without zero filling.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1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2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 adult/placental and embryonic RNA: labels 3 of 3</a:t>
            </a:r>
          </a:p>
          <a:p xmlns:a="http://schemas.openxmlformats.org/drawingml/2006/main">
            <a:r>
              <a:t>The three panels use identical axes and together label all selected proteins with reproductive nTPM ≥5 and measured embryonic lineage-mean TPM ≥5. This descriptive threshold does not replace developmental cell-support requirements. Color is the highest non-disposable healthy nTPM.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Complementary embryonic measurements</a:t>
            </a:r>
          </a:p>
          <a:p xmlns:a="http://schemas.openxmlformats.org/drawingml/2006/main">
            <a:r>
              <a:t>Tyser E-MTAB-9388 https://doi.org/10.1038/s41586-021-04158-y . Petropoulos E-MTAB-3929 https://www.ebi.ac.uk/gxa/sc/experiments/E-MTAB-3929/Results . Sources retain their own stage, cell support and donor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adult/placental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Widely studied antigens: embryonic RNA</a:t>
            </a:r>
          </a:p>
          <a:p xmlns:a="http://schemas.openxmlformats.org/drawingml/2006/main">
            <a:r>
              <a:t>MAGE-A1 and MAGE-A3 are comparators, not admission controls. Full-width figures highlight PRAME, NY-ESO-1 (CTAG1A/B), XAGE1A/B, MAGE-A4, CT83, SSX2/B and TBXT. Missing embryonic measurements are in a separate band.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status is separate from category</a:t>
            </a:r>
          </a:p>
          <a:p xmlns:a="http://schemas.openxmlformats.org/drawingml/2006/main">
            <a:r>
              <a:t>A category can be assigned despite gaps in optional or irrelevant sources. Screened does not mean clinically safe or fully measured. MAGE-A3 has measured colon counterevidence. An independent developmental measurement cannot erase it.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Which sources have incomplete evidence</a:t>
            </a:r>
          </a:p>
          <a:p xmlns:a="http://schemas.openxmlformats.org/drawingml/2006/main">
            <a:r>
              <a:t>Source versions, complete missing tissue/cell contexts, member ENSG IDs, historical IDs, synonyms and tumor cohort coverage: https://pirl-unc.github.io/oncoref/audits/cta-source-walkthrough-20261028/coverage/ . Counts overlap and do not sum to a total.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Dog evidence and integration gaps</a:t>
            </a:r>
          </a:p>
          <a:p xmlns:a="http://schemas.openxmlformats.org/drawingml/2006/main">
            <a:r>
              <a:t>Nemec et al. (2019) https://doi.org/10.1111/vco.12475 ; Hindriks et al. (2025) https://doi.org/10.1016/j.vetimm.2025.110946 . Issues https://github.com/pirl-unc/oncoref/issues/574 and https://github.com/pirl-unc/oncoref/issues/585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Curated oncofetal sources</a:t>
            </a:r>
          </a:p>
          <a:p xmlns:a="http://schemas.openxmlformats.org/drawingml/2006/main">
            <a:r>
              <a:t>Shaw et al. (2024) https://doi.org/10.1038/s41467-024-47649-y ; TRIM71 liver study https://pmc.ncbi.nlm.nih.gov/articles/PMC11388079/ ; Cardoso-Moreira et al. (2019) https://pmc.ncbi.nlm.nih.gov/articles/PMC6658352/ . Newly identified sources are not in current selection counts.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API with native evidence underneath</a:t>
            </a:r>
          </a:p>
          <a:p xmlns:a="http://schemas.openxmlformats.org/drawingml/2006/main">
            <a:r>
              <a:t>Human, dog and mouse share schema and explicit unavailable states. Data are offline and checksum-verified. Frozen release reports remain unchanged.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source resolves to a concrete version</a:t>
            </a:r>
          </a:p>
          <a:p xmlns:a="http://schemas.openxmlformats.org/drawingml/2006/main">
            <a:r>
              <a:t>Data version API: https://pirl-unc.github.io/oncoref/data-versions/ . GTEx versions and pipelines: https://github.com/broadinstitute/gtex-pipeline/blob/master/rnaseq/README.md . HPA current RNA snapshot: https://github.com/pirl-unc/oncoref/releases/tag/reference-hpa-v25.1-20261028 .</a:t>
            </a:r>
          </a:p>
          <a:p xmlns:a="http://schemas.openxmlformats.org/drawingml/2006/main">
            <a:r>
              <a:t>Report: https://pirl-unc.github.io/oncoref/audits/cta-source-walkthrough-20261028/</a:t>
            </a:r>
          </a:p>
          <a:p xmlns:a="http://schemas.openxmlformats.org/drawingml/2006/main">
            <a:r>
              <a:t>Policy: oncoref.cta-selection.2026-10-30.1</a:t>
            </a:r>
          </a:p>
          <a:p xmlns:a="http://schemas.openxmlformats.org/drawingml/2006/main">
            <a:r>
              <a:t>Decision snapshot SHA256: 6b390e742c2d5adfa7350cc382f3323e411bff47eacc37e7b3ece7a39ed09ece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7fb4a26b945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2b4917bc545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e372b1fc74d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d89fca4194b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393e7dd2345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7d7bd75844b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6A8C7B-9D8C-4C78-9436-B6CD139D7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225C55-71E4-49D8-9AE7-7243A74077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6CB2B2-DDC7-4FE2-A92F-14A7B8AFE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B8BA46-5820-4840-AFD2-0C3E572AE1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4FAF67-1091-4B67-959A-E28AA5861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11621E-1A53-4F28-A028-3D3286732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9F361C-5136-46AC-8178-1D4511946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969196-383B-4F17-976F-B0D21741B5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0DA2F1-F12A-4EF7-B41B-8684D15A5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015F20-6817-4B12-95CA-7DA0652601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6329a354ec40df" /><Relationship Type="http://schemas.openxmlformats.org/officeDocument/2006/relationships/slideLayout" Target="/ppt/slideLayouts/slideLayout1.xml" Id="R254433387ffb46b9" /><Relationship Type="http://schemas.openxmlformats.org/officeDocument/2006/relationships/slideLayout" Target="/ppt/slideLayouts/slideLayout2.xml" Id="Rf9cd17b1614c408c" /><Relationship Type="http://schemas.openxmlformats.org/officeDocument/2006/relationships/slideLayout" Target="/ppt/slideLayouts/slideLayout3.xml" Id="Rd7296b8de0d84ac8" /><Relationship Type="http://schemas.openxmlformats.org/officeDocument/2006/relationships/slideLayout" Target="/ppt/slideLayouts/slideLayout4.xml" Id="Rb3be89d3c1c04f01" /><Relationship Type="http://schemas.openxmlformats.org/officeDocument/2006/relationships/slideLayout" Target="/ppt/slideLayouts/slideLayout5.xml" Id="R2d05e31adb3c40ed" /><Relationship Type="http://schemas.openxmlformats.org/officeDocument/2006/relationships/slideLayout" Target="/ppt/slideLayouts/slideLayout6.xml" Id="Re9a06c26335d49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433387ffb46b9"/>
    <p:sldLayoutId xmlns:r="http://schemas.openxmlformats.org/officeDocument/2006/relationships" id="2147483650" r:id="Rf9cd17b1614c408c"/>
    <p:sldLayoutId xmlns:r="http://schemas.openxmlformats.org/officeDocument/2006/relationships" id="2147483651" r:id="Rd7296b8de0d84ac8"/>
    <p:sldLayoutId xmlns:r="http://schemas.openxmlformats.org/officeDocument/2006/relationships" id="2147483652" r:id="Rb3be89d3c1c04f01"/>
    <p:sldLayoutId xmlns:r="http://schemas.openxmlformats.org/officeDocument/2006/relationships" id="2147483653" r:id="R2d05e31adb3c40ed"/>
    <p:sldLayoutId xmlns:r="http://schemas.openxmlformats.org/officeDocument/2006/relationships" id="2147483654" r:id="Re9a06c26335d49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c1248f71f4cf1" /><Relationship Type="http://schemas.openxmlformats.org/officeDocument/2006/relationships/notesSlide" Target="/ppt/notesSlides/notesSlide1.xml" Id="R8e2d22fa5ebf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b068ab6664a6d" /><Relationship Type="http://schemas.openxmlformats.org/officeDocument/2006/relationships/notesSlide" Target="/ppt/notesSlides/notesSlide2.xml" Id="R17d3ce51159b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4eccc6675485c" /><Relationship Type="http://schemas.openxmlformats.org/officeDocument/2006/relationships/hyperlink" Target="https://v23.proteinatlas.org/about/download" TargetMode="External" Id="Rfeb21bc117034b21" /><Relationship Type="http://schemas.openxmlformats.org/officeDocument/2006/relationships/hyperlink" Target="https://v23.proteinatlas.org/about/download" TargetMode="External" Id="R0755c3ffd2f141c7" /><Relationship Type="http://schemas.openxmlformats.org/officeDocument/2006/relationships/notesSlide" Target="/ppt/notesSlides/notesSlide3.xml" Id="R7feb449745614d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5914e217e4cb6" /><Relationship Type="http://schemas.openxmlformats.org/officeDocument/2006/relationships/hyperlink" Target="https://gtexportal.org/home/downloads/adult-gtex" TargetMode="External" Id="R719734f600b64a24" /><Relationship Type="http://schemas.openxmlformats.org/officeDocument/2006/relationships/hyperlink" Target="https://dice-database.org/" TargetMode="External" Id="R6107fc0679fe4a0d" /><Relationship Type="http://schemas.openxmlformats.org/officeDocument/2006/relationships/notesSlide" Target="/ppt/notesSlides/notesSlide4.xml" Id="R5fcca903a217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2e0cf57a04dd3" /><Relationship Type="http://schemas.openxmlformats.org/officeDocument/2006/relationships/notesSlide" Target="/ppt/notesSlides/notesSlide5.xml" Id="R9d23a840e58f45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e73e8fe284c2b" /><Relationship Type="http://schemas.openxmlformats.org/officeDocument/2006/relationships/hyperlink" Target="https://doi.org/10.18632/oncotarget.21715" TargetMode="External" Id="R3757192ee8cf4ed1" /><Relationship Type="http://schemas.openxmlformats.org/officeDocument/2006/relationships/hyperlink" Target="https://doi.org/10.1038/ncomms10499" TargetMode="External" Id="R267488e92c7a4a6e" /><Relationship Type="http://schemas.openxmlformats.org/officeDocument/2006/relationships/hyperlink" Target="https://doi.org/10.1002/cam4.2223" TargetMode="External" Id="Rf32a97956b634dbd" /><Relationship Type="http://schemas.openxmlformats.org/officeDocument/2006/relationships/hyperlink" Target="https://doi.org/10.1038/s41467-021-22695-y" TargetMode="External" Id="R6402b791d5ce4c7f" /><Relationship Type="http://schemas.openxmlformats.org/officeDocument/2006/relationships/hyperlink" Target="https://doi.org/10.1038/s41388-018-0357-2" TargetMode="External" Id="R92ec77b8cf3c422e" /><Relationship Type="http://schemas.openxmlformats.org/officeDocument/2006/relationships/hyperlink" Target="https://doi.org/10.1002/1878-0261.12900" TargetMode="External" Id="Rd9e4a662fb57460f" /><Relationship Type="http://schemas.openxmlformats.org/officeDocument/2006/relationships/hyperlink" Target="https://doi.org/10.1371/journal.pgen.1011734" TargetMode="External" Id="R466e55c70bc94b37" /><Relationship Type="http://schemas.openxmlformats.org/officeDocument/2006/relationships/hyperlink" Target="https://doi.org/10.1136/jitc-2023-007935" TargetMode="External" Id="Rfbac870ea1494d01" /><Relationship Type="http://schemas.openxmlformats.org/officeDocument/2006/relationships/hyperlink" Target="https://doi.org/10.1371/journal.pone.0144155" TargetMode="External" Id="Re799073bd37f467a" /><Relationship Type="http://schemas.openxmlformats.org/officeDocument/2006/relationships/hyperlink" Target="https://doi.org/10.1186/s12967-024-04918-0" TargetMode="External" Id="Rc6d8049abb794d6b" /><Relationship Type="http://schemas.openxmlformats.org/officeDocument/2006/relationships/hyperlink" Target="https://doi.org/10.4161/cbt.12.3.16260" TargetMode="External" Id="R3b3ffdc3cdbc4f44" /><Relationship Type="http://schemas.openxmlformats.org/officeDocument/2006/relationships/hyperlink" Target="https://doi.org/10.1158/1078-0432.CCR-06-2340" TargetMode="External" Id="Rd821c9826c8b4270" /><Relationship Type="http://schemas.openxmlformats.org/officeDocument/2006/relationships/notesSlide" Target="/ppt/notesSlides/notesSlide6.xml" Id="R3e6e5aab766a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e628bf3ac4ad3" /><Relationship Type="http://schemas.openxmlformats.org/officeDocument/2006/relationships/hyperlink" Target="https://doi.org/10.4161/cbt.12.3.16260" TargetMode="External" Id="R7dd6ec947f614dc7" /><Relationship Type="http://schemas.openxmlformats.org/officeDocument/2006/relationships/hyperlink" Target="https://doi.org/10.1371/journal.pone.0144155" TargetMode="External" Id="R1f16592d86c040e6" /><Relationship Type="http://schemas.openxmlformats.org/officeDocument/2006/relationships/hyperlink" Target="https://doi.org/10.1158/1078-0432.CCR-06-2340" TargetMode="External" Id="Ree0d34140d754ef3" /><Relationship Type="http://schemas.openxmlformats.org/officeDocument/2006/relationships/notesSlide" Target="/ppt/notesSlides/notesSlide7.xml" Id="Re3fb32d562b644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bb40809bfb4d8b" /><Relationship Type="http://schemas.openxmlformats.org/officeDocument/2006/relationships/image" Target="/ppt/media/image.png" Id="Rd42087bbaeba420e" /><Relationship Type="http://schemas.openxmlformats.org/officeDocument/2006/relationships/notesSlide" Target="/ppt/notesSlides/notesSlide8.xml" Id="Rd82762e5ec4447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7102a4a0d54b5f" /><Relationship Type="http://schemas.openxmlformats.org/officeDocument/2006/relationships/notesSlide" Target="/ppt/notesSlides/notesSlide9.xml" Id="Rbbc7e9d10b71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240ad28674440d" /><Relationship Type="http://schemas.openxmlformats.org/officeDocument/2006/relationships/hyperlink" Target="https://v23.proteinatlas.org/about/download" TargetMode="External" Id="R42df131446a24b33" /><Relationship Type="http://schemas.openxmlformats.org/officeDocument/2006/relationships/hyperlink" Target="https://gtexportal.org/home/downloads/adult-gtex" TargetMode="External" Id="Ra6b68ec365424a12" /><Relationship Type="http://schemas.openxmlformats.org/officeDocument/2006/relationships/hyperlink" Target="https://v23.proteinatlas.org/about/download" TargetMode="External" Id="R0293595b7c6e4cff" /><Relationship Type="http://schemas.openxmlformats.org/officeDocument/2006/relationships/hyperlink" Target="https://v23.proteinatlas.org/about/download" TargetMode="External" Id="R6295c8d2c225457a" /><Relationship Type="http://schemas.openxmlformats.org/officeDocument/2006/relationships/hyperlink" Target="https://dice-database.org/" TargetMode="External" Id="Rf9fcab67a92a48a2" /><Relationship Type="http://schemas.openxmlformats.org/officeDocument/2006/relationships/hyperlink" Target="https://www.ncbi.nlm.nih.gov/geo/query/acc.cgi?acc=GSE155683" TargetMode="External" Id="R8ece07311d094e07" /><Relationship Type="http://schemas.openxmlformats.org/officeDocument/2006/relationships/hyperlink" Target="https://v23.proteinatlas.org/about/download" TargetMode="External" Id="R573187d3a2314f57" /><Relationship Type="http://schemas.openxmlformats.org/officeDocument/2006/relationships/hyperlink" Target="https://dice-database.org/" TargetMode="External" Id="R7abae491be3a4886" /><Relationship Type="http://schemas.openxmlformats.org/officeDocument/2006/relationships/notesSlide" Target="/ppt/notesSlides/notesSlide10.xml" Id="Rf118201048b34b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89d3ac7954ca9" /><Relationship Type="http://schemas.openxmlformats.org/officeDocument/2006/relationships/notesSlide" Target="/ppt/notesSlides/notesSlide11.xml" Id="Rb4ff972e36e74c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570803fed4009" /><Relationship Type="http://schemas.openxmlformats.org/officeDocument/2006/relationships/notesSlide" Target="/ppt/notesSlides/notesSlide12.xml" Id="Ra3363059f61a4a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6d01ca2584dc1" /><Relationship Type="http://schemas.openxmlformats.org/officeDocument/2006/relationships/hyperlink" Target="https://pirl-unc.github.io/oncoref/audits/cta-tcr-trials-20261029/" TargetMode="External" Id="R854083e6d97648eb" /><Relationship Type="http://schemas.openxmlformats.org/officeDocument/2006/relationships/notesSlide" Target="/ppt/notesSlides/notesSlide13.xml" Id="R2e6563f9e0e34f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5c3613ce74fb1" /><Relationship Type="http://schemas.openxmlformats.org/officeDocument/2006/relationships/notesSlide" Target="/ppt/notesSlides/notesSlide14.xml" Id="R21e44ca001ab42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e2ae00d7943cd" /><Relationship Type="http://schemas.openxmlformats.org/officeDocument/2006/relationships/notesSlide" Target="/ppt/notesSlides/notesSlide15.xml" Id="R49387d07b7c749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8b67d27f541f2" /><Relationship Type="http://schemas.openxmlformats.org/officeDocument/2006/relationships/chart" Target="/ppt/slides/charts/chart1.xml" Id="R8a5247fa1f714264" /><Relationship Type="http://schemas.openxmlformats.org/officeDocument/2006/relationships/notesSlide" Target="/ppt/notesSlides/notesSlide16.xml" Id="R83b850ec146d4c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35d90802a43b0" /><Relationship Type="http://schemas.openxmlformats.org/officeDocument/2006/relationships/hyperlink" Target="https://dice-database.org/" TargetMode="External" Id="R9eb025caf1524224" /><Relationship Type="http://schemas.openxmlformats.org/officeDocument/2006/relationships/notesSlide" Target="/ppt/notesSlides/notesSlide17.xml" Id="Rbb8b69853f5947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bf8257df34aac" /><Relationship Type="http://schemas.openxmlformats.org/officeDocument/2006/relationships/notesSlide" Target="/ppt/notesSlides/notesSlide18.xml" Id="Rb840afe7fe564e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a364609404bc6" /><Relationship Type="http://schemas.openxmlformats.org/officeDocument/2006/relationships/image" Target="/ppt/media/image2.png" Id="Rde931912378647d5" /><Relationship Type="http://schemas.openxmlformats.org/officeDocument/2006/relationships/notesSlide" Target="/ppt/notesSlides/notesSlide19.xml" Id="Raf707bb651c740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685b1ad854498e" /><Relationship Type="http://schemas.openxmlformats.org/officeDocument/2006/relationships/image" Target="/ppt/media/image3.png" Id="R6ed951b950644ce9" /><Relationship Type="http://schemas.openxmlformats.org/officeDocument/2006/relationships/notesSlide" Target="/ppt/notesSlides/notesSlide20.xml" Id="R942ee1489c8f40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61958bcec4035" /><Relationship Type="http://schemas.openxmlformats.org/officeDocument/2006/relationships/image" Target="/ppt/media/image4.png" Id="Rc32fc478246644dd" /><Relationship Type="http://schemas.openxmlformats.org/officeDocument/2006/relationships/notesSlide" Target="/ppt/notesSlides/notesSlide21.xml" Id="Rc7b1c309607542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f35a3b8504b47" /><Relationship Type="http://schemas.openxmlformats.org/officeDocument/2006/relationships/image" Target="/ppt/media/image5.png" Id="R635bb0b08429469f" /><Relationship Type="http://schemas.openxmlformats.org/officeDocument/2006/relationships/notesSlide" Target="/ppt/notesSlides/notesSlide22.xml" Id="R43b6c2b3b25240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dff589706b439b" /><Relationship Type="http://schemas.openxmlformats.org/officeDocument/2006/relationships/image" Target="/ppt/media/image6.png" Id="Redbccd82b73d4d74" /><Relationship Type="http://schemas.openxmlformats.org/officeDocument/2006/relationships/notesSlide" Target="/ppt/notesSlides/notesSlide23.xml" Id="Rf322087330ca48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0837315de4585" /><Relationship Type="http://schemas.openxmlformats.org/officeDocument/2006/relationships/image" Target="/ppt/media/image7.png" Id="R47c2b2b6845746c8" /><Relationship Type="http://schemas.openxmlformats.org/officeDocument/2006/relationships/notesSlide" Target="/ppt/notesSlides/notesSlide24.xml" Id="R7c88a2458bc94c4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f4ad40b73453c" /><Relationship Type="http://schemas.openxmlformats.org/officeDocument/2006/relationships/hyperlink" Target="https://doi.org/10.1038/s41586-021-04158-y" TargetMode="External" Id="Rbd3201475c264654" /><Relationship Type="http://schemas.openxmlformats.org/officeDocument/2006/relationships/hyperlink" Target="https://www.ebi.ac.uk/gxa/sc/experiments/E-MTAB-3929/Results" TargetMode="External" Id="R9a8fc860a098437c" /><Relationship Type="http://schemas.openxmlformats.org/officeDocument/2006/relationships/notesSlide" Target="/ppt/notesSlides/notesSlide25.xml" Id="Rf1458494174e4d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e60f2ec541c0" /><Relationship Type="http://schemas.openxmlformats.org/officeDocument/2006/relationships/image" Target="/ppt/media/image8.png" Id="Rb429609b6d714bfd" /><Relationship Type="http://schemas.openxmlformats.org/officeDocument/2006/relationships/notesSlide" Target="/ppt/notesSlides/notesSlide26.xml" Id="Rb5ad1bf2595c404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5fff22d2743f0" /><Relationship Type="http://schemas.openxmlformats.org/officeDocument/2006/relationships/image" Target="/ppt/media/image9.png" Id="R8246a6c97fb34d71" /><Relationship Type="http://schemas.openxmlformats.org/officeDocument/2006/relationships/notesSlide" Target="/ppt/notesSlides/notesSlide27.xml" Id="R83caa40e56dd49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4b4d7556a4c5a" /><Relationship Type="http://schemas.openxmlformats.org/officeDocument/2006/relationships/notesSlide" Target="/ppt/notesSlides/notesSlide28.xml" Id="R6909db7a7be4412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10fdb95024e6b" /><Relationship Type="http://schemas.openxmlformats.org/officeDocument/2006/relationships/hyperlink" Target="https://v23.proteinatlas.org/about/download" TargetMode="External" Id="R6e4f70b9ec6144a6" /><Relationship Type="http://schemas.openxmlformats.org/officeDocument/2006/relationships/hyperlink" Target="https://v23.proteinatlas.org/about/download" TargetMode="External" Id="R724cafce27b64f7f" /><Relationship Type="http://schemas.openxmlformats.org/officeDocument/2006/relationships/hyperlink" Target="https://v23.proteinatlas.org/about/download" TargetMode="External" Id="R905741ea314044dd" /><Relationship Type="http://schemas.openxmlformats.org/officeDocument/2006/relationships/hyperlink" Target="https://v23.proteinatlas.org/about/download" TargetMode="External" Id="Rbfb7b46b8f434e6b" /><Relationship Type="http://schemas.openxmlformats.org/officeDocument/2006/relationships/hyperlink" Target="https://gtexportal.org/home/downloads/adult-gtex" TargetMode="External" Id="R231d6a2c43414dcf" /><Relationship Type="http://schemas.openxmlformats.org/officeDocument/2006/relationships/hyperlink" Target="https://v23.proteinatlas.org/about/download" TargetMode="External" Id="Rf776bc08f63e45d6" /><Relationship Type="http://schemas.openxmlformats.org/officeDocument/2006/relationships/hyperlink" Target="https://dice-database.org/" TargetMode="External" Id="Ra276ddc07db34e06" /><Relationship Type="http://schemas.openxmlformats.org/officeDocument/2006/relationships/notesSlide" Target="/ppt/notesSlides/notesSlide29.xml" Id="R80dbc225b87144a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9f6a7d6f54d3d" /><Relationship Type="http://schemas.openxmlformats.org/officeDocument/2006/relationships/notesSlide" Target="/ppt/notesSlides/notesSlide30.xml" Id="Ra5571b50c41c4e3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c236f72ce4fe5" /><Relationship Type="http://schemas.openxmlformats.org/officeDocument/2006/relationships/hyperlink" Target="https://doi.org/10.1038/s41467-024-47649-y" TargetMode="External" Id="Rc9ad64faf32c4568" /><Relationship Type="http://schemas.openxmlformats.org/officeDocument/2006/relationships/hyperlink" Target="https://pmc.ncbi.nlm.nih.gov/articles/PMC11388079/" TargetMode="External" Id="R163e968425a74022" /><Relationship Type="http://schemas.openxmlformats.org/officeDocument/2006/relationships/hyperlink" Target="https://pmc.ncbi.nlm.nih.gov/articles/PMC6658352/" TargetMode="External" Id="Ra45722a0b60d42d2" /><Relationship Type="http://schemas.openxmlformats.org/officeDocument/2006/relationships/notesSlide" Target="/ppt/notesSlides/notesSlide31.xml" Id="Reaa102e68bf44c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197f2938764807" /><Relationship Type="http://schemas.openxmlformats.org/officeDocument/2006/relationships/notesSlide" Target="/ppt/notesSlides/notesSlide32.xml" Id="Rf67966f232d342c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7f1c7b59c4ff9" /><Relationship Type="http://schemas.openxmlformats.org/officeDocument/2006/relationships/hyperlink" Target="https://gtexportal.org/home/downloads/adult-gtex" TargetMode="External" Id="Rc87b68d472064155" /><Relationship Type="http://schemas.openxmlformats.org/officeDocument/2006/relationships/hyperlink" Target="https://www.proteinatlas.org/about/releases" TargetMode="External" Id="R4052fe11a15044c4" /><Relationship Type="http://schemas.openxmlformats.org/officeDocument/2006/relationships/hyperlink" Target="https://gtexportal.org/home/downloads/adult-gtex" TargetMode="External" Id="Rcc7ec6520b1249db" /><Relationship Type="http://schemas.openxmlformats.org/officeDocument/2006/relationships/hyperlink" Target="https://v23.proteinatlas.org/about/download" TargetMode="External" Id="R5296ff6ad9c841ec" /><Relationship Type="http://schemas.openxmlformats.org/officeDocument/2006/relationships/notesSlide" Target="/ppt/notesSlides/notesSlide33.xml" Id="Rd49d0fecce7c4b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Eligible so far</c:v>
          </c:tx>
          <c:spPr>
            <a:solidFill xmlns:a="http://schemas.openxmlformats.org/drawingml/2006/main">
              <a:srgbClr val="087E8B"/>
            </a:solidFill>
          </c:spPr>
          <c:invertIfNegative val="0"/>
          <c:cat>
            <c:strRef>
              <c:f>'Chart Data'!$A$2:$A$16</c:f>
              <c:strCache>
                <c:ptCount val="15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Concentration</c:v>
                </c:pt>
                <c:pt idx="11">
                  <c:v>Coverage</c:v>
                </c:pt>
                <c:pt idx="12">
                  <c:v>HPA protein</c:v>
                </c:pt>
                <c:pt idx="13">
                  <c:v>Cancer expression</c:v>
                </c:pt>
                <c:pt idx="14">
                  <c:v>Reproductive evidence</c:v>
                </c:pt>
              </c:strCache>
            </c:str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573</c:v>
                </c:pt>
                <c:pt idx="1">
                  <c:v>573</c:v>
                </c:pt>
                <c:pt idx="2">
                  <c:v>573</c:v>
                </c:pt>
                <c:pt idx="3">
                  <c:v>574</c:v>
                </c:pt>
                <c:pt idx="4">
                  <c:v>576</c:v>
                </c:pt>
                <c:pt idx="5">
                  <c:v>579</c:v>
                </c:pt>
                <c:pt idx="6">
                  <c:v>594</c:v>
                </c:pt>
                <c:pt idx="7">
                  <c:v>598</c:v>
                </c:pt>
                <c:pt idx="8">
                  <c:v>606</c:v>
                </c:pt>
                <c:pt idx="9">
                  <c:v>792</c:v>
                </c:pt>
                <c:pt idx="10">
                  <c:v>4114</c:v>
                </c:pt>
                <c:pt idx="11">
                  <c:v>4339</c:v>
                </c:pt>
                <c:pt idx="12">
                  <c:v>4530</c:v>
                </c:pt>
                <c:pt idx="13">
                  <c:v>16129</c:v>
                </c:pt>
                <c:pt idx="14">
                  <c:v>16143</c:v>
                </c:pt>
              </c:numCache>
            </c:numRef>
          </c:val>
        </c:ser>
        <c:ser>
          <c:idx val="1"/>
          <c:order val="1"/>
          <c:tx>
            <c:v>Tumor-restricted</c:v>
          </c:tx>
          <c:spPr>
            <a:solidFill xmlns:a="http://schemas.openxmlformats.org/drawingml/2006/main">
              <a:srgbClr val="7660A3"/>
            </a:solidFill>
          </c:spPr>
          <c:invertIfNegative val="0"/>
          <c:cat>
            <c:strRef>
              <c:f>'Chart Data'!$C$2:$C$16</c:f>
              <c:strCache>
                <c:ptCount val="15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Concentration</c:v>
                </c:pt>
                <c:pt idx="11">
                  <c:v>Coverage</c:v>
                </c:pt>
                <c:pt idx="12">
                  <c:v>HPA protein</c:v>
                </c:pt>
                <c:pt idx="13">
                  <c:v>Cancer expression</c:v>
                </c:pt>
                <c:pt idx="14">
                  <c:v>Reproductive evidence</c:v>
                </c:pt>
              </c:strCache>
            </c:str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v>Unsafe</c:v>
          </c:tx>
          <c:spPr>
            <a:solidFill xmlns:a="http://schemas.openxmlformats.org/drawingml/2006/main">
              <a:srgbClr val="AC493B"/>
            </a:solidFill>
          </c:spPr>
          <c:invertIfNegative val="0"/>
          <c:cat>
            <c:strRef>
              <c:f>'Chart Data'!$E$2:$E$16</c:f>
              <c:strCache>
                <c:ptCount val="15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Concentration</c:v>
                </c:pt>
                <c:pt idx="11">
                  <c:v>Coverage</c:v>
                </c:pt>
                <c:pt idx="12">
                  <c:v>HPA protein</c:v>
                </c:pt>
                <c:pt idx="13">
                  <c:v>Cancer expression</c:v>
                </c:pt>
                <c:pt idx="14">
                  <c:v>Reproductive evidence</c:v>
                </c:pt>
              </c:strCache>
            </c:strRef>
          </c:cat>
          <c:val>
            <c:numRef>
              <c:f>'Chart Data'!$F$2:$F$16</c:f>
              <c:numCache>
                <c:formatCode>General</c:formatCode>
                <c:ptCount val="15"/>
                <c:pt idx="0">
                  <c:v>18031</c:v>
                </c:pt>
                <c:pt idx="1">
                  <c:v>18031</c:v>
                </c:pt>
                <c:pt idx="2">
                  <c:v>18031</c:v>
                </c:pt>
                <c:pt idx="3">
                  <c:v>18030</c:v>
                </c:pt>
                <c:pt idx="4">
                  <c:v>18028</c:v>
                </c:pt>
                <c:pt idx="5">
                  <c:v>18016</c:v>
                </c:pt>
                <c:pt idx="6">
                  <c:v>17961</c:v>
                </c:pt>
                <c:pt idx="7">
                  <c:v>17944</c:v>
                </c:pt>
                <c:pt idx="8">
                  <c:v>17914</c:v>
                </c:pt>
                <c:pt idx="9">
                  <c:v>17500</c:v>
                </c:pt>
                <c:pt idx="10">
                  <c:v>10094</c:v>
                </c:pt>
                <c:pt idx="11">
                  <c:v>10094</c:v>
                </c:pt>
                <c:pt idx="12">
                  <c:v>10094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v>Neither</c:v>
          </c:tx>
          <c:spPr>
            <a:solidFill xmlns:a="http://schemas.openxmlformats.org/drawingml/2006/main">
              <a:srgbClr val="A28C68"/>
            </a:solidFill>
          </c:spPr>
          <c:invertIfNegative val="0"/>
          <c:cat>
            <c:strRef>
              <c:f>'Chart Data'!$G$2:$G$16</c:f>
              <c:strCache>
                <c:ptCount val="15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Concentration</c:v>
                </c:pt>
                <c:pt idx="11">
                  <c:v>Coverage</c:v>
                </c:pt>
                <c:pt idx="12">
                  <c:v>HPA protein</c:v>
                </c:pt>
                <c:pt idx="13">
                  <c:v>Cancer expression</c:v>
                </c:pt>
                <c:pt idx="14">
                  <c:v>Reproductive evidence</c:v>
                </c:pt>
              </c:strCache>
            </c:strRef>
          </c:cat>
          <c:val>
            <c:numRef>
              <c:f>'Chart Data'!$H$2:$H$16</c:f>
              <c:numCache>
                <c:formatCode>General</c:formatCode>
                <c:ptCount val="15"/>
                <c:pt idx="0">
                  <c:v>725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4"/>
          <c:order val="4"/>
          <c:tx>
            <c:v>Unassigned</c:v>
          </c:tx>
          <c:spPr>
            <a:solidFill xmlns:a="http://schemas.openxmlformats.org/drawingml/2006/main">
              <a:srgbClr val="B9C3CD"/>
            </a:solidFill>
          </c:spPr>
          <c:invertIfNegative val="0"/>
          <c:cat>
            <c:strRef>
              <c:f>'Chart Data'!$I$2:$I$16</c:f>
              <c:strCache>
                <c:ptCount val="15"/>
                <c:pt idx="0">
                  <c:v>Final categories</c:v>
                </c:pt>
                <c:pt idx="1">
                  <c:v>External IHC</c:v>
                </c:pt>
                <c:pt idx="2">
                  <c:v>Clinical safety</c:v>
                </c:pt>
                <c:pt idx="3">
                  <c:v>Curated protein</c:v>
                </c:pt>
                <c:pt idx="4">
                  <c:v>Cornea</c:v>
                </c:pt>
                <c:pt idx="5">
                  <c:v>DICE</c:v>
                </c:pt>
                <c:pt idx="6">
                  <c:v>Monaco</c:v>
                </c:pt>
                <c:pt idx="7">
                  <c:v>HPA immune</c:v>
                </c:pt>
                <c:pt idx="8">
                  <c:v>Tissue clusters</c:v>
                </c:pt>
                <c:pt idx="9">
                  <c:v>Bulk RNA</c:v>
                </c:pt>
                <c:pt idx="10">
                  <c:v>Concentration</c:v>
                </c:pt>
                <c:pt idx="11">
                  <c:v>Coverage</c:v>
                </c:pt>
                <c:pt idx="12">
                  <c:v>HPA protein</c:v>
                </c:pt>
                <c:pt idx="13">
                  <c:v>Cancer expression</c:v>
                </c:pt>
                <c:pt idx="14">
                  <c:v>Reproductive evidence</c:v>
                </c:pt>
              </c:strCache>
            </c:strRef>
          </c:cat>
          <c:val>
            <c:numRef>
              <c:f>'Chart Data'!$J$2:$J$16</c:f>
              <c:numCache>
                <c:formatCode>General</c:formatCode>
                <c:ptCount val="15"/>
                <c:pt idx="0">
                  <c:v>534</c:v>
                </c:pt>
                <c:pt idx="1">
                  <c:v>1259</c:v>
                </c:pt>
                <c:pt idx="2">
                  <c:v>1259</c:v>
                </c:pt>
                <c:pt idx="3">
                  <c:v>1259</c:v>
                </c:pt>
                <c:pt idx="4">
                  <c:v>1259</c:v>
                </c:pt>
                <c:pt idx="5">
                  <c:v>1268</c:v>
                </c:pt>
                <c:pt idx="6">
                  <c:v>1308</c:v>
                </c:pt>
                <c:pt idx="7">
                  <c:v>1321</c:v>
                </c:pt>
                <c:pt idx="8">
                  <c:v>1343</c:v>
                </c:pt>
                <c:pt idx="9">
                  <c:v>1571</c:v>
                </c:pt>
                <c:pt idx="10">
                  <c:v>5655</c:v>
                </c:pt>
                <c:pt idx="11">
                  <c:v>5430</c:v>
                </c:pt>
                <c:pt idx="12">
                  <c:v>5239</c:v>
                </c:pt>
                <c:pt idx="13">
                  <c:v>3734</c:v>
                </c:pt>
                <c:pt idx="14">
                  <c:v>3720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3B55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73B55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454EC-6C22-4357-9EEC-2EE2C1CB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3AD67-F725-455D-8D5B-886476D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Human and dog CTA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CA9E8-8479-4675-8C2A-F9FC9470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3FDE-B94E-4D12-BD78-AC71896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3CD21-26EC-4319-BF79-10F8139B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573 human CTA proteins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27510-134C-45FF-B782-5BF092A5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615 loci   /   18,031 Unsafe   /   725 Neither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22FF6-1DCD-48FA-8747-C57752A0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534 unassigned; dog selection remains unassessed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1DE69-6AB3-47E0-87DC-7A6F511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Sources, expression profiles, single-cutoff filtering and measured tissue evidence.</a:t>
            </a:r>
          </a:p>
        </p:txBody>
      </p:sp>
    </p:spTree>
    <p:extLst>
      <p:ext uri="{BB962C8B-B14F-4D97-AF65-F5344CB8AC3E}">
        <p14:creationId xmlns:p14="http://schemas.microsoft.com/office/powerpoint/2010/main" val="1541823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1CAC-2529-4254-A253-6B6C5970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INDEPENDENT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CBE2F-84EC-473A-B12A-FBAA5136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Safety, cancer and Reproductive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12302-C20A-44C7-AFC2-EF0FE47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2B788-8EA1-47F6-9DE3-CAC37AD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4B4EF-51A1-47FB-BA42-592117335B7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05300"/>
                <a:gridCol w="381000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rule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Concerning normal expression?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Absolute RNA / IHC and clinical rules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Expressed in a measured cancer?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sample ≥2 TPM or pTPM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Expression in a qualifying branch?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≥5 nTPM, reliable positive IHC, or supported embryonic ≥5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 required panels measured?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GTEx core contexts and existing HPA panels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621A7-8866-41D5-BDB8-C413F0A1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Only safety establishes Unsafe. Missing core data remain unassigned. RNA is not a direct protein measurement.</a:t>
            </a:r>
          </a:p>
        </p:txBody>
      </p:sp>
    </p:spTree>
    <p:extLst>
      <p:ext uri="{BB962C8B-B14F-4D97-AF65-F5344CB8AC3E}">
        <p14:creationId xmlns:p14="http://schemas.microsoft.com/office/powerpoint/2010/main" val="165578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11377-F1A6-447B-A8AA-CC8BFE7C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HPA PROFILE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A3A38-38EE-4C11-B697-E0F0354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Diffuse expression is an identity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A796C-AB24-4CF7-832F-7DE9376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4FAF6-386E-479F-B5F0-C24D9075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049DD-6E5C-4E07-BBE7-80DE8F1892C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eb21bc117034b21"/>
                        </a:rPr>
                        <a:t>HPA v23</a:t>
                      </a:r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normal-tissue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Highest Reproductive nTPM in </a:t>
                      </a:r>
                      <a:r>
                        <a:rPr sz="2025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0755c3ffd2f141c7"/>
                        </a:rPr>
                        <a:t>HPA v23</a:t>
                      </a:r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(adult/placental)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 / (N + R)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across 29 organs / 38 contexts; thymus excluded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 boundary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Average &gt;10%, with a supported positive R and complete comparison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D99A4-52D8-4C08-9284-8C5F710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MTCP1 moves to Neither: 24.53%. Thymus is excluded. Embryonic concentration remains unassessed.</a:t>
            </a:r>
          </a:p>
        </p:txBody>
      </p:sp>
    </p:spTree>
    <p:extLst>
      <p:ext uri="{BB962C8B-B14F-4D97-AF65-F5344CB8AC3E}">
        <p14:creationId xmlns:p14="http://schemas.microsoft.com/office/powerpoint/2010/main" val="1556597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4B349-662F-4E68-8E5F-7A58777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B205A-8EA4-4F67-9DC5-CE67094A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 fixed GTEx core for every protein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1F5F-4736-4095-9B7E-77D59E8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F0C85-E715-4132-9772-2CEFE0FA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C70DF-2430-4D18-83D9-3F2DA580574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719734f600b64a24"/>
                        </a:rPr>
                        <a:t>GTEx v11</a:t>
                      </a:r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: 52 bulk contexts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contexts for every protein; measured zero counts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 loci measured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identities are not replaced by paralogs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core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Blocks CTA; unassigned unless independent Unsafe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Optional </a:t>
                      </a:r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107fc0679fe4a0d"/>
                        </a:rPr>
                        <a:t>DICE</a:t>
                      </a:r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coverage allowed; observed safety evidence counts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4131F-BC3A-484B-8DA1-0F3DF77C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GTEx does not cover every organ, fetal stage or rare cell. Existing HPA cell / immune coverage requirements also apply.</a:t>
            </a:r>
          </a:p>
        </p:txBody>
      </p:sp>
    </p:spTree>
    <p:extLst>
      <p:ext uri="{BB962C8B-B14F-4D97-AF65-F5344CB8AC3E}">
        <p14:creationId xmlns:p14="http://schemas.microsoft.com/office/powerpoint/2010/main" val="9296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CB361-FCC6-47CC-8AF5-910BACA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CALCULATION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8E314-2680-4EE7-A925-2CF0C73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ZNF730: panel composition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950EB-2204-465F-BF40-B634689C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DD709-F158-4617-8B9E-D61B8E18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AC9B9-C955-4F06-A805-AA71D091701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Calculation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v23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GTEx v11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reference (testis)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4.9 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4.91414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source panel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9.53%: 29 anatomy units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1.65%: 23 anatomy units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20 anatomy units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6.36%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1.71%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38829-5988-43EB-83A0-BFE1017E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Thymus is Permissive: excluded from both sides of the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DCC65-0217-4649-B338-EE96CBEF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Thymus exclusion changes HPA 10.34% → 9.53%. Independent safety evidence keeps ZNF730 Unsafe.</a:t>
            </a:r>
          </a:p>
        </p:txBody>
      </p:sp>
    </p:spTree>
    <p:extLst>
      <p:ext uri="{BB962C8B-B14F-4D97-AF65-F5344CB8AC3E}">
        <p14:creationId xmlns:p14="http://schemas.microsoft.com/office/powerpoint/2010/main" val="1277396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CAB08-D57E-4BD7-8559-C39A893C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D676-06C7-4158-986D-14CD7CC2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Published candidate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A9663-BD6F-41BA-A1C2-3C8C9460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896C9-3679-4AFE-9001-00402F78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B87D3-F6EC-4480-8C72-FE6EC92B2C80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428750"/>
                <a:gridCol w="1333500"/>
                <a:gridCol w="1524000"/>
                <a:gridCol w="1428750"/>
                <a:gridCol w="1543050"/>
              </a:tblGrid>
              <a:tr h="3077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3757192ee8cf4ed1"/>
                        </a:rPr>
                        <a:t>da Silva et al. (2017)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1,017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267488e92c7a4a6e"/>
                        </a:rPr>
                        <a:t>Wang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32a97956b634dbd"/>
                        </a:rPr>
                        <a:t>Chang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402b791d5ce4c7f"/>
                        </a:rPr>
                        <a:t>Gong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2ec77b8cf3c422e"/>
                        </a:rPr>
                        <a:t>Bruggeman et al. (2018)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d9e4a662fb57460f"/>
                        </a:rPr>
                        <a:t>Jamin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66e55c70bc94b37"/>
                        </a:rPr>
                        <a:t>Loriot et al. (2025)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bac870ea1494d01"/>
                        </a:rPr>
                        <a:t>Carter et al. (2023)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e799073bd37f467a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c6d8049abb794d6b"/>
                        </a:rPr>
                        <a:t>Seager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3b3ffdc3cdbc4f44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731">
                <a:tc>
                  <a:txBody>
                    <a:bodyPr/>
                    <a:lstStyle/>
                    <a:p>
                      <a:r>
                        <a:rPr sz="142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d821c9826c8b4270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B21B1-5720-4D62-9FA6-4DF97C9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Union: 2,514 proteins / 2,570 loci. 472 selected proteins have an annotation; 101 do not.</a:t>
            </a:r>
          </a:p>
        </p:txBody>
      </p:sp>
    </p:spTree>
    <p:extLst>
      <p:ext uri="{BB962C8B-B14F-4D97-AF65-F5344CB8AC3E}">
        <p14:creationId xmlns:p14="http://schemas.microsoft.com/office/powerpoint/2010/main" val="1664580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6A082-B4FE-4804-A255-A4BE30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PUBLICATION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FAA2F-FC36-4913-9D35-915ED25E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Broader published nominations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A1B0F-A479-42F6-89BB-78B6F22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71415-06C0-4D51-AE6D-A615BD5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7B76-4CC5-49E4-B93C-D3CC0F39FBF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429250"/>
                <a:gridCol w="2781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Paper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 accounting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7dd6ec947f614dc7"/>
                        </a:rPr>
                        <a:t>Sasaroli et al. (2011)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detailed tumor-vascular candidates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matched genes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f16592d86c040e6"/>
                        </a:rPr>
                        <a:t>Hirbo et al. (2015)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 placenta-enriched genes, including 30 fast-evolving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82 matched, 4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Compact source view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Bai, Boël and Bradley covered by larger 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memberships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ee0d34140d754ef3"/>
                        </a:rPr>
                        <a:t>Garg et al. (2007)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Still uniquely contributes SPAG9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in main view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91C60-FF51-47CD-8AC4-750FB80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Vascular and placental nominations retain their scope. Paper membership never bypasses the quantitative funnel.</a:t>
            </a:r>
          </a:p>
        </p:txBody>
      </p:sp>
    </p:spTree>
    <p:extLst>
      <p:ext uri="{BB962C8B-B14F-4D97-AF65-F5344CB8AC3E}">
        <p14:creationId xmlns:p14="http://schemas.microsoft.com/office/powerpoint/2010/main" val="651338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31020-F018-4715-9902-3E9BEDCC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ANNOTATIONS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153B1-7133-4CE6-9CC0-20EBF411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Overlap between published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6C40F-61A8-4446-8B03-D911CF0D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915A8-3F40-40BF-92C9-B7EBE77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4A467-AA4C-430E-8098-94B2B1B112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087bbaeba420e"/>
          <a:stretch xmlns:a="http://schemas.openxmlformats.org/drawingml/2006/main"/>
        </p:blipFill>
        <p:spPr>
          <a:xfrm xmlns:a="http://schemas.openxmlformats.org/drawingml/2006/main">
            <a:off x="1333500" y="1447800"/>
            <a:ext cx="952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2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808A-2AE9-40D7-B7F5-9F37881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POSITIVE EXPRESSION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61E21-6777-4889-AF66-F62F1F77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Reproductive evidence: measured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EE3AB-38A9-4581-BCFD-D5DE4894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BB8D0-DB2D-4F2F-BA93-BBA9016D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43AD6-6BD2-4106-AEA8-EB890278564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533650"/>
                <a:gridCol w="2533650"/>
              </a:tblGrid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Qualifying route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Entrants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CTA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Adult/placental evidence only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3,138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Embryonic-only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1,433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measured routes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11,572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94AF6-8CF4-4CA8-AA53-911721E6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RNA and reliable reproductive IHC establish association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1FFF4-A69C-4453-941D-3156294B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Entrants count positive expression before the other admission gates. Reproductive presence and profile concentration are separate questions.</a:t>
            </a:r>
          </a:p>
        </p:txBody>
      </p:sp>
    </p:spTree>
    <p:extLst>
      <p:ext uri="{BB962C8B-B14F-4D97-AF65-F5344CB8AC3E}">
        <p14:creationId xmlns:p14="http://schemas.microsoft.com/office/powerpoint/2010/main" val="239858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8DFAF-9088-4601-9025-4305DB2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9AA20-7724-4F52-8E8F-5AE64740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Normal and cancer measurement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D413A-7165-4FF2-AAE4-E9BC1CCA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71762-7388-412B-BB12-9C77A2B7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658BD-5E16-45AA-B0DB-9FF2EB8B7AA1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429250"/>
                <a:gridCol w="2590800"/>
              </a:tblGrid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reproductive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2df131446a24b33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consensus / brain +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a6b68ec365424a12"/>
                        </a:rPr>
                        <a:t>GTEx v11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tissue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0293595b7c6e4cff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clusters, at least 20 reads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295c8d2c225457a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/ Monaco / original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9fcab67a92a48a2"/>
                        </a:rPr>
                        <a:t>DICE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nTPM /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Collin et al., </a:t>
                      </a:r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8ece07311d094e07"/>
                        </a:rPr>
                        <a:t>GSE155683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CP10K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573187d3a2314f57"/>
                        </a:rPr>
                        <a:t>HPA v23</a:t>
                      </a:r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+ curated external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Staining / reagent confidence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 compatible OncoRef cohort views + HPA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TPM / protein-coding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gastrulation + Petropoulos preimplantation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 / lineage mean TPM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BB468-541B-4CC2-8601-7F80FF7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7abae491be3a4886"/>
              </a:rPr>
              <a:t>DICE</a:t>
            </a: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corneal coverage are optional. Measured counterevidence still contributes.</a:t>
            </a:r>
          </a:p>
        </p:txBody>
      </p:sp>
    </p:spTree>
    <p:extLst>
      <p:ext uri="{BB962C8B-B14F-4D97-AF65-F5344CB8AC3E}">
        <p14:creationId xmlns:p14="http://schemas.microsoft.com/office/powerpoint/2010/main" val="53648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059D7-3529-4512-A48B-371DAE0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3B97-5D6D-4250-9E39-1B9B627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RNA cutoffs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B181B-B999-4C3C-BCF9-8FBE0A5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70E26-0CE6-4F61-8075-6350B9B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088DD-FF30-4D55-9759-A4B2CA726BF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1895475"/>
                <a:gridCol w="1895475"/>
                <a:gridCol w="1895475"/>
              </a:tblGrid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Ceiling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/ unusable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721E5-715A-4851-8E6C-F1ADD488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One boundary: above-cutoff Vital / Protected is Unsafe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FB3DA-09EE-46AF-BEC6-0FC82C53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Manageable excess blocks CTA. Bowel epithelium and identified fibroblasts use Manageable. Equality passes.</a:t>
            </a:r>
          </a:p>
        </p:txBody>
      </p:sp>
    </p:spTree>
    <p:extLst>
      <p:ext uri="{BB962C8B-B14F-4D97-AF65-F5344CB8AC3E}">
        <p14:creationId xmlns:p14="http://schemas.microsoft.com/office/powerpoint/2010/main" val="1704127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829B6-7188-4555-99FD-E934E0C9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TCR-T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2031D-7CE3-46D9-923E-5B19D370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Clinical evidence adjusts RNA ceilings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0241-3A3F-4586-B255-428BF388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ADBD3-74F9-420E-85BA-DEE93FF3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F37FC-0F27-4965-8C74-CB91C1C8211C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333625"/>
                <a:gridCol w="1895475"/>
                <a:gridCol w="1895475"/>
                <a:gridCol w="1895475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 clinical credit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/ unusable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Enhanced −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Vital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Protected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1E46-7B39-4530-9892-7DBFB844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IHC grades stay unchanged. Trials do not stack.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86D89-27AD-40D8-B55B-FAFB65F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Protein and clinical-injury exclusions remain. This is protein-profile credit with tested epitope limitations, not clinical clearance.</a:t>
            </a:r>
          </a:p>
        </p:txBody>
      </p:sp>
    </p:spTree>
    <p:extLst>
      <p:ext uri="{BB962C8B-B14F-4D97-AF65-F5344CB8AC3E}">
        <p14:creationId xmlns:p14="http://schemas.microsoft.com/office/powerpoint/2010/main" val="11836864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EC193-D8D0-4B15-9D0F-86397D89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CLINICAL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D6D6C-59A1-4908-AD49-63102E3D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Serious events and antigen specificity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D1D06-4788-44F6-ACA4-64F0165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EA0DC-7D38-4BAB-89CF-5A7B03F1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89387-BF5E-4364-BFC6-44D5F12E2B3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05250"/>
                <a:gridCol w="3686175"/>
              </a:tblGrid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Targeted CTA epitope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Important event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Specificity attribution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MAGE-A3 / a3a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Two fatal cardiac injuries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Titin cross-recognition implicated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MAGE-A3/A9 / NCI receptor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Three neurological cases; two deaths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MAGE-A12 brain recognition implicated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NY-ESO-1 / LAGE-1A, c259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 cardiac death; two GBS cases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Peptide-specific mechanism not established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NY-ESO-1 / TBI-1301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Grade 3 lung injury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Unresolved; no credit for this product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MAGE-A4 / afami-cel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Aplasia and stroke deaths in phase 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demonstrated antigen-specific mechanism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MAGE-A10 / ADP-A2M10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Grade 4 CRS; fatal aplasia after repeat treatment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Conditioning favored for marrow injury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BA589-205D-4742-8058-83A43099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54083e6d97648eb"/>
              </a:rPr>
              <a:t>Clinical trial and SAE review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. Seriousness differs from severity; this is a selected summary, not a pooled event rate.</a:t>
            </a:r>
          </a:p>
        </p:txBody>
      </p:sp>
    </p:spTree>
    <p:extLst>
      <p:ext uri="{BB962C8B-B14F-4D97-AF65-F5344CB8AC3E}">
        <p14:creationId xmlns:p14="http://schemas.microsoft.com/office/powerpoint/2010/main" val="1207659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7641B-58A1-4727-B8C3-19295BB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CATEGORY DEFINITIONS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46F72-4A7C-40DA-9104-DB81113C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Neither is the normal-pass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D1B34-7D58-4805-AFA7-E47CA90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357BC-1D26-4BA5-8553-9DA6B90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E57FB-A90A-4DB7-B6E6-91BB63FC3D3B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781800"/>
                <a:gridCol w="1333500"/>
              </a:tblGrid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Profile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normal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normal RNA &lt;2 and no detected normal protein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Manageable expression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Multiple Manageable contexts; every normal gate still passes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Diffuse reproductive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score &gt;10%; no qualifying route remains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normal-pass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candidate subtype qualifies; includes permitted-normal profiles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D83D5-7550-4C50-8A9F-0DE3376A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Missing cancer or reproductive evidence does not imply missing normal evidence.</a:t>
            </a:r>
          </a:p>
        </p:txBody>
      </p:sp>
    </p:spTree>
    <p:extLst>
      <p:ext uri="{BB962C8B-B14F-4D97-AF65-F5344CB8AC3E}">
        <p14:creationId xmlns:p14="http://schemas.microsoft.com/office/powerpoint/2010/main" val="7060534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90A37-08F7-40CD-B22B-9A6FD6BD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SEPARATE CANDIDATE SUBTYPE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93516-4F01-433C-82B5-77AF31B9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Tumor-restricted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20065-1BC9-4D1D-A66B-DDB92786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57C2F-1AFA-4C70-8429-3A88A2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0D494-E4A7-4B51-88B0-8B6B406E4A9F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&gt;=10 TPM in two distinct samples; duplicate source views do not count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 alternative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 tumor protein evidence; aggregate IHC counts alone are insufficient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Outside cancer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 measured normal/developmental expression; all normal safety gates pass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 review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rare normal cells and states must be assessed before admission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47D11-D45C-4325-85A2-93294014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66 numerical leads await coverage review and remain Neither. They are not labelled tumor-only.</a:t>
            </a:r>
          </a:p>
        </p:txBody>
      </p:sp>
    </p:spTree>
    <p:extLst>
      <p:ext uri="{BB962C8B-B14F-4D97-AF65-F5344CB8AC3E}">
        <p14:creationId xmlns:p14="http://schemas.microsoft.com/office/powerpoint/2010/main" val="2133155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C5E11-575B-4F96-BC68-A0078709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9D80B-20AB-4E1B-AE51-B47115CB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filtering layer can contribute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053C2-9B9C-4E7B-A861-E78FEF7F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1B8ED-397C-4FC4-86BA-FFB35BC5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38C4063-0970-49E3-AA85-48DA25313D03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5247fa1f71426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AE520-3D98-4591-BA05-3A3EFA91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Final: 573 CTA / 18,031 Unsafe / 725 Neither / 534 unassigned.</a:t>
            </a:r>
          </a:p>
        </p:txBody>
      </p:sp>
    </p:spTree>
    <p:extLst>
      <p:ext uri="{BB962C8B-B14F-4D97-AF65-F5344CB8AC3E}">
        <p14:creationId xmlns:p14="http://schemas.microsoft.com/office/powerpoint/2010/main" val="2643771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338BF-3977-4BD7-943C-18244380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HUMAN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2C09-1C15-4A60-B36F-30A30D6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Removals at each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C3E3D-5B15-4053-BF03-21F9C56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DA7DA-F0D9-4C6A-9E73-AADA8DD1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273A1-62C7-4EE8-B4C9-FD18EBE77147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1809750"/>
                <a:gridCol w="1809750"/>
                <a:gridCol w="1876425"/>
              </a:tblGrid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removals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Eligible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Unsafe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Association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3,720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16,143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sample ≥2 TPM/pTPM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16,129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11,599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4,530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RNA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4,339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Reproductive concentration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4,114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3,322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17,500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tissue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17,914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HPA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17,944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17,961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eb025caf1524224"/>
                        </a:rPr>
                        <a:t>DICE</a:t>
                      </a:r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immune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18,016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Adult cornea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Accepted normal-protein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safety exclusion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External validated 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2559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subtypes and Neither fallback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18,031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FCD0B-15C9-4F18-A61F-8AAA253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Only MTCP1 changes category; other concentration failures also fail other gates.</a:t>
            </a:r>
          </a:p>
        </p:txBody>
      </p:sp>
    </p:spTree>
    <p:extLst>
      <p:ext uri="{BB962C8B-B14F-4D97-AF65-F5344CB8AC3E}">
        <p14:creationId xmlns:p14="http://schemas.microsoft.com/office/powerpoint/2010/main" val="1181406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D5A53-9FB1-4E06-AAA6-0B92E982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ANATOMY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13ACF-7695-432B-BEF9-9E0B46FE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IHC matching to measured RNA compartments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4002E-C0A4-47A2-87A6-90785C6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EB22D-BE92-4F52-8505-5B585512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FA36C-F43C-408F-BE76-65038C729DF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96175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and current ceiling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colon epithelial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20.3 nTPM / 96 reads; Enhanced-negative glandular IHC; Manageable 128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PRAME adrenal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 nTPM; incomplete IHC coverage; Vital 4 → 8 with IMA203 credit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CTAG2 bronchial basal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24.9 nTPM / 58 reads; Enhanced-negative respiratory IHC; Vital 32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Unrelated cells in the same tissue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negative-IHC credit without exact or declared compartment coverage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01C3A-F83B-4FD6-A4B7-BA35E96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PRAME and CTAG2 pass this policy. Parent-compartment sensitivity and PRAME’s Low adrenal protein remain explicit limitations.</a:t>
            </a:r>
          </a:p>
        </p:txBody>
      </p:sp>
    </p:spTree>
    <p:extLst>
      <p:ext uri="{BB962C8B-B14F-4D97-AF65-F5344CB8AC3E}">
        <p14:creationId xmlns:p14="http://schemas.microsoft.com/office/powerpoint/2010/main" val="12266522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C2505-42AB-41E1-8CF4-09606C1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0011A-8F19-4D07-9A45-94AC156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adult/placental versus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3074E-6174-4985-95EC-55CF181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CE840-C69B-4544-A950-701BE51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C53D-DE10-4247-B53C-3C96B4394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31912378647d5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20D41-C48C-4C2C-BA09-A852B7A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9558348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CA0C7-04C9-4DC9-9165-5CC8CFCA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22C9-28CF-4379-9AC9-122E39F3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healthy RNA in TPM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2E22D-5824-4C77-BEB8-6EB7439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5D44E-14CF-4190-BF42-10622EE3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90DD8-907D-4045-A578-BC9B4650D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951b950644ce9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82BC5-95FD-4071-A5B5-AF1C7D8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2789895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DCA6A-A6C8-4C40-A637-C33F974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EXPRESSION DISTRIBUTIONS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32053-F711-48E3-83C2-02ADA993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Selected CTA: normal corneal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9CAC2-537E-4E26-927F-2AC1A0B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B2D50-2972-47BC-96E7-8872BA88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C71CF-B764-49C8-86BB-AA95B8CE6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fc478246644dd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A3A5F-00EE-4EE3-9D41-E416346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Gray: healthy measurement unavailable. The lower band has no embryonic-expression value.</a:t>
            </a:r>
          </a:p>
        </p:txBody>
      </p:sp>
    </p:spTree>
    <p:extLst>
      <p:ext uri="{BB962C8B-B14F-4D97-AF65-F5344CB8AC3E}">
        <p14:creationId xmlns:p14="http://schemas.microsoft.com/office/powerpoint/2010/main" val="16141367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C914D-24C3-41C3-98D3-A52D178E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BD7A2-C0B0-45E9-99E8-9D982BC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7F956-F4A8-4231-909E-61EBA8AC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33B31-DE74-436D-B910-180E97D7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DEDA-CEB6-4B43-AB4D-99DB29DED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bb0b08429469f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302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41D56-C17C-497F-9CB0-77CFFE20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8C4B6-015C-4E7C-8397-484F8C12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33669-E872-46A2-AB53-9A6C8D1B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70114-F3C8-4C0C-8283-912E6A8B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4122A-7C53-453E-B69D-157CBB380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bccd82b73d4d74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166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EAB4F-A0ED-4247-B6FA-C5942F7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SELECTED CTA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FE3F0-6535-44A1-8E28-9CF85B2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High adult/placental and embryonic RNA: labels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78455-4A37-4540-B865-0D48762A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328DD-20BF-4669-A69B-25B5540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7895F-0F8E-4A78-B596-0868260D3D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2b2b6845746c8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48846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38CA0-6A2E-44AD-AED8-302D9D0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AC1E1-6545-40E0-9CC7-56DB64B3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Complementary embryonic measurements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5A289-07A9-4C4E-9CBF-7A93430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1EE99-45CD-42F8-A84F-9FF2B741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3BBC3-92BA-4404-A549-847F7432B0EA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000500"/>
                <a:gridCol w="3543300"/>
              </a:tblGrid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cells /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scope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bd3201475c264654"/>
                        </a:rPr>
                        <a:t>Tyser et al. (2021)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1,195 cells / 1 embryo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Gastrulation, Carnegie stage 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a8fc860a098437c"/>
                        </a:rPr>
                        <a:t>Petropoulos et al. (2016)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1,519 cells / 88 embryos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Preimplantation, days 3–7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Recovered coverage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683 of 1,006 earlier missing groups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TPM, including familiar CTAs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49227-EC91-42F5-A212-79EDB89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PRAME, MAGE-A4, CTAG1A/B, XAGE1A/B and CT83 now have TPM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FF2AE-3284-458A-840B-1838B8B4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Each source keeps its own stages. Neither atlas covers all fetal or pediatric development.</a:t>
            </a:r>
          </a:p>
        </p:txBody>
      </p:sp>
    </p:spTree>
    <p:extLst>
      <p:ext uri="{BB962C8B-B14F-4D97-AF65-F5344CB8AC3E}">
        <p14:creationId xmlns:p14="http://schemas.microsoft.com/office/powerpoint/2010/main" val="10533096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5CD64-A95C-4976-9F80-9A401E4F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BB17A-1191-4A97-85B2-7E7D697F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adult/placental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82BDA-FEEB-4A55-9678-FF88BA77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2365F-B07B-42EC-910C-D9DA0763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9D3F-BF4D-48DF-B873-8A3A9B18F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9609b6d714bfd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049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EF5DA-D187-4679-8B40-B88CBFE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CURRENT ASSIGNMENTS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A5AB5-6BA3-4976-9DC5-C4D6179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Widely studied antigens: embryonic 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06B60-A4B7-4721-8EA8-72A963E2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B1DDB-3614-4249-A4FA-D4C20CC1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1D3EC-DAE6-4E46-9B60-70288AE85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6a6c97fb34d71"/>
          <a:stretch xmlns:a="http://schemas.openxmlformats.org/drawingml/2006/main"/>
        </p:blipFill>
        <p:spPr>
          <a:xfrm xmlns:a="http://schemas.openxmlformats.org/drawingml/2006/main">
            <a:off x="527538" y="1524000"/>
            <a:ext cx="11136923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182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6A482-98BF-418F-9FD0-7247E055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READING THE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6042B-375E-46B3-972A-A9E0D3A6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Assessment status is separate from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AE12D-7B01-480D-9B4B-90CC6462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576F-1EB0-4900-9293-AC6B6AA6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0C41B-E60D-47D8-BBD8-59E4744F7AD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924550"/>
                <a:gridCol w="161925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 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Human 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Candidate, Unsafe or Neither assigned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19,329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incomplete_evidence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Unassigned with missing coverage or unresolved evidence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normal_evidence_hold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normal coverage passes; a normal-screen hold remains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59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unassessed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species-specific selection policy applied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77ACC-47AA-4645-BFF4-A035A99A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Neither requires a complete, resolved normal screen. Unassigned does not mean Unsafe or low expression.</a:t>
            </a:r>
          </a:p>
        </p:txBody>
      </p:sp>
    </p:spTree>
    <p:extLst>
      <p:ext uri="{BB962C8B-B14F-4D97-AF65-F5344CB8AC3E}">
        <p14:creationId xmlns:p14="http://schemas.microsoft.com/office/powerpoint/2010/main" val="15445476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1C9AD-AB15-42C4-B314-ED8434F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COVERAGE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908AF-35FD-4267-B3A2-496A5037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Which sources have incomplete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1799B-A6DC-4CB2-9708-1980F996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A17F8-12CF-44ED-9F21-BAED373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D666A-AA92-4145-90E4-7EC3AD1899D6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0"/>
                <a:gridCol w="1733550"/>
              </a:tblGrid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or unresolved evidence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Proteins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6e4f70b9ec6144a6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consensus bulk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normal bulk: HPA consensus + HPA brain + direct GTEx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724cafce27b64f7f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tissue-cell clusters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335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905741ea314044dd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immune cells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Monaco immune cells via </a:t>
                      </a:r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bfb7b46b8f434e6b"/>
                        </a:rPr>
                        <a:t>HPA v23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</a:t>
                      </a:r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231d6a2c43414dcf"/>
                        </a:rPr>
                        <a:t>GTEx v11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bulk panel (52 contexts)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Combined Tyser + Petropoulos TPM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tumor measurement: OncoRef + HPA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34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tumor, incomplete group profile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034">
                <a:tc>
                  <a:txBody>
                    <a:bodyPr/>
                    <a:lstStyle/>
                    <a:p>
                      <a:r>
                        <a:rPr sz="1650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f776bc08f63e45d6"/>
                        </a:rPr>
                        <a:t>HPA v23</a:t>
                      </a:r>
                      <a:r>
                        <a:rPr sz="165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 Uncertain normal-tissue IHC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DAD59-8D9D-4C28-AE85-15E32142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Overlapping gaps within 475 unassigned proteins. </a:t>
            </a:r>
            <a:r>
              <a:rPr sz="1800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a276ddc07db34e06"/>
              </a:rPr>
              <a:t>DICE</a:t>
            </a: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corneal coverage are optional.</a:t>
            </a:r>
          </a:p>
        </p:txBody>
      </p:sp>
    </p:spTree>
    <p:extLst>
      <p:ext uri="{BB962C8B-B14F-4D97-AF65-F5344CB8AC3E}">
        <p14:creationId xmlns:p14="http://schemas.microsoft.com/office/powerpoint/2010/main" val="8193096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6E354-A650-4EEA-9BB5-938D4A3A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SPECIES-SPECIFIC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F35A1-F716-467E-9EE2-33BC50F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Dog evidence and integration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1F8B8-75C7-4EDD-BDB6-5CE96E82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59104-9586-4EC7-B274-81FA760A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7FAFF-18B9-479A-A840-10EAB7532B0E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Available evidence / remaining gap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Nominations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+ 10 − 1 shared = 14 native nominations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 unique mappings; one ambiguous MAGE-family assay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/ developmental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Bgee TPM and BarkBase TMM-CPM need reference reconciliation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Tumor RNA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GSE304066 count/FPKM and reference conflicts remain unresolved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protein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study IHC; Pfizer pooled iBAQ is not cell-resolved IHC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14 unassigned / unassessed; no canine quantitative policy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30AA9-CF46-4C05-9387-AA5E4820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Human thresholds, antibody grades and normal-tissue absence never transfer by orthology.</a:t>
            </a:r>
          </a:p>
        </p:txBody>
      </p:sp>
    </p:spTree>
    <p:extLst>
      <p:ext uri="{BB962C8B-B14F-4D97-AF65-F5344CB8AC3E}">
        <p14:creationId xmlns:p14="http://schemas.microsoft.com/office/powerpoint/2010/main" val="13309824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2E3F4-3A81-4CBA-B284-120133D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DEVELOPMENTAL NOMINATIONS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94304-FB67-451B-9709-5130A5F3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Curated oncofetal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24E05-B54C-46B1-9389-186DD8A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50DCF-B6BD-47D4-856D-254C071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5A2EB-5819-440C-8A41-9D9870EDFB6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 and integration status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Tyser + Petropoulos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gastrulation and preimplantation TPM sources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c9ad64faf32c4568"/>
                        </a:rPr>
                        <a:t>Shaw et al.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157 cancer-specific targets; six oncofetal annotations. Exon-specific scope retained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163e968425a74022"/>
                        </a:rPr>
                        <a:t>TRIM71 liver study (2024)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Liver oncofetal signature; requires identity and measurement ingestion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1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a45722a0b60d42d2"/>
                        </a:rPr>
                        <a:t>Cardoso-Moreira et al. (2019)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Developmental organ trajectories with child/adult comparisons; not integrated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1D75D-AFFC-46FF-AE1A-9A55F5F0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Published nominations need independent normal/tumor filtering and postnatal coverage.</a:t>
            </a:r>
          </a:p>
        </p:txBody>
      </p:sp>
    </p:spTree>
    <p:extLst>
      <p:ext uri="{BB962C8B-B14F-4D97-AF65-F5344CB8AC3E}">
        <p14:creationId xmlns:p14="http://schemas.microsoft.com/office/powerpoint/2010/main" val="2780195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33DB8-5856-4EC0-B6F1-94D4574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D55D2-9601-4856-B985-4B0FF11E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Common API with native evidence underneath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0EC22-62A7-454B-B1A1-82DE98C5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21DD5-586D-4569-90B7-02A4F0C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48E1A-C82F-4C35-9978-3859B08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results = cta_selection.results(species="human")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 = cta_selection.audit(species="human")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audit.sources    audit.overlaps    audit.funnel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audit.explain("PRAME")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5F3D0-6CF0-4861-AAA7-E1422CA904F1}"/>
              </a:ext>
            </a:extLst>
          </p:cNvPr>
          <p:cNvGraphicFramePr/>
          <p:nvPr/>
        </p:nvGraphicFramePr>
        <p:xfrm>
          <a:off xmlns:a="http://schemas.openxmlformats.org/drawingml/2006/main" x="609600" y="381000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category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CTA / Tumor-restricted / Unsafe / Neither, or null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assessment_status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Screened, incomplete evidence, normal hold, or unassessed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gene_ids / gene_identities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member loci, stable IDs, history and curated synonyms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2309-9D8D-4288-AB1D-B40B472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Source-specific native units, tissue/cell context, confidence and coverage remain inspectable.</a:t>
            </a:r>
          </a:p>
        </p:txBody>
      </p:sp>
    </p:spTree>
    <p:extLst>
      <p:ext uri="{BB962C8B-B14F-4D97-AF65-F5344CB8AC3E}">
        <p14:creationId xmlns:p14="http://schemas.microsoft.com/office/powerpoint/2010/main" val="186416265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25116-F93F-438D-A3BE-73B62049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DATA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9E193-9CB0-46EE-B7EB-981AA94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55"/>
                </a:solidFill>
                <a:latin typeface="Helvetica Neue"/>
                <a:ea typeface="Helvetica Neue"/>
                <a:cs typeface="Helvetica Neue"/>
              </a:rPr>
              <a:t>Every source resolves to a concrete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EFA43-BF16-4F9D-9732-CB2CB31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OncoRef CTA evidence walkthrough   •   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928A2-4A1C-4EAF-B19A-3379A4D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5EB07-F614-4828-8B5E-F5312FCF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catalog.ensure("gtex_tissue_rna")               # v11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catalog.ensure("gtex_tissue_rna", version="v10")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catalog.provenance("gtex_tissue_rna", "v11")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3FF8A-7E5E-4CEC-9EF7-4913A2A3A2C5}"/>
              </a:ext>
            </a:extLst>
          </p:cNvPr>
          <p:cNvGraphicFramePr/>
          <p:nvPr/>
        </p:nvGraphicFramePr>
        <p:xfrm>
          <a:off xmlns:a="http://schemas.openxmlformats.org/drawingml/2006/main" x="609600" y="3238500"/>
          <a:ext xmlns:a="http://schemas.openxmlformats.org/drawingml/2006/main" cx="10972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choice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Source-specific meaning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T w="4763">
                      <a:solidFill>
                        <a:srgbClr val="D9E2E8"/>
                      </a:solidFill>
                      <a:prstDash val="solid"/>
                    </a:lnT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173B5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/ latest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Newest registered release; saved runs keep explicit pins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Concrete version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c87b68d472064155"/>
                        </a:rPr>
                        <a:t>GTEx v11</a:t>
                      </a:r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; </a:t>
                      </a:r>
                      <a:r>
                        <a:rPr sz="1800" b="0" u="sng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  <a:hlinkClick xmlns:r="http://schemas.openxmlformats.org/officeDocument/2006/relationships" r:id="R4052fe11a15044c4"/>
                        </a:rPr>
                        <a:t>HPA v25.1</a:t>
                      </a:r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; a study snapshot or OncoRef build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Version, content checksum, native unit, annotation and pipeline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Species</a:t>
                      </a:r>
                    </a:p>
                  </a:txBody>
                  <a:tcPr marL="95250" marR="95250" marT="19050" marB="19050">
                    <a:lnL w="4763">
                      <a:solidFill>
                        <a:srgbClr val="D9E2E8"/>
                      </a:solidFill>
                      <a:prstDash val="solid"/>
                    </a:lnL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5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same selector applies to native dog and mouse assets</a:t>
                      </a:r>
                    </a:p>
                  </a:txBody>
                  <a:tcPr marL="95250" marR="95250" marT="19050" marB="19050">
                    <a:lnR w="4763">
                      <a:solidFill>
                        <a:srgbClr val="D9E2E8"/>
                      </a:solidFill>
                      <a:prstDash val="solid"/>
                    </a:lnR>
                    <a:lnB w="4763">
                      <a:solidFill>
                        <a:srgbClr val="D9E2E8"/>
                      </a:solidFill>
                      <a:prstDash val="solid"/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6B013-EFE6-4A63-9840-09A5483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This analysis pins </a:t>
            </a: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cc7ec6520b1249db"/>
              </a:rPr>
              <a:t>GTEx v11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and </a:t>
            </a:r>
            <a:r>
              <a:rPr sz="1725" b="0" u="sng">
                <a:solidFill>
                  <a:srgbClr val="536675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5296ff6ad9c841ec"/>
              </a:rPr>
              <a:t>HPA v23</a:t>
            </a:r>
            <a:r>
              <a:rPr sz="1725" b="0">
                <a:solidFill>
                  <a:srgbClr val="536675"/>
                </a:solidFill>
                <a:latin typeface="Helvetica Neue"/>
                <a:ea typeface="Helvetica Neue"/>
                <a:cs typeface="Helvetica Neue"/>
              </a:rPr>
              <a:t> normal panels. A newer public default does not rewrite it.</a:t>
            </a:r>
          </a:p>
        </p:txBody>
      </p:sp>
    </p:spTree>
    <p:extLst>
      <p:ext uri="{BB962C8B-B14F-4D97-AF65-F5344CB8AC3E}">
        <p14:creationId xmlns:p14="http://schemas.microsoft.com/office/powerpoint/2010/main" val="2099617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2026-10-30T17:51:00.0130000Z</dcterms:created>
  <dcterms:modified xsi:type="dcterms:W3CDTF">2026-10-30T17:51:00.0130000Z</dcterms:modified>
</coreProperties>
</file>