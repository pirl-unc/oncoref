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8d224463854071" /><Relationship Type="http://schemas.openxmlformats.org/officeDocument/2006/relationships/extended-properties" Target="/docProps/app.xml" Id="R4faa08e0f67d4292" /><Relationship Type="http://schemas.openxmlformats.org/officeDocument/2006/relationships/officeDocument" Target="/ppt/presentation.xml" Id="R251ff575f3984f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cdc5f12aa44595"/>
  </p:sldMasterIdLst>
  <p:notesMasterIdLst>
    <p:notesMasterId xmlns:r="http://schemas.openxmlformats.org/officeDocument/2006/relationships" r:id="R37c3b5332b814678"/>
  </p:notesMasterIdLst>
  <p:sldIdLst>
    <p:sldId xmlns:r="http://schemas.openxmlformats.org/officeDocument/2006/relationships" id="256" r:id="R9f7524427ab640a5"/>
    <p:sldId xmlns:r="http://schemas.openxmlformats.org/officeDocument/2006/relationships" id="257" r:id="Reeb63684e09e4877"/>
    <p:sldId xmlns:r="http://schemas.openxmlformats.org/officeDocument/2006/relationships" id="258" r:id="R119771259fa64756"/>
    <p:sldId xmlns:r="http://schemas.openxmlformats.org/officeDocument/2006/relationships" id="259" r:id="R0808a668caf2436f"/>
    <p:sldId xmlns:r="http://schemas.openxmlformats.org/officeDocument/2006/relationships" id="260" r:id="Re8084fa3deda4286"/>
    <p:sldId xmlns:r="http://schemas.openxmlformats.org/officeDocument/2006/relationships" id="261" r:id="Rb9b6be7b9c114c4c"/>
    <p:sldId xmlns:r="http://schemas.openxmlformats.org/officeDocument/2006/relationships" id="262" r:id="Ra5a065e88e1e48ff"/>
    <p:sldId xmlns:r="http://schemas.openxmlformats.org/officeDocument/2006/relationships" id="263" r:id="R2130adb8fed74aaa"/>
    <p:sldId xmlns:r="http://schemas.openxmlformats.org/officeDocument/2006/relationships" id="264" r:id="R414a9ebe62564ddc"/>
    <p:sldId xmlns:r="http://schemas.openxmlformats.org/officeDocument/2006/relationships" id="265" r:id="R371c0d99585f4c5b"/>
    <p:sldId xmlns:r="http://schemas.openxmlformats.org/officeDocument/2006/relationships" id="266" r:id="Rb0f6ca48fa814282"/>
    <p:sldId xmlns:r="http://schemas.openxmlformats.org/officeDocument/2006/relationships" id="267" r:id="R36b28790eb9d4b5b"/>
    <p:sldId xmlns:r="http://schemas.openxmlformats.org/officeDocument/2006/relationships" id="268" r:id="R74e31afb52d24e6b"/>
    <p:sldId xmlns:r="http://schemas.openxmlformats.org/officeDocument/2006/relationships" id="269" r:id="Rc6ef05f733484932"/>
    <p:sldId xmlns:r="http://schemas.openxmlformats.org/officeDocument/2006/relationships" id="270" r:id="R457a0ecbc6054f4a"/>
    <p:sldId xmlns:r="http://schemas.openxmlformats.org/officeDocument/2006/relationships" id="271" r:id="R5d55b9b7673e432d"/>
    <p:sldId xmlns:r="http://schemas.openxmlformats.org/officeDocument/2006/relationships" id="272" r:id="Rb4fe641c5a7541f8"/>
    <p:sldId xmlns:r="http://schemas.openxmlformats.org/officeDocument/2006/relationships" id="273" r:id="R3383163d9df2468a"/>
    <p:sldId xmlns:r="http://schemas.openxmlformats.org/officeDocument/2006/relationships" id="274" r:id="R65873f6833a44caf"/>
    <p:sldId xmlns:r="http://schemas.openxmlformats.org/officeDocument/2006/relationships" id="275" r:id="R0bc5ddfcf3a44f4d"/>
    <p:sldId xmlns:r="http://schemas.openxmlformats.org/officeDocument/2006/relationships" id="276" r:id="R3aa0e52bdc794650"/>
    <p:sldId xmlns:r="http://schemas.openxmlformats.org/officeDocument/2006/relationships" id="277" r:id="R312685981174470f"/>
    <p:sldId xmlns:r="http://schemas.openxmlformats.org/officeDocument/2006/relationships" id="278" r:id="R34b8ecbe70c2412d"/>
    <p:sldId xmlns:r="http://schemas.openxmlformats.org/officeDocument/2006/relationships" id="279" r:id="R2b41893ffa3d4011"/>
    <p:sldId xmlns:r="http://schemas.openxmlformats.org/officeDocument/2006/relationships" id="280" r:id="R19165d1460be4564"/>
    <p:sldId xmlns:r="http://schemas.openxmlformats.org/officeDocument/2006/relationships" id="281" r:id="R9a928047f2a4424a"/>
    <p:sldId xmlns:r="http://schemas.openxmlformats.org/officeDocument/2006/relationships" id="282" r:id="R2fd1c7e4b7ad4be4"/>
    <p:sldId xmlns:r="http://schemas.openxmlformats.org/officeDocument/2006/relationships" id="283" r:id="R5e586cc06571499b"/>
    <p:sldId xmlns:r="http://schemas.openxmlformats.org/officeDocument/2006/relationships" id="284" r:id="R5920fb4f4d2747b1"/>
    <p:sldId xmlns:r="http://schemas.openxmlformats.org/officeDocument/2006/relationships" id="285" r:id="R932d303bb4da45d3"/>
    <p:sldId xmlns:r="http://schemas.openxmlformats.org/officeDocument/2006/relationships" id="286" r:id="R0894b2034b904b75"/>
    <p:sldId xmlns:r="http://schemas.openxmlformats.org/officeDocument/2006/relationships" id="287" r:id="R3dbd28704a024707"/>
    <p:sldId xmlns:r="http://schemas.openxmlformats.org/officeDocument/2006/relationships" id="288" r:id="R4e22d11c67d34f52"/>
    <p:sldId xmlns:r="http://schemas.openxmlformats.org/officeDocument/2006/relationships" id="289" r:id="R31a9bfe5ceda4f7a"/>
    <p:sldId xmlns:r="http://schemas.openxmlformats.org/officeDocument/2006/relationships" id="290" r:id="Rf84471a7c3ad489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055d6dc3d3424b" /><Relationship Type="http://schemas.openxmlformats.org/officeDocument/2006/relationships/slideMaster" Target="/ppt/slideMasters/slideMaster1.xml" Id="R18cdc5f12aa44595" /><Relationship Type="http://schemas.openxmlformats.org/officeDocument/2006/relationships/notesMaster" Target="/ppt/notesMasters/notesMaster1.xml" Id="R37c3b5332b814678" /><Relationship Type="http://schemas.openxmlformats.org/officeDocument/2006/relationships/presProps" Target="/ppt/presProps.xml" Id="R41bc5653190249f0" /><Relationship Type="http://schemas.openxmlformats.org/officeDocument/2006/relationships/tableStyles" Target="/ppt/tableStyles.xml" Id="R5bee6d0bac774a91" /><Relationship Type="http://schemas.openxmlformats.org/officeDocument/2006/relationships/slide" Target="/ppt/slides/slide1.xml" Id="R9f7524427ab640a5" /><Relationship Type="http://schemas.openxmlformats.org/officeDocument/2006/relationships/slide" Target="/ppt/slides/slide2.xml" Id="Reeb63684e09e4877" /><Relationship Type="http://schemas.openxmlformats.org/officeDocument/2006/relationships/slide" Target="/ppt/slides/slide3.xml" Id="R119771259fa64756" /><Relationship Type="http://schemas.openxmlformats.org/officeDocument/2006/relationships/slide" Target="/ppt/slides/slide4.xml" Id="R0808a668caf2436f" /><Relationship Type="http://schemas.openxmlformats.org/officeDocument/2006/relationships/slide" Target="/ppt/slides/slide5.xml" Id="Re8084fa3deda4286" /><Relationship Type="http://schemas.openxmlformats.org/officeDocument/2006/relationships/slide" Target="/ppt/slides/slide6.xml" Id="Rb9b6be7b9c114c4c" /><Relationship Type="http://schemas.openxmlformats.org/officeDocument/2006/relationships/slide" Target="/ppt/slides/slide7.xml" Id="Ra5a065e88e1e48ff" /><Relationship Type="http://schemas.openxmlformats.org/officeDocument/2006/relationships/slide" Target="/ppt/slides/slide8.xml" Id="R2130adb8fed74aaa" /><Relationship Type="http://schemas.openxmlformats.org/officeDocument/2006/relationships/slide" Target="/ppt/slides/slide9.xml" Id="R414a9ebe62564ddc" /><Relationship Type="http://schemas.openxmlformats.org/officeDocument/2006/relationships/slide" Target="/ppt/slides/slide10.xml" Id="R371c0d99585f4c5b" /><Relationship Type="http://schemas.openxmlformats.org/officeDocument/2006/relationships/slide" Target="/ppt/slides/slide11.xml" Id="Rb0f6ca48fa814282" /><Relationship Type="http://schemas.openxmlformats.org/officeDocument/2006/relationships/slide" Target="/ppt/slides/slide12.xml" Id="R36b28790eb9d4b5b" /><Relationship Type="http://schemas.openxmlformats.org/officeDocument/2006/relationships/slide" Target="/ppt/slides/slide13.xml" Id="R74e31afb52d24e6b" /><Relationship Type="http://schemas.openxmlformats.org/officeDocument/2006/relationships/slide" Target="/ppt/slides/slide14.xml" Id="Rc6ef05f733484932" /><Relationship Type="http://schemas.openxmlformats.org/officeDocument/2006/relationships/slide" Target="/ppt/slides/slide15.xml" Id="R457a0ecbc6054f4a" /><Relationship Type="http://schemas.openxmlformats.org/officeDocument/2006/relationships/slide" Target="/ppt/slides/slide16.xml" Id="R5d55b9b7673e432d" /><Relationship Type="http://schemas.openxmlformats.org/officeDocument/2006/relationships/slide" Target="/ppt/slides/slide17.xml" Id="Rb4fe641c5a7541f8" /><Relationship Type="http://schemas.openxmlformats.org/officeDocument/2006/relationships/slide" Target="/ppt/slides/slide18.xml" Id="R3383163d9df2468a" /><Relationship Type="http://schemas.openxmlformats.org/officeDocument/2006/relationships/slide" Target="/ppt/slides/slide19.xml" Id="R65873f6833a44caf" /><Relationship Type="http://schemas.openxmlformats.org/officeDocument/2006/relationships/slide" Target="/ppt/slides/slide20.xml" Id="R0bc5ddfcf3a44f4d" /><Relationship Type="http://schemas.openxmlformats.org/officeDocument/2006/relationships/slide" Target="/ppt/slides/slide21.xml" Id="R3aa0e52bdc794650" /><Relationship Type="http://schemas.openxmlformats.org/officeDocument/2006/relationships/slide" Target="/ppt/slides/slide22.xml" Id="R312685981174470f" /><Relationship Type="http://schemas.openxmlformats.org/officeDocument/2006/relationships/slide" Target="/ppt/slides/slide23.xml" Id="R34b8ecbe70c2412d" /><Relationship Type="http://schemas.openxmlformats.org/officeDocument/2006/relationships/slide" Target="/ppt/slides/slide24.xml" Id="R2b41893ffa3d4011" /><Relationship Type="http://schemas.openxmlformats.org/officeDocument/2006/relationships/slide" Target="/ppt/slides/slide25.xml" Id="R19165d1460be4564" /><Relationship Type="http://schemas.openxmlformats.org/officeDocument/2006/relationships/slide" Target="/ppt/slides/slide26.xml" Id="R9a928047f2a4424a" /><Relationship Type="http://schemas.openxmlformats.org/officeDocument/2006/relationships/slide" Target="/ppt/slides/slide27.xml" Id="R2fd1c7e4b7ad4be4" /><Relationship Type="http://schemas.openxmlformats.org/officeDocument/2006/relationships/slide" Target="/ppt/slides/slide28.xml" Id="R5e586cc06571499b" /><Relationship Type="http://schemas.openxmlformats.org/officeDocument/2006/relationships/slide" Target="/ppt/slides/slide29.xml" Id="R5920fb4f4d2747b1" /><Relationship Type="http://schemas.openxmlformats.org/officeDocument/2006/relationships/slide" Target="/ppt/slides/slide30.xml" Id="R932d303bb4da45d3" /><Relationship Type="http://schemas.openxmlformats.org/officeDocument/2006/relationships/slide" Target="/ppt/slides/slide31.xml" Id="R0894b2034b904b75" /><Relationship Type="http://schemas.openxmlformats.org/officeDocument/2006/relationships/slide" Target="/ppt/slides/slide32.xml" Id="R3dbd28704a024707" /><Relationship Type="http://schemas.openxmlformats.org/officeDocument/2006/relationships/slide" Target="/ppt/slides/slide33.xml" Id="R4e22d11c67d34f52" /><Relationship Type="http://schemas.openxmlformats.org/officeDocument/2006/relationships/slide" Target="/ppt/slides/slide34.xml" Id="R31a9bfe5ceda4f7a" /><Relationship Type="http://schemas.openxmlformats.org/officeDocument/2006/relationships/slide" Target="/ppt/slides/slide35.xml" Id="Rf84471a7c3ad489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12f1f9c45442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c1e83b9b0c457d" /><Relationship Type="http://schemas.openxmlformats.org/officeDocument/2006/relationships/notesMaster" Target="/ppt/notesMasters/notesMaster1.xml" Id="R5e58091ce34d45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55bcb22341473a" /><Relationship Type="http://schemas.openxmlformats.org/officeDocument/2006/relationships/notesMaster" Target="/ppt/notesMasters/notesMaster1.xml" Id="R43dc686bc2e04e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7881beef6843f0" /><Relationship Type="http://schemas.openxmlformats.org/officeDocument/2006/relationships/notesMaster" Target="/ppt/notesMasters/notesMaster1.xml" Id="Reeaf677c5da447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f08b5ab8f1455c" /><Relationship Type="http://schemas.openxmlformats.org/officeDocument/2006/relationships/notesMaster" Target="/ppt/notesMasters/notesMaster1.xml" Id="R35da9e2cba4c43a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5673e68e8464d6b" /><Relationship Type="http://schemas.openxmlformats.org/officeDocument/2006/relationships/notesMaster" Target="/ppt/notesMasters/notesMaster1.xml" Id="R98cd4b1d153240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8a7123258d4737" /><Relationship Type="http://schemas.openxmlformats.org/officeDocument/2006/relationships/notesMaster" Target="/ppt/notesMasters/notesMaster1.xml" Id="R4ce05f05ac9642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af996bf0cd41e3" /><Relationship Type="http://schemas.openxmlformats.org/officeDocument/2006/relationships/notesMaster" Target="/ppt/notesMasters/notesMaster1.xml" Id="R5f2271d3f59b4bf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3da21c628b34168" /><Relationship Type="http://schemas.openxmlformats.org/officeDocument/2006/relationships/notesMaster" Target="/ppt/notesMasters/notesMaster1.xml" Id="R9346116f1da641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e6b38c777aa4ad6" /><Relationship Type="http://schemas.openxmlformats.org/officeDocument/2006/relationships/notesMaster" Target="/ppt/notesMasters/notesMaster1.xml" Id="Rb453d891c61243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cf1299f29c4213" /><Relationship Type="http://schemas.openxmlformats.org/officeDocument/2006/relationships/notesMaster" Target="/ppt/notesMasters/notesMaster1.xml" Id="R16d389a6124e46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3daf2d57ef04675" /><Relationship Type="http://schemas.openxmlformats.org/officeDocument/2006/relationships/notesMaster" Target="/ppt/notesMasters/notesMaster1.xml" Id="Rb58aaf01b3e2441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7d5465fb974769" /><Relationship Type="http://schemas.openxmlformats.org/officeDocument/2006/relationships/notesMaster" Target="/ppt/notesMasters/notesMaster1.xml" Id="R6c147289715545b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a60f441cd22466f" /><Relationship Type="http://schemas.openxmlformats.org/officeDocument/2006/relationships/notesMaster" Target="/ppt/notesMasters/notesMaster1.xml" Id="R5b35de6942af45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3224d59cdfc4195" /><Relationship Type="http://schemas.openxmlformats.org/officeDocument/2006/relationships/notesMaster" Target="/ppt/notesMasters/notesMaster1.xml" Id="R4e689143aee7427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fedfb82ab7d4e60" /><Relationship Type="http://schemas.openxmlformats.org/officeDocument/2006/relationships/notesMaster" Target="/ppt/notesMasters/notesMaster1.xml" Id="R0c19273536454fd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0326fafd8f94d9f" /><Relationship Type="http://schemas.openxmlformats.org/officeDocument/2006/relationships/notesMaster" Target="/ppt/notesMasters/notesMaster1.xml" Id="Rbfe0ac50718e44c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96ba035239e477a" /><Relationship Type="http://schemas.openxmlformats.org/officeDocument/2006/relationships/notesMaster" Target="/ppt/notesMasters/notesMaster1.xml" Id="R070863e0cb27455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1dc5a1049204be6" /><Relationship Type="http://schemas.openxmlformats.org/officeDocument/2006/relationships/notesMaster" Target="/ppt/notesMasters/notesMaster1.xml" Id="Rc124b2f236ab42f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e701be175624317" /><Relationship Type="http://schemas.openxmlformats.org/officeDocument/2006/relationships/notesMaster" Target="/ppt/notesMasters/notesMaster1.xml" Id="Re5e8bf64afb440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1d9fd4bc55d4bf9" /><Relationship Type="http://schemas.openxmlformats.org/officeDocument/2006/relationships/notesMaster" Target="/ppt/notesMasters/notesMaster1.xml" Id="R9dfd80b1e12549d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4d6c97706a24eed" /><Relationship Type="http://schemas.openxmlformats.org/officeDocument/2006/relationships/notesMaster" Target="/ppt/notesMasters/notesMaster1.xml" Id="Rddaf36d24fbe43a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5f1c3a4ff344236" /><Relationship Type="http://schemas.openxmlformats.org/officeDocument/2006/relationships/notesMaster" Target="/ppt/notesMasters/notesMaster1.xml" Id="R477f30fc1bcf4b1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bf735626be9450e" /><Relationship Type="http://schemas.openxmlformats.org/officeDocument/2006/relationships/notesMaster" Target="/ppt/notesMasters/notesMaster1.xml" Id="Rfd7f70e82db74a9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f28dba026cf4160" /><Relationship Type="http://schemas.openxmlformats.org/officeDocument/2006/relationships/notesMaster" Target="/ppt/notesMasters/notesMaster1.xml" Id="Rc90024a3e186466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c14f3db4d754bb1" /><Relationship Type="http://schemas.openxmlformats.org/officeDocument/2006/relationships/notesMaster" Target="/ppt/notesMasters/notesMaster1.xml" Id="Ra9a0a909b5e544c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6ad675b8a1c4217" /><Relationship Type="http://schemas.openxmlformats.org/officeDocument/2006/relationships/notesMaster" Target="/ppt/notesMasters/notesMaster1.xml" Id="R716024b00878405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03b3d51c5a24ee3" /><Relationship Type="http://schemas.openxmlformats.org/officeDocument/2006/relationships/notesMaster" Target="/ppt/notesMasters/notesMaster1.xml" Id="Rb4466ff9f9f14af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8e1df5781484b69" /><Relationship Type="http://schemas.openxmlformats.org/officeDocument/2006/relationships/notesMaster" Target="/ppt/notesMasters/notesMaster1.xml" Id="Rcbde6744c86f4f7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ad7f2c79dcd42eb" /><Relationship Type="http://schemas.openxmlformats.org/officeDocument/2006/relationships/notesMaster" Target="/ppt/notesMasters/notesMaster1.xml" Id="Raa3b33ffef764c7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2cb0dc088d948d7" /><Relationship Type="http://schemas.openxmlformats.org/officeDocument/2006/relationships/notesMaster" Target="/ppt/notesMasters/notesMaster1.xml" Id="Rb333170ce3e249c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4b298dc5f704cf3" /><Relationship Type="http://schemas.openxmlformats.org/officeDocument/2006/relationships/notesMaster" Target="/ppt/notesMasters/notesMaster1.xml" Id="Rbb3c0ced6c4245fb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63b33e962fb4ed2" /><Relationship Type="http://schemas.openxmlformats.org/officeDocument/2006/relationships/notesMaster" Target="/ppt/notesMasters/notesMaster1.xml" Id="R86bb02cb427d42d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4312c76c630642a9" /><Relationship Type="http://schemas.openxmlformats.org/officeDocument/2006/relationships/notesMaster" Target="/ppt/notesMasters/notesMaster1.xml" Id="Rc24003ec169945c0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bf457a913cc94f55" /><Relationship Type="http://schemas.openxmlformats.org/officeDocument/2006/relationships/notesMaster" Target="/ppt/notesMasters/notesMaster1.xml" Id="R1989779ea57b460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812e18a0ed347d4" /><Relationship Type="http://schemas.openxmlformats.org/officeDocument/2006/relationships/notesMaster" Target="/ppt/notesMasters/notesMaster1.xml" Id="Rfd1004df347340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Human and dog CTA evidence</a:t>
            </a:r>
          </a:p>
          <a:p xmlns:a="http://schemas.openxmlformats.org/drawingml/2006/main">
            <a:r>
              <a:t>One RNA ceiling. Other is the assessed normal-pass, noncandidate fallback. Unassigned is an assessment status, not a biological category.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Safety, cancer and Reproductive evidence</a:t>
            </a:r>
          </a:p>
          <a:p xmlns:a="http://schemas.openxmlformats.org/drawingml/2006/main">
            <a:r>
              <a:t>Only safety supplies Unsafe evidence. Reproductive is the umbrella for adult reproductive, placental, extraembryonic, embryonic and fetal contexts.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Diffuse expression is an identity question</a:t>
            </a:r>
          </a:p>
          <a:p xmlns:a="http://schemas.openxmlformats.org/drawingml/2006/main">
            <a:r>
              <a:t>The old normal-maximum veto is removed. Diffuseness averages N/(N+R) across fixed weighted normal contexts, including Disposable. The active 10% adult/placental identity boundary requires complete HPA measurements and an RNA- or IHC-supported positive reference. Thymus is Permissive and excluded. Supported embryonic evidence retains its separate route with unassessed concentration.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fixed GTEx core for every protein</a:t>
            </a:r>
          </a:p>
          <a:p xmlns:a="http://schemas.openxmlformats.org/drawingml/2006/main">
            <a:r>
              <a:t>GTEx v11 uses 52 native bulk contexts, 9 Reproductive and 43 other. Every member locus must be measured. 19,119 / 19,863 proteins have full coverage; no intermediate coverage profiles occur.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ZNF730: panel composition matters</a:t>
            </a:r>
          </a:p>
          <a:p xmlns:a="http://schemas.openxmlformats.org/drawingml/2006/main">
            <a:r>
              <a:t>Full tissue tables: https://pirl-unc.github.io/oncoref/audits/cta-unassigned-20261029/znf730/ . Original panels differ; scores are not a controlled assay comparison.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Published candidate lists</a:t>
            </a:r>
          </a:p>
          <a:p xmlns:a="http://schemas.openxmlformats.org/drawingml/2006/main">
            <a:r>
              <a:t>da Silva et al. (2017): https://doi.org/10.18632/oncotarget.21715</a:t>
            </a:r>
          </a:p>
          <a:p xmlns:a="http://schemas.openxmlformats.org/drawingml/2006/main">
            <a:r>
              <a:t>Wang et al. (2016): https://doi.org/10.1038/ncomms10499</a:t>
            </a:r>
          </a:p>
          <a:p xmlns:a="http://schemas.openxmlformats.org/drawingml/2006/main">
            <a:r>
              <a:t>Chang et al. (2019): https://doi.org/10.1002/cam4.2223</a:t>
            </a:r>
          </a:p>
          <a:p xmlns:a="http://schemas.openxmlformats.org/drawingml/2006/main">
            <a:r>
              <a:t>Gong et al. (2021): https://doi.org/10.1038/s41467-021-22695-y</a:t>
            </a:r>
          </a:p>
          <a:p xmlns:a="http://schemas.openxmlformats.org/drawingml/2006/main">
            <a:r>
              <a:t>Bruggeman et al. (2018): https://doi.org/10.1038/s41388-018-0357-2</a:t>
            </a:r>
          </a:p>
          <a:p xmlns:a="http://schemas.openxmlformats.org/drawingml/2006/main">
            <a:r>
              <a:t>Jamin et al. (2021): https://doi.org/10.1002/1878-0261.12900</a:t>
            </a:r>
          </a:p>
          <a:p xmlns:a="http://schemas.openxmlformats.org/drawingml/2006/main">
            <a:r>
              <a:t>Loriot et al. (2025): https://doi.org/10.1371/journal.pgen.1011734</a:t>
            </a:r>
          </a:p>
          <a:p xmlns:a="http://schemas.openxmlformats.org/drawingml/2006/main">
            <a:r>
              <a:t>Carter et al. (2023): https://doi.org/10.1136/jitc-2023-007935</a:t>
            </a:r>
          </a:p>
          <a:p xmlns:a="http://schemas.openxmlformats.org/drawingml/2006/main">
            <a:r>
              <a:t>Hirbo et al. (2015): https://doi.org/10.1371/journal.pone.0144155</a:t>
            </a:r>
          </a:p>
          <a:p xmlns:a="http://schemas.openxmlformats.org/drawingml/2006/main">
            <a:r>
              <a:t>Seager et al. (2024): https://doi.org/10.1186/s12967-024-04918-0</a:t>
            </a:r>
          </a:p>
          <a:p xmlns:a="http://schemas.openxmlformats.org/drawingml/2006/main">
            <a:r>
              <a:t>Sasaroli et al. (2011): https://doi.org/10.4161/cbt.12.3.16260</a:t>
            </a:r>
          </a:p>
          <a:p xmlns:a="http://schemas.openxmlformats.org/drawingml/2006/main">
            <a:r>
              <a:t>Garg et al. (2007): https://doi.org/10.1158/1078-0432.CCR-06-2340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Broader published nominations</a:t>
            </a:r>
          </a:p>
          <a:p xmlns:a="http://schemas.openxmlformats.org/drawingml/2006/main">
            <a:r>
              <a:t>Sasaroli et al. (2011) https://doi.org/10.4161/cbt.12.3.16260 . Hirbo et al. (2015) https://doi.org/10.1371/journal.pone.0144155 . Exact extracted rows and matching receipts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Overlap between published lists</a:t>
            </a:r>
          </a:p>
          <a:p xmlns:a="http://schemas.openxmlformats.org/drawingml/2006/main">
            <a:r>
              <a:t>Tables and author-recognized prior antigens within the same paper are unioned. Evidence roles, source IDs and pairwise counts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evidence: measured branches</a:t>
            </a:r>
          </a:p>
          <a:p xmlns:a="http://schemas.openxmlformats.org/drawingml/2006/main">
            <a:r>
              <a:t>Tyser et al. (2021): https://doi.org/10.1038/s41586-021-04158-y . HPA v23 https://v23.proteinatlas.org/about/download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Normal and cancer measurement sources</a:t>
            </a:r>
          </a:p>
          <a:p xmlns:a="http://schemas.openxmlformats.org/drawingml/2006/main">
            <a:r>
              <a:t>HPA https://v23.proteinatlas.org/about/download ; DICE https://dice-database.org/ ; cornea https://www.ncbi.nlm.nih.gov/geo/query/acc.cgi?acc=GSE155683 ; Tyser https://doi.org/10.1038/s41586-021-04158-y . Full URLs and sample lineage accompany the report.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RNA cutoffs</a:t>
            </a:r>
          </a:p>
          <a:p xmlns:a="http://schemas.openxmlformats.org/drawingml/2006/main">
            <a:r>
              <a:t>The same nominal values apply across native TPM/nTPM assays. CP10K uses nominal /100, not a TPM conversion. Values are screening-policy choices, not measured toxicity limits.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Clinical evidence adjusts RNA ceilings</a:t>
            </a:r>
          </a:p>
          <a:p xmlns:a="http://schemas.openxmlformats.org/drawingml/2006/main">
            <a:r>
              <a:t>One step for reviewed treated-cohort evidence without identified grade 4-5 specificity-related toxicity; cap at Enhanced. Unknown or suspected specificity injury blocks product credit. Exact peptide/HLA/receptor limits remain. Clinical trial and SAE review: https://pirl-unc.github.io/oncoref/audits/cta-tcr-trials-20261029/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Serious events and antigen specificity</a:t>
            </a:r>
          </a:p>
          <a:p xmlns:a="http://schemas.openxmlformats.org/drawingml/2006/main">
            <a:r>
              <a:t>Letetresgene Autoleucel in Advanced/Metastatic Myxoid/Round Cell Liposarcoma: https://doi.org/10.1200/JCO-24-01466</a:t>
            </a:r>
          </a:p>
          <a:p xmlns:a="http://schemas.openxmlformats.org/drawingml/2006/main">
            <a:r>
              <a:t>Autologous T cell therapy for PRAME+ advanced solid tumors in HLA-A*02+ patients: a phase 1 trial: https://doi.org/10.1038/s41591-025-03650-6</a:t>
            </a:r>
          </a:p>
          <a:p xmlns:a="http://schemas.openxmlformats.org/drawingml/2006/main">
            <a:r>
              <a:t>Autologous T cell therapy for MAGE-A4+ solid cancers in HLA-A*02+ patients: a phase 1 trial: https://doi.org/10.1038/s41591-022-02128-z</a:t>
            </a:r>
          </a:p>
          <a:p xmlns:a="http://schemas.openxmlformats.org/drawingml/2006/main">
            <a:r>
              <a:t>SPEARHEAD-1: a single-arm phase 2 trial of afamitresgene autoleucel in advanced synovial sarcoma and myxoid/round cell liposarcoma: https://doi.org/10.1016/S0140-6736(24)00319-2</a:t>
            </a:r>
          </a:p>
          <a:p xmlns:a="http://schemas.openxmlformats.org/drawingml/2006/main">
            <a:r>
              <a:t>Identification of a Titin-Derived HLA-A1-Presented Peptide as a Cross-Reactive Target for Engineered MAGE A3-Directed T Cells: https://doi.org/10.1126/scitranslmed.3006034</a:t>
            </a:r>
          </a:p>
          <a:p xmlns:a="http://schemas.openxmlformats.org/drawingml/2006/main">
            <a:r>
              <a:t>Guillain-Barre syndrome observed with adoptive transfer of lymphocytes genetically engineered with an NY-ESO-1 reactive T-cell receptor: https://doi.org/10.1186/s40425-019-0759-x</a:t>
            </a:r>
          </a:p>
          <a:p xmlns:a="http://schemas.openxmlformats.org/drawingml/2006/main">
            <a:r>
              <a:t>NCT03709706 protocol: NY-ESO-1/LAGE-1A shared peptide and c259 receptor: https://cdn.clinicaltrials.gov/large-docs/06/NCT03709706/Prot_000.pdf</a:t>
            </a:r>
          </a:p>
          <a:p xmlns:a="http://schemas.openxmlformats.org/drawingml/2006/main">
            <a:r>
              <a:t>NCT03132922 protocol: MAGE-A4 c1032 target peptide: https://cdn.clinicaltrials.gov/large-docs/22/NCT03132922/Prot_000.pdf</a:t>
            </a:r>
          </a:p>
          <a:p xmlns:a="http://schemas.openxmlformats.org/drawingml/2006/main">
            <a:r>
              <a:t>First-in-human dose escalation trial to evaluate the clinical safety and efficacy of an anti-MAGEA1 autologous TCR-transgenic T cell therapy in relapsed and refractory solid tumors: https://doi.org/10.1136/jitc-2023-008668</a:t>
            </a:r>
          </a:p>
          <a:p xmlns:a="http://schemas.openxmlformats.org/drawingml/2006/main">
            <a:r>
              <a:t>Phase I clinical trial evaluating the safety and efficacy of ADP-A2M10 SPEAR T cells in patients with MAGE-A10+ advanced non-small cell lung cancer: https://doi.org/10.1136/jitc-2021-003581</a:t>
            </a:r>
          </a:p>
          <a:p xmlns:a="http://schemas.openxmlformats.org/drawingml/2006/main">
            <a:r>
              <a:t>NY-ESO-1-specific redirected T cells with endogenous TCR knockdown mediate tumor response and cytokine release syndrome: https://doi.org/10.1136/jitc-2021-003811</a:t>
            </a:r>
          </a:p>
          <a:p xmlns:a="http://schemas.openxmlformats.org/drawingml/2006/main">
            <a:r>
              <a:t>Cancer regression and neurological toxicity following anti-MAGE-A3 TCR gene therapy: https://pubmed.ncbi.nlm.nih.gov/23377668/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Other categories: identity and cancer</a:t>
            </a:r>
          </a:p>
          <a:p xmlns:a="http://schemas.openxmlformats.org/drawingml/2006/main">
            <a:r>
              <a:t>Every Other protein passes the required normal screen. Categories are disjoint in the documented priority order. Low does not mean never expressed; normal expression is not proof of injury.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Other categories: normal expression</a:t>
            </a:r>
          </a:p>
          <a:p xmlns:a="http://schemas.openxmlformats.org/drawingml/2006/main">
            <a:r>
              <a:t>Every Other protein passes the required normal screen. Categories are disjoint in the documented priority order. Low does not mean never expressed; normal expression is not proof of injury.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Reproductive cell evidence</a:t>
            </a:r>
          </a:p>
          <a:p xmlns:a="http://schemas.openxmlformats.org/drawingml/2006/main">
            <a:r>
              <a:t>HPA v23 https://v23.proteinatlas.org/about/download ; passenger transcripts: https://pmc.ncbi.nlm.nih.gov/articles/PMC7459098/ ; normal interferon induction: https://pmc.ncbi.nlm.nih.gov/articles/PMC6457222/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Other:Tumor-supported</a:t>
            </a:r>
          </a:p>
          <a:p xmlns:a="http://schemas.openxmlformats.org/drawingml/2006/main">
            <a:r>
              <a:t>Two distinct tumor samples at &gt;=10 native TPM, or reviewed reliable tumor protein. Restriction also requires low measured normal/developmental expression and adequate coverage of relevant rare cells and states.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filtering layer can contribute</a:t>
            </a:r>
          </a:p>
          <a:p xmlns:a="http://schemas.openxmlformats.org/drawingml/2006/main">
            <a:r>
              <a:t>The gray segment is held/unassigned evidence, not Other. The final profile check assigns Other. All layers evaluate every protein; final categories are independent of display order.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Removals at each filter</a:t>
            </a:r>
          </a:p>
          <a:p xmlns:a="http://schemas.openxmlformats.org/drawingml/2006/main">
            <a:r>
              <a:t>Sequential first removals depend on the displayed order; the independent-layer table reports overlaps.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IHC matching to measured RNA compartments</a:t>
            </a:r>
          </a:p>
          <a:p xmlns:a="http://schemas.openxmlformats.org/drawingml/2006/main">
            <a:r>
              <a:t>HPA colon https://www.proteinatlas.org/learn/dictionary/normal/colon ; bronchus https://www.proteinatlas.org/learn/dictionary/normal/bronchus . Parent-compartment credit is a declared anatomical interpretation, not proof that all rare cells were sampled.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adult/placental versus embryonic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healthy RNA in TPM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Selected CTA: normal corneal RNA</a:t>
            </a:r>
          </a:p>
          <a:p xmlns:a="http://schemas.openxmlformats.org/drawingml/2006/main">
            <a:r>
              <a:t>Color uses the highest supported non-disposable healthy expression within the stated native unit. There is no mixed-unit maximum. Labels include widely studied antigens with mapped values. Companion panels label all selected proteins ≥5 on both axes. Missing embryonic measurements appear in a separate categorical band; every selected protein is represented without zero filling.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1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2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 adult/placental and embryonic RNA: labels 3 of 3</a:t>
            </a:r>
          </a:p>
          <a:p xmlns:a="http://schemas.openxmlformats.org/drawingml/2006/main">
            <a:r>
              <a:t>The three panels use identical axes and together label all selected proteins with reproductive nTPM ≥5 and measured embryonic lineage-mean TPM ≥5. This descriptive threshold does not replace developmental cell-support requirements. Color is the highest non-disposable healthy nTPM.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Complementary embryonic measurements</a:t>
            </a:r>
          </a:p>
          <a:p xmlns:a="http://schemas.openxmlformats.org/drawingml/2006/main">
            <a:r>
              <a:t>Tyser E-MTAB-9388 https://doi.org/10.1038/s41586-021-04158-y . Petropoulos E-MTAB-3929 https://www.ebi.ac.uk/gxa/sc/experiments/E-MTAB-3929/Results . Sources retain their own stage, cell support and donor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adult/placental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Widely studied antigens: embryonic RNA</a:t>
            </a:r>
          </a:p>
          <a:p xmlns:a="http://schemas.openxmlformats.org/drawingml/2006/main">
            <a:r>
              <a:t>MAGE-A1 and MAGE-A3 are comparators, not admission controls. Full-width figures highlight PRAME, NY-ESO-1 (CTAG1A/B), XAGE1A/B, MAGE-A4, CT83, SSX2/B and TBXT. Missing embryonic measurements are in a separate band.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Assessment status is separate from category</a:t>
            </a:r>
          </a:p>
          <a:p xmlns:a="http://schemas.openxmlformats.org/drawingml/2006/main">
            <a:r>
              <a:t>A category can be assigned despite gaps in optional or irrelevant sources. Screened does not mean clinically safe or fully measured. MAGE-A3 has measured colon counterevidence. An independent developmental measurement cannot erase it.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Which sources have incomplete evidence</a:t>
            </a:r>
          </a:p>
          <a:p xmlns:a="http://schemas.openxmlformats.org/drawingml/2006/main">
            <a:r>
              <a:t>Source versions, complete missing tissue/cell contexts, member ENSG IDs, historical IDs, synonyms and tumor cohort coverage: https://pirl-unc.github.io/oncoref/audits/cta-source-walkthrough-20261028/coverage/ . Counts overlap and do not sum to a total.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Dog evidence and integration gaps</a:t>
            </a:r>
          </a:p>
          <a:p xmlns:a="http://schemas.openxmlformats.org/drawingml/2006/main">
            <a:r>
              <a:t>Nemec et al. (2019) https://doi.org/10.1111/vco.12475 ; Hindriks et al. (2025) https://doi.org/10.1016/j.vetimm.2025.110946 . Issues https://github.com/pirl-unc/oncoref/issues/574 and https://github.com/pirl-unc/oncoref/issues/585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Curated oncofetal sources</a:t>
            </a:r>
          </a:p>
          <a:p xmlns:a="http://schemas.openxmlformats.org/drawingml/2006/main">
            <a:r>
              <a:t>Shaw et al. (2024) https://doi.org/10.1038/s41467-024-47649-y ; TRIM71 liver study https://pmc.ncbi.nlm.nih.gov/articles/PMC11388079/ ; Cardoso-Moreira et al. (2019) https://pmc.ncbi.nlm.nih.gov/articles/PMC6658352/ . Newly identified sources are not in current selection counts.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Common API with native evidence underneath</a:t>
            </a:r>
          </a:p>
          <a:p xmlns:a="http://schemas.openxmlformats.org/drawingml/2006/main">
            <a:r>
              <a:t>Human, dog and mouse share schema and explicit unavailable states. Data are offline and checksum-verified. Frozen release reports remain unchanged.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source resolves to a concrete version</a:t>
            </a:r>
          </a:p>
          <a:p xmlns:a="http://schemas.openxmlformats.org/drawingml/2006/main">
            <a:r>
              <a:t>Data version API: https://pirl-unc.github.io/oncoref/data-versions/ . GTEx versions and pipelines: https://github.com/broadinstitute/gtex-pipeline/blob/master/rnaseq/README.md . HPA current RNA snapshot: https://github.com/pirl-unc/oncoref/releases/tag/reference-hpa-v25.1-20261028 .</a:t>
            </a:r>
          </a:p>
          <a:p xmlns:a="http://schemas.openxmlformats.org/drawingml/2006/main">
            <a:r>
              <a:t>Report: https://pirl-unc.github.io/oncoref/audits/cta-source-walkthrough-20261028/</a:t>
            </a:r>
          </a:p>
          <a:p xmlns:a="http://schemas.openxmlformats.org/drawingml/2006/main">
            <a:r>
              <a:t>Policy: oncoref.cta-selection.2026-10-30.2</a:t>
            </a:r>
          </a:p>
          <a:p xmlns:a="http://schemas.openxmlformats.org/drawingml/2006/main">
            <a:r>
              <a:t>Decision snapshot SHA256: 8ccdf5e2747a3059482491149a0a755943c755fab7bac92d5e6d21b4a2d57015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fce74f37f24a5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4c7a79561d4f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1cef9d31294d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61b295d5b649b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f5994c4db414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73373ef58f4e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4D69054-D7E3-4040-A9B9-B0B24B6A8A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104D9D4-043E-4CA4-AEAA-1E1F11269C4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99F3A6F-5E61-4696-A240-AB2A24B6D2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D17C82-7A6D-42ED-9CDA-4B1F3B79A8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405407-CA4D-4DA2-9A5F-0BADFE6AD6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1715094-1E39-4D26-ACBD-EE7619FC81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CF3244-E3EE-407A-AD15-DF9D5CAA3F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2ACCA68-6AC8-40A1-8618-EECEA04CDA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EE5B323-8186-4373-B43A-0BF3DF34F2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21A4583-DB99-4A5F-83ED-A4881C99DD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0612fe9db6d49af" /><Relationship Type="http://schemas.openxmlformats.org/officeDocument/2006/relationships/slideLayout" Target="/ppt/slideLayouts/slideLayout1.xml" Id="R44352f31aec74329" /><Relationship Type="http://schemas.openxmlformats.org/officeDocument/2006/relationships/slideLayout" Target="/ppt/slideLayouts/slideLayout2.xml" Id="R56e764c844354c59" /><Relationship Type="http://schemas.openxmlformats.org/officeDocument/2006/relationships/slideLayout" Target="/ppt/slideLayouts/slideLayout3.xml" Id="R8cd5916e5fdb4c56" /><Relationship Type="http://schemas.openxmlformats.org/officeDocument/2006/relationships/slideLayout" Target="/ppt/slideLayouts/slideLayout4.xml" Id="R2d99be2ba38445f6" /><Relationship Type="http://schemas.openxmlformats.org/officeDocument/2006/relationships/slideLayout" Target="/ppt/slideLayouts/slideLayout5.xml" Id="R3c029a8351d040f5" /><Relationship Type="http://schemas.openxmlformats.org/officeDocument/2006/relationships/slideLayout" Target="/ppt/slideLayouts/slideLayout6.xml" Id="R90a6a10fe70e44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352f31aec74329"/>
    <p:sldLayoutId xmlns:r="http://schemas.openxmlformats.org/officeDocument/2006/relationships" id="2147483650" r:id="R56e764c844354c59"/>
    <p:sldLayoutId xmlns:r="http://schemas.openxmlformats.org/officeDocument/2006/relationships" id="2147483651" r:id="R8cd5916e5fdb4c56"/>
    <p:sldLayoutId xmlns:r="http://schemas.openxmlformats.org/officeDocument/2006/relationships" id="2147483652" r:id="R2d99be2ba38445f6"/>
    <p:sldLayoutId xmlns:r="http://schemas.openxmlformats.org/officeDocument/2006/relationships" id="2147483653" r:id="R3c029a8351d040f5"/>
    <p:sldLayoutId xmlns:r="http://schemas.openxmlformats.org/officeDocument/2006/relationships" id="2147483654" r:id="R90a6a10fe70e44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46e3e227ae4030" /><Relationship Type="http://schemas.openxmlformats.org/officeDocument/2006/relationships/notesSlide" Target="/ppt/notesSlides/notesSlide1.xml" Id="R33756b267d7c44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c5a506a968434f" /><Relationship Type="http://schemas.openxmlformats.org/officeDocument/2006/relationships/notesSlide" Target="/ppt/notesSlides/notesSlide2.xml" Id="Re2e0fd3ca7684db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c5b4e97cf943c9" /><Relationship Type="http://schemas.openxmlformats.org/officeDocument/2006/relationships/hyperlink" Target="https://v23.proteinatlas.org/about/download" TargetMode="External" Id="R775523f77216444d" /><Relationship Type="http://schemas.openxmlformats.org/officeDocument/2006/relationships/hyperlink" Target="https://v23.proteinatlas.org/about/download" TargetMode="External" Id="R187d3f8fe8444e40" /><Relationship Type="http://schemas.openxmlformats.org/officeDocument/2006/relationships/notesSlide" Target="/ppt/notesSlides/notesSlide3.xml" Id="Reda27be5082042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85dc7eadf04822" /><Relationship Type="http://schemas.openxmlformats.org/officeDocument/2006/relationships/hyperlink" Target="https://gtexportal.org/home/downloads/adult-gtex" TargetMode="External" Id="Rf3ce828cec184a17" /><Relationship Type="http://schemas.openxmlformats.org/officeDocument/2006/relationships/hyperlink" Target="https://dice-database.org/" TargetMode="External" Id="R97e095723f674c06" /><Relationship Type="http://schemas.openxmlformats.org/officeDocument/2006/relationships/notesSlide" Target="/ppt/notesSlides/notesSlide4.xml" Id="R2610826e3d4448c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80c790592c4127" /><Relationship Type="http://schemas.openxmlformats.org/officeDocument/2006/relationships/notesSlide" Target="/ppt/notesSlides/notesSlide5.xml" Id="R9b0e2ab1897042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60cd8657aa43c0" /><Relationship Type="http://schemas.openxmlformats.org/officeDocument/2006/relationships/hyperlink" Target="https://doi.org/10.18632/oncotarget.21715" TargetMode="External" Id="R86fe4365235f4177" /><Relationship Type="http://schemas.openxmlformats.org/officeDocument/2006/relationships/hyperlink" Target="https://doi.org/10.1038/ncomms10499" TargetMode="External" Id="R7a0a54a2e2554b70" /><Relationship Type="http://schemas.openxmlformats.org/officeDocument/2006/relationships/hyperlink" Target="https://doi.org/10.1002/cam4.2223" TargetMode="External" Id="R2ba36a36be6148dc" /><Relationship Type="http://schemas.openxmlformats.org/officeDocument/2006/relationships/hyperlink" Target="https://doi.org/10.1038/s41467-021-22695-y" TargetMode="External" Id="Ra2a34897b4d24107" /><Relationship Type="http://schemas.openxmlformats.org/officeDocument/2006/relationships/hyperlink" Target="https://doi.org/10.1038/s41388-018-0357-2" TargetMode="External" Id="Ra4febba038fd4173" /><Relationship Type="http://schemas.openxmlformats.org/officeDocument/2006/relationships/hyperlink" Target="https://doi.org/10.1002/1878-0261.12900" TargetMode="External" Id="Re00aecda26ac4d73" /><Relationship Type="http://schemas.openxmlformats.org/officeDocument/2006/relationships/hyperlink" Target="https://doi.org/10.1371/journal.pgen.1011734" TargetMode="External" Id="Re778856c2b524957" /><Relationship Type="http://schemas.openxmlformats.org/officeDocument/2006/relationships/hyperlink" Target="https://doi.org/10.1136/jitc-2023-007935" TargetMode="External" Id="Rf6da4f7969ba407b" /><Relationship Type="http://schemas.openxmlformats.org/officeDocument/2006/relationships/hyperlink" Target="https://doi.org/10.1371/journal.pone.0144155" TargetMode="External" Id="Ra06d5aff4c6843c3" /><Relationship Type="http://schemas.openxmlformats.org/officeDocument/2006/relationships/hyperlink" Target="https://doi.org/10.1186/s12967-024-04918-0" TargetMode="External" Id="R6ee12f248a9348ef" /><Relationship Type="http://schemas.openxmlformats.org/officeDocument/2006/relationships/hyperlink" Target="https://doi.org/10.4161/cbt.12.3.16260" TargetMode="External" Id="Ra4672993a68e4241" /><Relationship Type="http://schemas.openxmlformats.org/officeDocument/2006/relationships/hyperlink" Target="https://doi.org/10.1158/1078-0432.CCR-06-2340" TargetMode="External" Id="R406489534d0c4465" /><Relationship Type="http://schemas.openxmlformats.org/officeDocument/2006/relationships/notesSlide" Target="/ppt/notesSlides/notesSlide6.xml" Id="Re984b76df3a844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12d01323c1437f" /><Relationship Type="http://schemas.openxmlformats.org/officeDocument/2006/relationships/hyperlink" Target="https://doi.org/10.4161/cbt.12.3.16260" TargetMode="External" Id="R1df901634e3d4948" /><Relationship Type="http://schemas.openxmlformats.org/officeDocument/2006/relationships/hyperlink" Target="https://doi.org/10.1371/journal.pone.0144155" TargetMode="External" Id="Rc78c82f685cb4b88" /><Relationship Type="http://schemas.openxmlformats.org/officeDocument/2006/relationships/hyperlink" Target="https://doi.org/10.1158/1078-0432.CCR-06-2340" TargetMode="External" Id="Rfb8dde7f63b141fd" /><Relationship Type="http://schemas.openxmlformats.org/officeDocument/2006/relationships/notesSlide" Target="/ppt/notesSlides/notesSlide7.xml" Id="R597c2597e4fc40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622e3602674301" /><Relationship Type="http://schemas.openxmlformats.org/officeDocument/2006/relationships/image" Target="/ppt/media/image.png" Id="R5193115517e143f4" /><Relationship Type="http://schemas.openxmlformats.org/officeDocument/2006/relationships/notesSlide" Target="/ppt/notesSlides/notesSlide8.xml" Id="R50ae687a1e5645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b7a366f7e74784" /><Relationship Type="http://schemas.openxmlformats.org/officeDocument/2006/relationships/notesSlide" Target="/ppt/notesSlides/notesSlide9.xml" Id="Rb4c9a2de961d49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0016e71db84a9a" /><Relationship Type="http://schemas.openxmlformats.org/officeDocument/2006/relationships/hyperlink" Target="https://v23.proteinatlas.org/about/download" TargetMode="External" Id="Ra5a7c2f3bf224fb3" /><Relationship Type="http://schemas.openxmlformats.org/officeDocument/2006/relationships/hyperlink" Target="https://gtexportal.org/home/downloads/adult-gtex" TargetMode="External" Id="Rf71e13511dc44c63" /><Relationship Type="http://schemas.openxmlformats.org/officeDocument/2006/relationships/hyperlink" Target="https://v23.proteinatlas.org/about/download" TargetMode="External" Id="Re795ca68de444806" /><Relationship Type="http://schemas.openxmlformats.org/officeDocument/2006/relationships/hyperlink" Target="https://v23.proteinatlas.org/about/download" TargetMode="External" Id="R05a11fca6f354f75" /><Relationship Type="http://schemas.openxmlformats.org/officeDocument/2006/relationships/hyperlink" Target="https://dice-database.org/" TargetMode="External" Id="R70ffb6064c90413b" /><Relationship Type="http://schemas.openxmlformats.org/officeDocument/2006/relationships/hyperlink" Target="https://www.ncbi.nlm.nih.gov/geo/query/acc.cgi?acc=GSE155683" TargetMode="External" Id="R95281dd2f3864bb9" /><Relationship Type="http://schemas.openxmlformats.org/officeDocument/2006/relationships/hyperlink" Target="https://v23.proteinatlas.org/about/download" TargetMode="External" Id="R3f9e177baea7474d" /><Relationship Type="http://schemas.openxmlformats.org/officeDocument/2006/relationships/hyperlink" Target="https://dice-database.org/" TargetMode="External" Id="R5fa23777b7104091" /><Relationship Type="http://schemas.openxmlformats.org/officeDocument/2006/relationships/notesSlide" Target="/ppt/notesSlides/notesSlide10.xml" Id="R60b5d2f6b8074ae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3ba716fe494415" /><Relationship Type="http://schemas.openxmlformats.org/officeDocument/2006/relationships/notesSlide" Target="/ppt/notesSlides/notesSlide11.xml" Id="R3bfaf4008efd46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44a03a63434446" /><Relationship Type="http://schemas.openxmlformats.org/officeDocument/2006/relationships/notesSlide" Target="/ppt/notesSlides/notesSlide12.xml" Id="R705a5a6bc7fb4b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184c1df0854b87" /><Relationship Type="http://schemas.openxmlformats.org/officeDocument/2006/relationships/hyperlink" Target="https://pirl-unc.github.io/oncoref/audits/cta-tcr-trials-20261029/" TargetMode="External" Id="R1a5a7d40d4c1485f" /><Relationship Type="http://schemas.openxmlformats.org/officeDocument/2006/relationships/notesSlide" Target="/ppt/notesSlides/notesSlide13.xml" Id="R65472af31abd4b6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b1b9d177ee4cfd" /><Relationship Type="http://schemas.openxmlformats.org/officeDocument/2006/relationships/notesSlide" Target="/ppt/notesSlides/notesSlide14.xml" Id="R92d2c0f14c3b46c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0cf96e31f4460c" /><Relationship Type="http://schemas.openxmlformats.org/officeDocument/2006/relationships/notesSlide" Target="/ppt/notesSlides/notesSlide15.xml" Id="Rc0b4bc5ca972448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4a37085eb54f81" /><Relationship Type="http://schemas.openxmlformats.org/officeDocument/2006/relationships/notesSlide" Target="/ppt/notesSlides/notesSlide16.xml" Id="R37ed0645e30443a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b25fa283e44d63" /><Relationship Type="http://schemas.openxmlformats.org/officeDocument/2006/relationships/notesSlide" Target="/ppt/notesSlides/notesSlide17.xml" Id="R3b55cdcfce63494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d8c5bf7ab3429a" /><Relationship Type="http://schemas.openxmlformats.org/officeDocument/2006/relationships/chart" Target="/ppt/slides/charts/chart1.xml" Id="R4cce26d4a844464d" /><Relationship Type="http://schemas.openxmlformats.org/officeDocument/2006/relationships/notesSlide" Target="/ppt/notesSlides/notesSlide18.xml" Id="R080ba441702d446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f67a5c2de4459a" /><Relationship Type="http://schemas.openxmlformats.org/officeDocument/2006/relationships/hyperlink" Target="https://dice-database.org/" TargetMode="External" Id="R8c49b7bf31d64e1b" /><Relationship Type="http://schemas.openxmlformats.org/officeDocument/2006/relationships/notesSlide" Target="/ppt/notesSlides/notesSlide19.xml" Id="R47f757b4a7f2428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d80c8eb0ab491a" /><Relationship Type="http://schemas.openxmlformats.org/officeDocument/2006/relationships/notesSlide" Target="/ppt/notesSlides/notesSlide20.xml" Id="R90effce43771416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6f731e0acb48ed" /><Relationship Type="http://schemas.openxmlformats.org/officeDocument/2006/relationships/image" Target="/ppt/media/image2.png" Id="R7cc15cb3aa65481b" /><Relationship Type="http://schemas.openxmlformats.org/officeDocument/2006/relationships/notesSlide" Target="/ppt/notesSlides/notesSlide21.xml" Id="R800bbf923a124bf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05b7aa4f75478c" /><Relationship Type="http://schemas.openxmlformats.org/officeDocument/2006/relationships/image" Target="/ppt/media/image3.png" Id="Rf16e39b4bd4d42e9" /><Relationship Type="http://schemas.openxmlformats.org/officeDocument/2006/relationships/notesSlide" Target="/ppt/notesSlides/notesSlide22.xml" Id="Rbb535ae2c3af40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2f139b0d02410c" /><Relationship Type="http://schemas.openxmlformats.org/officeDocument/2006/relationships/image" Target="/ppt/media/image4.png" Id="R75f8e5be014340b6" /><Relationship Type="http://schemas.openxmlformats.org/officeDocument/2006/relationships/notesSlide" Target="/ppt/notesSlides/notesSlide23.xml" Id="R938db9db6b4549a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bd221ef73e4408" /><Relationship Type="http://schemas.openxmlformats.org/officeDocument/2006/relationships/image" Target="/ppt/media/image5.png" Id="R5bd2c51c68534ee8" /><Relationship Type="http://schemas.openxmlformats.org/officeDocument/2006/relationships/notesSlide" Target="/ppt/notesSlides/notesSlide24.xml" Id="R5d33f1f118a04f7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9d9c321c83444a" /><Relationship Type="http://schemas.openxmlformats.org/officeDocument/2006/relationships/image" Target="/ppt/media/image6.png" Id="R7e0ee462a27e4785" /><Relationship Type="http://schemas.openxmlformats.org/officeDocument/2006/relationships/notesSlide" Target="/ppt/notesSlides/notesSlide25.xml" Id="R95b3eaf51b564e6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d73dff69ba4e56" /><Relationship Type="http://schemas.openxmlformats.org/officeDocument/2006/relationships/image" Target="/ppt/media/image7.png" Id="R76d69127d5ac49e2" /><Relationship Type="http://schemas.openxmlformats.org/officeDocument/2006/relationships/notesSlide" Target="/ppt/notesSlides/notesSlide26.xml" Id="Rae1f3be782b841a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3dc1882abb46ba" /><Relationship Type="http://schemas.openxmlformats.org/officeDocument/2006/relationships/hyperlink" Target="https://doi.org/10.1038/s41586-021-04158-y" TargetMode="External" Id="Re28af48658a8427a" /><Relationship Type="http://schemas.openxmlformats.org/officeDocument/2006/relationships/hyperlink" Target="https://www.ebi.ac.uk/gxa/sc/experiments/E-MTAB-3929/Results" TargetMode="External" Id="R27d2ae98d4864660" /><Relationship Type="http://schemas.openxmlformats.org/officeDocument/2006/relationships/notesSlide" Target="/ppt/notesSlides/notesSlide27.xml" Id="R868606f82cdc45d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e129372b3045dd" /><Relationship Type="http://schemas.openxmlformats.org/officeDocument/2006/relationships/image" Target="/ppt/media/image8.png" Id="R6e8d12c56fa54a8e" /><Relationship Type="http://schemas.openxmlformats.org/officeDocument/2006/relationships/notesSlide" Target="/ppt/notesSlides/notesSlide28.xml" Id="R703528245d7646c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f9e61091444744" /><Relationship Type="http://schemas.openxmlformats.org/officeDocument/2006/relationships/image" Target="/ppt/media/image9.png" Id="R92838dee926c4f90" /><Relationship Type="http://schemas.openxmlformats.org/officeDocument/2006/relationships/notesSlide" Target="/ppt/notesSlides/notesSlide29.xml" Id="R92c23ed7aff242a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2815b16df1425b" /><Relationship Type="http://schemas.openxmlformats.org/officeDocument/2006/relationships/notesSlide" Target="/ppt/notesSlides/notesSlide30.xml" Id="R6fd43019d7774a0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5deacc6b8d4b83" /><Relationship Type="http://schemas.openxmlformats.org/officeDocument/2006/relationships/hyperlink" Target="https://v23.proteinatlas.org/about/download" TargetMode="External" Id="Rde7905a38d6b4fad" /><Relationship Type="http://schemas.openxmlformats.org/officeDocument/2006/relationships/hyperlink" Target="https://v23.proteinatlas.org/about/download" TargetMode="External" Id="Re77c3957e11d44b8" /><Relationship Type="http://schemas.openxmlformats.org/officeDocument/2006/relationships/hyperlink" Target="https://v23.proteinatlas.org/about/download" TargetMode="External" Id="R42f482cf11674494" /><Relationship Type="http://schemas.openxmlformats.org/officeDocument/2006/relationships/hyperlink" Target="https://v23.proteinatlas.org/about/download" TargetMode="External" Id="Rdfb496bbdabd4607" /><Relationship Type="http://schemas.openxmlformats.org/officeDocument/2006/relationships/hyperlink" Target="https://gtexportal.org/home/downloads/adult-gtex" TargetMode="External" Id="R7339fb8b97f44c7c" /><Relationship Type="http://schemas.openxmlformats.org/officeDocument/2006/relationships/hyperlink" Target="https://v23.proteinatlas.org/about/download" TargetMode="External" Id="Rd3d46204a28f4a1f" /><Relationship Type="http://schemas.openxmlformats.org/officeDocument/2006/relationships/hyperlink" Target="https://dice-database.org/" TargetMode="External" Id="Rff35bc3d538e4a4c" /><Relationship Type="http://schemas.openxmlformats.org/officeDocument/2006/relationships/notesSlide" Target="/ppt/notesSlides/notesSlide31.xml" Id="R0b020324855f497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58e654de514f21" /><Relationship Type="http://schemas.openxmlformats.org/officeDocument/2006/relationships/notesSlide" Target="/ppt/notesSlides/notesSlide32.xml" Id="Rd0aa5c36542e449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29e3dd06b04de5" /><Relationship Type="http://schemas.openxmlformats.org/officeDocument/2006/relationships/hyperlink" Target="https://doi.org/10.1038/s41467-024-47649-y" TargetMode="External" Id="R540cdda367434a3a" /><Relationship Type="http://schemas.openxmlformats.org/officeDocument/2006/relationships/hyperlink" Target="https://pmc.ncbi.nlm.nih.gov/articles/PMC11388079/" TargetMode="External" Id="R49930335c2814205" /><Relationship Type="http://schemas.openxmlformats.org/officeDocument/2006/relationships/hyperlink" Target="https://pmc.ncbi.nlm.nih.gov/articles/PMC6658352/" TargetMode="External" Id="R081689b6dc8c4179" /><Relationship Type="http://schemas.openxmlformats.org/officeDocument/2006/relationships/notesSlide" Target="/ppt/notesSlides/notesSlide33.xml" Id="Rb02f65743afd413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40ea84b15cd437a" /><Relationship Type="http://schemas.openxmlformats.org/officeDocument/2006/relationships/notesSlide" Target="/ppt/notesSlides/notesSlide34.xml" Id="Rf9f62154050a49a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8af53709b6430e" /><Relationship Type="http://schemas.openxmlformats.org/officeDocument/2006/relationships/hyperlink" Target="https://gtexportal.org/home/downloads/adult-gtex" TargetMode="External" Id="R8634b34b6cf04857" /><Relationship Type="http://schemas.openxmlformats.org/officeDocument/2006/relationships/hyperlink" Target="https://www.proteinatlas.org/about/releases" TargetMode="External" Id="Rce60208d304f4109" /><Relationship Type="http://schemas.openxmlformats.org/officeDocument/2006/relationships/hyperlink" Target="https://gtexportal.org/home/downloads/adult-gtex" TargetMode="External" Id="R743e30e310cf4b98" /><Relationship Type="http://schemas.openxmlformats.org/officeDocument/2006/relationships/hyperlink" Target="https://v23.proteinatlas.org/about/download" TargetMode="External" Id="R43769a52cc8a4aff" /><Relationship Type="http://schemas.openxmlformats.org/officeDocument/2006/relationships/notesSlide" Target="/ppt/notesSlides/notesSlide35.xml" Id="R72dd2e64ea4544c5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stacked"/>
        <c:varyColors val="0"/>
        <c:ser>
          <c:idx val="0"/>
          <c:order val="0"/>
          <c:tx>
            <c:v>Eligible so far</c:v>
          </c:tx>
          <c:spPr>
            <a:solidFill xmlns:a="http://schemas.openxmlformats.org/drawingml/2006/main">
              <a:srgbClr val="087E8B"/>
            </a:solidFill>
          </c:spPr>
          <c:invertIfNegative val="0"/>
          <c:cat>
            <c:strRef>
              <c:f>'Chart Data'!$A$2:$A$16</c:f>
              <c:strCache>
                <c:ptCount val="15"/>
                <c:pt idx="0">
                  <c:v>Final categories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Data'!$B$2:$B$16</c:f>
              <c:numCache>
                <c:formatCode>General</c:formatCode>
                <c:ptCount val="15"/>
                <c:pt idx="0">
                  <c:v>698</c:v>
                </c:pt>
                <c:pt idx="1">
                  <c:v>698</c:v>
                </c:pt>
                <c:pt idx="2">
                  <c:v>698</c:v>
                </c:pt>
                <c:pt idx="3">
                  <c:v>699</c:v>
                </c:pt>
                <c:pt idx="4">
                  <c:v>702</c:v>
                </c:pt>
                <c:pt idx="5">
                  <c:v>705</c:v>
                </c:pt>
                <c:pt idx="6">
                  <c:v>724</c:v>
                </c:pt>
                <c:pt idx="7">
                  <c:v>731</c:v>
                </c:pt>
                <c:pt idx="8">
                  <c:v>743</c:v>
                </c:pt>
                <c:pt idx="9">
                  <c:v>981</c:v>
                </c:pt>
                <c:pt idx="10">
                  <c:v>4425</c:v>
                </c:pt>
                <c:pt idx="11">
                  <c:v>5422</c:v>
                </c:pt>
                <c:pt idx="12">
                  <c:v>5630</c:v>
                </c:pt>
                <c:pt idx="13">
                  <c:v>17674</c:v>
                </c:pt>
                <c:pt idx="14">
                  <c:v>17690</c:v>
                </c:pt>
              </c:numCache>
            </c:numRef>
          </c:val>
        </c:ser>
        <c:ser>
          <c:idx val="1"/>
          <c:order val="1"/>
          <c:tx>
            <c:v>Unsafe</c:v>
          </c:tx>
          <c:spPr>
            <a:solidFill xmlns:a="http://schemas.openxmlformats.org/drawingml/2006/main">
              <a:srgbClr val="AC493B"/>
            </a:solidFill>
          </c:spPr>
          <c:invertIfNegative val="0"/>
          <c:cat>
            <c:strRef>
              <c:f>'Chart Data'!$C$2:$C$16</c:f>
              <c:strCache>
                <c:ptCount val="15"/>
                <c:pt idx="0">
                  <c:v>Final categories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Data'!$D$2:$D$16</c:f>
              <c:numCache>
                <c:formatCode>General</c:formatCode>
                <c:ptCount val="15"/>
                <c:pt idx="0">
                  <c:v>18031</c:v>
                </c:pt>
                <c:pt idx="1">
                  <c:v>18031</c:v>
                </c:pt>
                <c:pt idx="2">
                  <c:v>18031</c:v>
                </c:pt>
                <c:pt idx="3">
                  <c:v>18030</c:v>
                </c:pt>
                <c:pt idx="4">
                  <c:v>18028</c:v>
                </c:pt>
                <c:pt idx="5">
                  <c:v>18016</c:v>
                </c:pt>
                <c:pt idx="6">
                  <c:v>17961</c:v>
                </c:pt>
                <c:pt idx="7">
                  <c:v>17944</c:v>
                </c:pt>
                <c:pt idx="8">
                  <c:v>17914</c:v>
                </c:pt>
                <c:pt idx="9">
                  <c:v>17500</c:v>
                </c:pt>
                <c:pt idx="10">
                  <c:v>10094</c:v>
                </c:pt>
                <c:pt idx="11">
                  <c:v>10094</c:v>
                </c:pt>
                <c:pt idx="12">
                  <c:v>10094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2"/>
          <c:order val="2"/>
          <c:tx>
            <c:v>Other</c:v>
          </c:tx>
          <c:spPr>
            <a:solidFill xmlns:a="http://schemas.openxmlformats.org/drawingml/2006/main">
              <a:srgbClr val="A28C68"/>
            </a:solidFill>
          </c:spPr>
          <c:invertIfNegative val="0"/>
          <c:cat>
            <c:strRef>
              <c:f>'Chart Data'!$E$2:$E$16</c:f>
              <c:strCache>
                <c:ptCount val="15"/>
                <c:pt idx="0">
                  <c:v>Final categories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Data'!$F$2:$F$16</c:f>
              <c:numCache>
                <c:formatCode>General</c:formatCode>
                <c:ptCount val="15"/>
                <c:pt idx="0">
                  <c:v>600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</c:ser>
        <c:ser>
          <c:idx val="3"/>
          <c:order val="3"/>
          <c:tx>
            <c:v>Unassigned</c:v>
          </c:tx>
          <c:spPr>
            <a:solidFill xmlns:a="http://schemas.openxmlformats.org/drawingml/2006/main">
              <a:srgbClr val="B9C3CD"/>
            </a:solidFill>
          </c:spPr>
          <c:invertIfNegative val="0"/>
          <c:cat>
            <c:strRef>
              <c:f>'Chart Data'!$G$2:$G$16</c:f>
              <c:strCache>
                <c:ptCount val="15"/>
                <c:pt idx="0">
                  <c:v>Final categories</c:v>
                </c:pt>
                <c:pt idx="1">
                  <c:v>External IHC</c:v>
                </c:pt>
                <c:pt idx="2">
                  <c:v>Clinical safety</c:v>
                </c:pt>
                <c:pt idx="3">
                  <c:v>Curated protein</c:v>
                </c:pt>
                <c:pt idx="4">
                  <c:v>Cornea</c:v>
                </c:pt>
                <c:pt idx="5">
                  <c:v>DICE</c:v>
                </c:pt>
                <c:pt idx="6">
                  <c:v>Monaco</c:v>
                </c:pt>
                <c:pt idx="7">
                  <c:v>HPA immune</c:v>
                </c:pt>
                <c:pt idx="8">
                  <c:v>Tissue clusters</c:v>
                </c:pt>
                <c:pt idx="9">
                  <c:v>Bulk RNA</c:v>
                </c:pt>
                <c:pt idx="10">
                  <c:v>Concentration</c:v>
                </c:pt>
                <c:pt idx="11">
                  <c:v>Coverage</c:v>
                </c:pt>
                <c:pt idx="12">
                  <c:v>HPA protein</c:v>
                </c:pt>
                <c:pt idx="13">
                  <c:v>Cancer expression</c:v>
                </c:pt>
                <c:pt idx="14">
                  <c:v>Reproductive evidence</c:v>
                </c:pt>
              </c:strCache>
            </c:strRef>
          </c:cat>
          <c:val>
            <c:numRef>
              <c:f>'Chart Data'!$H$2:$H$16</c:f>
              <c:numCache>
                <c:formatCode>General</c:formatCode>
                <c:ptCount val="15"/>
                <c:pt idx="0">
                  <c:v>534</c:v>
                </c:pt>
                <c:pt idx="1">
                  <c:v>1134</c:v>
                </c:pt>
                <c:pt idx="2">
                  <c:v>1134</c:v>
                </c:pt>
                <c:pt idx="3">
                  <c:v>1134</c:v>
                </c:pt>
                <c:pt idx="4">
                  <c:v>1133</c:v>
                </c:pt>
                <c:pt idx="5">
                  <c:v>1142</c:v>
                </c:pt>
                <c:pt idx="6">
                  <c:v>1178</c:v>
                </c:pt>
                <c:pt idx="7">
                  <c:v>1188</c:v>
                </c:pt>
                <c:pt idx="8">
                  <c:v>1206</c:v>
                </c:pt>
                <c:pt idx="9">
                  <c:v>1382</c:v>
                </c:pt>
                <c:pt idx="10">
                  <c:v>5344</c:v>
                </c:pt>
                <c:pt idx="11">
                  <c:v>4347</c:v>
                </c:pt>
                <c:pt idx="12">
                  <c:v>4139</c:v>
                </c:pt>
                <c:pt idx="13">
                  <c:v>2189</c:v>
                </c:pt>
                <c:pt idx="14">
                  <c:v>2173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73B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73B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E5A2E4-DC87-48F2-822C-71DB4A2F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B86BD9-429C-4F5A-8050-8E7EA1A8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Human and dog CTA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D03CEE-5BAC-42A3-AF89-CA704101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20030-DEA2-4833-B73A-6DD61F61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F4228-D132-482D-8AAD-9E902E78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95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698 human CTA proteins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F2DBCA-CDC2-4DF3-B3A5-ACE008BD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741 loci   /   18,031 Unsafe   /   600 Other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476EB6-4E22-440C-AEC0-B0D9FFA7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534 unassigned; dog selection remains unassessed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7BE77-53EC-4B03-AD84-1FE5352E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Sources, expression profiles, single-cutoff filtering and measured tissue evidence.</a:t>
            </a:r>
          </a:p>
        </p:txBody>
      </p:sp>
    </p:spTree>
    <p:extLst>
      <p:ext uri="{BB962C8B-B14F-4D97-AF65-F5344CB8AC3E}">
        <p14:creationId xmlns:p14="http://schemas.microsoft.com/office/powerpoint/2010/main" val="16089246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6451C6-132D-4F59-A1D0-F7F64EA7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INDEPENDENT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87491F-1AA0-4CDA-85CF-14D785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Safety, cancer and Reproductive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BB38E-3A8B-40A6-B16E-077B4CC9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8BE0F2-1BA8-469E-82A0-201B5110B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48852-16DD-4979-BCFB-1CDD1D85B3E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305300"/>
                <a:gridCol w="3810000"/>
              </a:tblGrid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rule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Safety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Concerning normal expression?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Absolute RNA / IHC and clinical rules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Expressed in a measured cancer?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sample ≥2 TPM/pTPM or reviewed tumor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Expression in a qualifying branch?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Bulk/cell RNA ≥5, reliable IHC, or supported embryonic RNA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Are required panels measured?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GTEx core contexts and existing HPA panels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A1CEF-DCC9-4B89-A186-1E505D61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Only safety establishes Unsafe. Missing core data remain unassigned. RNA is not a direct protein measurement.</a:t>
            </a:r>
          </a:p>
        </p:txBody>
      </p:sp>
    </p:spTree>
    <p:extLst>
      <p:ext uri="{BB962C8B-B14F-4D97-AF65-F5344CB8AC3E}">
        <p14:creationId xmlns:p14="http://schemas.microsoft.com/office/powerpoint/2010/main" val="13969344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6E61F-C4DD-4E0C-B53F-F26E0D4B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HPA PROFILE IDENTITY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10CAC-B6CA-4D0A-8B37-D862722B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Diffuse expression is an identity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1437D-F81E-432B-8C87-DA4E11C0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03464-4CBD-4F60-8900-AA5427403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9B922D-4E1B-4755-8C5D-2E2DAE3DCAE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Term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775523f77216444d"/>
                        </a:rPr>
                        <a:t>HPA v23</a:t>
                      </a:r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normal-tissue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Highest Reproductive nTPM in </a:t>
                      </a:r>
                      <a:r>
                        <a:rPr sz="2025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87d3f8fe8444e40"/>
                        </a:rPr>
                        <a:t>HPA v23</a:t>
                      </a:r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(adult/placental)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 / (N + R)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Average across 29 organs / 38 contexts; thymus excluded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Active boundary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Average &gt;10%, with a supported positive R and complete comparison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5D60A3-8137-44A6-B4D0-9F62CE126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MTCP1 is Other:Diffuse at 24.53%. Thymus is excluded. Embryonic concentration remains unassessed.</a:t>
            </a:r>
          </a:p>
        </p:txBody>
      </p:sp>
    </p:spTree>
    <p:extLst>
      <p:ext uri="{BB962C8B-B14F-4D97-AF65-F5344CB8AC3E}">
        <p14:creationId xmlns:p14="http://schemas.microsoft.com/office/powerpoint/2010/main" val="17373019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B84F6A-7B22-41E4-B19F-86479862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848CB9-7DB6-4D03-8E5B-589B6D4B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 fixed GTEx core for every protein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6AFC7-83BA-4E3E-BAD7-563B97D9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2021C7-E9C5-4912-9533-2903EBBB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A1FF6-AD66-49AF-9761-4C67086AAF5B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7639050"/>
              </a:tblGrid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Interpretation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3ce828cec184a17"/>
                        </a:rPr>
                        <a:t>GTEx v11</a:t>
                      </a:r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: 52 bulk contexts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 contexts for every protein; measured zero counts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 loci measured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identities are not replaced by paralogs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core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Blocks CTA; unassigned unless independent Unsafe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Optional </a:t>
                      </a:r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7e095723f674c06"/>
                        </a:rPr>
                        <a:t>DICE</a:t>
                      </a:r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coverage allowed; observed safety evidence counts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370BF8-E3BE-4336-B973-95B2AE33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GTEx does not cover every organ, fetal stage or rare cell. Existing HPA cell / immune coverage requirements also apply.</a:t>
            </a:r>
          </a:p>
        </p:txBody>
      </p:sp>
    </p:spTree>
    <p:extLst>
      <p:ext uri="{BB962C8B-B14F-4D97-AF65-F5344CB8AC3E}">
        <p14:creationId xmlns:p14="http://schemas.microsoft.com/office/powerpoint/2010/main" val="3497198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72869-AE0A-42EC-B412-38ABFD3F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CALCULATION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B5FA3-8FBF-4FF3-B1E6-B2298CFE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ZNF730: panel composition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73B8A8-31D7-4507-8F55-E80838A3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64268-67BD-49B2-B574-223F670D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A40D9-83F3-430A-9063-E0815D023409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3295650"/>
                <a:gridCol w="3295650"/>
              </a:tblGrid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Calculation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v23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GTEx v11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reference (testis)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4.9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4.91414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Full source panel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9.53%: 29 anatomy units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1.65%: 23 anatomy units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Same 20 anatomy units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6.36%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1.71%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B389B-59BA-4A9B-B35F-79BAF279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Thymus is Permissive: excluded from both sides of the score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A2988-BE56-4E82-B9E9-F0D4826D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Thymus exclusion changes HPA 10.34% → 9.53%. Independent safety evidence keeps ZNF730 Unsafe.</a:t>
            </a:r>
          </a:p>
        </p:txBody>
      </p:sp>
    </p:spTree>
    <p:extLst>
      <p:ext uri="{BB962C8B-B14F-4D97-AF65-F5344CB8AC3E}">
        <p14:creationId xmlns:p14="http://schemas.microsoft.com/office/powerpoint/2010/main" val="140759865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5819F-F753-4967-8794-30259887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7EFE30-3F79-4944-876D-15098CD7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Published candidate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08B270-8AE4-4BF4-9CAE-F545E2A61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53B5F4-2501-46DF-9E42-19560D98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1CEF2-E77D-4F00-9210-5B7F4C1D727B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1428750"/>
                <a:gridCol w="1333500"/>
                <a:gridCol w="1524000"/>
                <a:gridCol w="1428750"/>
                <a:gridCol w="1543050"/>
              </a:tblGrid>
              <a:tr h="307731"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6fe4365235f4177"/>
                        </a:rPr>
                        <a:t>da Silva et al. (2017)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1,017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473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7a0a54a2e2554b70"/>
                        </a:rPr>
                        <a:t>Wang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2ba36a36be6148dc"/>
                        </a:rPr>
                        <a:t>Chang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2a34897b4d24107"/>
                        </a:rPr>
                        <a:t>Gong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4febba038fd4173"/>
                        </a:rPr>
                        <a:t>Bruggeman et al. (2018)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00aecda26ac4d73"/>
                        </a:rPr>
                        <a:t>Jamin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427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778856c2b524957"/>
                        </a:rPr>
                        <a:t>Loriot et al. (2025)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6da4f7969ba407b"/>
                        </a:rPr>
                        <a:t>Carter et al. (2023)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06d5aff4c6843c3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6ee12f248a9348ef"/>
                        </a:rPr>
                        <a:t>Seager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4672993a68e4241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7731">
                <a:tc>
                  <a:txBody>
                    <a:bodyPr/>
                    <a:lstStyle/>
                    <a:p>
                      <a:r>
                        <a:rPr sz="142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406489534d0c4465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0281D-F725-4DE8-8B84-CF86D6E2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Union: 2,514 proteins / 2,570 loci. 563 selected proteins have an annotation; 135 do not.</a:t>
            </a:r>
          </a:p>
        </p:txBody>
      </p:sp>
    </p:spTree>
    <p:extLst>
      <p:ext uri="{BB962C8B-B14F-4D97-AF65-F5344CB8AC3E}">
        <p14:creationId xmlns:p14="http://schemas.microsoft.com/office/powerpoint/2010/main" val="2927822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CF9AD5-4AEA-43AA-B494-B3D1C09A3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PUBLICATION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8A84E-B729-4C2F-A3CB-1854CB7C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Broader published nominations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672A9-1F95-40A8-843C-8B90A35B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0F5EF-7A19-40A9-A7F9-14CD3AFF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FC0AA5-CF5E-48C1-BBFA-7D45999E83D8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5429250"/>
                <a:gridCol w="2781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Paper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Published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 accounting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1df901634e3d4948"/>
                        </a:rPr>
                        <a:t>Sasaroli et al. (2011)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detailed tumor-vascular candidates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matched genes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78c82f685cb4b88"/>
                        </a:rPr>
                        <a:t>Hirbo et al. (2015)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 placenta-enriched genes, including 30 fast-evolving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82 matched, 4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Compact source view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Bai, Boël and Bradley covered by larger 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memberships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b8dde7f63b141fd"/>
                        </a:rPr>
                        <a:t>Garg et al. (2007)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Still uniquely contributes SPAG9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Retained in main view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0851D-CAEB-48E9-89D3-A94DA2E1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Vascular and placental nominations retain their scope. Paper membership never bypasses the quantitative funnel.</a:t>
            </a:r>
          </a:p>
        </p:txBody>
      </p:sp>
    </p:spTree>
    <p:extLst>
      <p:ext uri="{BB962C8B-B14F-4D97-AF65-F5344CB8AC3E}">
        <p14:creationId xmlns:p14="http://schemas.microsoft.com/office/powerpoint/2010/main" val="155189970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EBD56-E3CC-4D85-8F82-EB688ADC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ANNOTATIONS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B8E41-925A-4152-AC98-FA95CDBE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Overlap between published lists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C3843B-00B6-4820-9844-AAFAB5FE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21B147-F4A7-473E-B9BF-293852927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33CD4-EDAB-4CE4-8525-3C01EC97C8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93115517e143f4"/>
          <a:stretch xmlns:a="http://schemas.openxmlformats.org/drawingml/2006/main"/>
        </p:blipFill>
        <p:spPr>
          <a:xfrm xmlns:a="http://schemas.openxmlformats.org/drawingml/2006/main">
            <a:off x="1333500" y="1447800"/>
            <a:ext cx="9525000" cy="476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4031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4630D-566C-44C3-9D2A-37DF1292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EXPRESSION CONTEXTS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3BFB1-DE82-4C18-A887-2BB3FE83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evidence: measured branches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E6E3C3-DC6F-42AA-8450-673D2925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319941-AC22-49FE-A998-C2D51A38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22B2F-92ED-4269-9969-33926DDD2C5D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905500"/>
                <a:gridCol w="2533650"/>
                <a:gridCol w="2533650"/>
              </a:tblGrid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Qualifying 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Entrants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Final CTA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Adult/placental evidence only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4,685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467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Embryonic-only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459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Both measured routes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12,546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E4B23-78D4-4C81-B5FF-2A2AE5BA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RNA and reliable reproductive IHC establish association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A1F4F9-3B5A-4B71-9127-99ED924C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Entrants count positive expression before the other admission gates. Reproductive presence and profile concentration are separate questions.</a:t>
            </a:r>
          </a:p>
        </p:txBody>
      </p:sp>
    </p:spTree>
    <p:extLst>
      <p:ext uri="{BB962C8B-B14F-4D97-AF65-F5344CB8AC3E}">
        <p14:creationId xmlns:p14="http://schemas.microsoft.com/office/powerpoint/2010/main" val="13971211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E453E4-8BBF-40EF-A323-99490DB4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E519B-1BAA-4AE2-A412-233CAEAE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Normal and cancer measurement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CA52B-BA93-4485-A8CF-5B92B743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306CE-D98C-41FE-B424-6AECB385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917F2E-685B-4B58-B0D6-FA51ABEA69E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5429250"/>
                <a:gridCol w="2590800"/>
              </a:tblGrid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Quantity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reproductive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a5a7c2f3bf224fb3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consensus / brain +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f71e13511dc44c63"/>
                        </a:rPr>
                        <a:t>GTEx v11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tissue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795ca68de444806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clusters, at least 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05a11fca6f354f75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Monaco / original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70ffb6064c90413b"/>
                        </a:rPr>
                        <a:t>DICE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Native nTPM /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Collin et al., </a:t>
                      </a:r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95281dd2f3864bb9"/>
                        </a:rPr>
                        <a:t>GSE155683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CP10K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3f9e177baea7474d"/>
                        </a:rPr>
                        <a:t>HPA v23</a:t>
                      </a:r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+ curated external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Staining / reagent confidence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132 compatible OncoRef cohort views + HPA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TPM / protein-coding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82203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gastrulation + Petropoulos preimplantation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Stage / lineage mean 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36E81-1AAE-428D-9CB5-AED2B943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5fa23777b7104091"/>
              </a:rPr>
              <a:t>DICE</a:t>
            </a: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corneal coverage are optional. Measured counterevidence still contributes.</a:t>
            </a:r>
          </a:p>
        </p:txBody>
      </p:sp>
    </p:spTree>
    <p:extLst>
      <p:ext uri="{BB962C8B-B14F-4D97-AF65-F5344CB8AC3E}">
        <p14:creationId xmlns:p14="http://schemas.microsoft.com/office/powerpoint/2010/main" val="13447138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58C341-88EC-4AC3-952D-F1273724F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POLICY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523A07-CD92-4B94-BAC1-4459F0EE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RNA cutoffs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17BDC4-A40B-4109-972F-044AF3B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FA9DE-221F-4A53-AC40-2A7C3977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B7F68-306D-4B6D-98A8-0F7DBBD51979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Ceiling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5B655F-14F4-4142-877E-9EE0424C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One boundary: above-cutoff Vital / Protected is Unsafe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7CEEB-77AE-4FCF-A32F-13A726FC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Manageable excess blocks CTA. Bowel epithelium and identified fibroblasts use Manageable. Equality passes.</a:t>
            </a:r>
          </a:p>
        </p:txBody>
      </p:sp>
    </p:spTree>
    <p:extLst>
      <p:ext uri="{BB962C8B-B14F-4D97-AF65-F5344CB8AC3E}">
        <p14:creationId xmlns:p14="http://schemas.microsoft.com/office/powerpoint/2010/main" val="20611737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1EBA5-6E77-4EA1-A863-B3DE0AAC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TCR-T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2BF92A-A78F-4CA0-BB28-82BC968F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Clinical evidence adjusts RNA ceilings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3A1D3-EC50-4201-B872-37666B47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31379-CB2F-40A1-9E0B-0F0C07C31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54686-7FC7-40F6-9234-084342608EC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2333625"/>
                <a:gridCol w="1895475"/>
                <a:gridCol w="1895475"/>
                <a:gridCol w="1895475"/>
              </a:tblGrid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With clinical credit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Missing / unusable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Approved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Enhanced −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Vital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Protected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708BA0-24C6-46E7-922C-675B8253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IHC grades stay unchanged. Trials do not stack.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384F1C-2861-4E00-8A4C-7CE4C395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Protein and clinical-injury exclusions remain. This is protein-profile credit with tested epitope limitations, not clinical clearance.</a:t>
            </a:r>
          </a:p>
        </p:txBody>
      </p:sp>
    </p:spTree>
    <p:extLst>
      <p:ext uri="{BB962C8B-B14F-4D97-AF65-F5344CB8AC3E}">
        <p14:creationId xmlns:p14="http://schemas.microsoft.com/office/powerpoint/2010/main" val="148678090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C6B16-09C5-40C5-A544-DBD37BDA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CLINICAL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25F3C-287C-4FAC-A05C-FCD7D4C9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Serious events and antigen specificity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A7E672-05B0-4293-8157-94682345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A8FF4-8603-49BE-9D2B-DDF6D6F38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758DF-22BE-483F-94E2-913348736EB4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905250"/>
                <a:gridCol w="3686175"/>
              </a:tblGrid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Targeted CTA epitope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Important event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Specificity attribution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MAGE-A3 / a3a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Two fatal cardiac injuries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Titin cross-recognition implicated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MAGE-A3/A9 / NCI receptor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Three neurological cases; two deaths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MAGE-A12 brain recognition implicated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NY-ESO-1 / LAGE-1A, c259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Late cardiac death; two GBS cases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Peptide-specific mechanism not established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NY-ESO-1 / TBI-1301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Grade 3 lung injury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Unresolved; no credit for this product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MAGE-A4 / afami-cel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Aplasia and stroke deaths in phase 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demonstrated antigen-specific mechanism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1089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MAGE-A10 / ADP-A2M10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Grade 4 CRS; fatal aplasia after repeat treatment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Conditioning favored for marrow injury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1F6B1E-B79A-4C73-BB7A-C83412A1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1a5a7d40d4c1485f"/>
              </a:rPr>
              <a:t>Clinical trial and SAE review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. Seriousness differs from severity; this is a selected summary, not a pooled event rate.</a:t>
            </a:r>
          </a:p>
        </p:txBody>
      </p:sp>
    </p:spTree>
    <p:extLst>
      <p:ext uri="{BB962C8B-B14F-4D97-AF65-F5344CB8AC3E}">
        <p14:creationId xmlns:p14="http://schemas.microsoft.com/office/powerpoint/2010/main" val="19206721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4D2363-1BA2-4094-BD92-82DC0452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CATEGORICAL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D08F33-914F-4E51-9569-44373147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Other categories: identity and cancer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EDCCAC-9D46-4485-87A8-BE484DA3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5B74BF-149F-4461-995B-A19134FE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437FAC-1CC0-4AD4-8D26-433DECFFB1A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6400800"/>
                <a:gridCol w="1333500"/>
              </a:tblGrid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Other:Diffuse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Complete measured profile is too dispersed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Other:Reproductive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evidence qualifies; cancer evidence does not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Other:Inducible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Published induction in nonreproductive normal cells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Other:Tumor-supported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Strong tumor evidence; restriction remains unestablished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689FF6-9E4F-493B-92C7-0DAB3B0B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Every assessed protein has one label. There is no unnamed Other remainder.</a:t>
            </a:r>
          </a:p>
        </p:txBody>
      </p:sp>
    </p:spTree>
    <p:extLst>
      <p:ext uri="{BB962C8B-B14F-4D97-AF65-F5344CB8AC3E}">
        <p14:creationId xmlns:p14="http://schemas.microsoft.com/office/powerpoint/2010/main" val="6867481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2B02A-0410-4456-81AC-F1C2D87B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CATEGORICAL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82608-FD87-4DBD-BF40-E710F226A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Other categories: normal expression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41925-521D-4B50-B506-C52B92C20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E76269-516C-4CEC-A8E4-5D5CBA39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30D5A-F7FD-47C4-A75E-58CACC0F2786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6400800"/>
                <a:gridCol w="1333500"/>
              </a:tblGrid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Other:Disposable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Positive Disposable evidence; low measured RNA elsewhere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Other:Low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normal RNA &lt;2; no detected normal protein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254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Other:Normal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Supported normal expression; no preceding category applies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Other:Weak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Below admission floors or insufficient expression support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6B0D2A-7218-4FDE-A98A-4BFB66F1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Every assessed protein has one label. There is no unnamed Other remainder.</a:t>
            </a:r>
          </a:p>
        </p:txBody>
      </p:sp>
    </p:spTree>
    <p:extLst>
      <p:ext uri="{BB962C8B-B14F-4D97-AF65-F5344CB8AC3E}">
        <p14:creationId xmlns:p14="http://schemas.microsoft.com/office/powerpoint/2010/main" val="12668713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88BEE3-E736-4A66-803A-CBB46528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POSITIVE ASSOCIATION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7324D6-2159-449D-BC2F-E37D0596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Reproductive cell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D53CF-A5C4-48AF-9900-DC231C6B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76CF-D0F3-48F7-B0DE-3D5709BC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8513D5-8350-44BE-B5E9-3C82E610A3E5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571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3952875"/>
                <a:gridCol w="4400550"/>
              </a:tblGrid>
              <a:tr h="7143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Route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Positive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Additional requirements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Identified lineage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≥5 nTPM with ≥20 reads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Mapped reproductive lineage; all protein loci measured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Indirect site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Generic/immune cell in reproductive tissue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Complete outside cluster panel; every value &lt;5 nTPM; no normal-induction conflict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Examples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CAGE1 208.9; PRDM9 61.8; FOXR2 5.2 nTPM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Spermatids / spermatocytes / spermatogonia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Counterexample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IFNA2 and IFNA14 in breast macrophages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Published normal immune induction → Other:Inducible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7466F2-E41E-4A8F-B739-EC4139B3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Indirect support identifies the sample site, not the producing cell. Normal and bulk-concentration gates still apply.</a:t>
            </a:r>
          </a:p>
        </p:txBody>
      </p:sp>
    </p:spTree>
    <p:extLst>
      <p:ext uri="{BB962C8B-B14F-4D97-AF65-F5344CB8AC3E}">
        <p14:creationId xmlns:p14="http://schemas.microsoft.com/office/powerpoint/2010/main" val="130701705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0B50A-02FF-4D76-B6A9-E89E0215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RECONSIDERATION CANDIDATES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4A248-C2E2-4904-BD1E-079FB7F6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Other:Tumor-supported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CF4249-E7E0-4A53-B46E-B21EE62E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6EC34-36D4-4558-A90D-3DA7FEE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AA2B30-107D-4639-92F3-0FA100504152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00375"/>
                <a:gridCol w="7972425"/>
              </a:tblGrid>
              <a:tr h="6953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Requirement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Rule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&gt;=10 TPM in two distinct samples; duplicate source views do not count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 alternative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Reviewed tumor protein evidence; aggregate IHC counts alone are insufficient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 cancer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Low measured normal/developmental expression; all normal safety gates pass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 review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Relevant rare normal cells and states must be assessed before claiming tumor restriction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3FE24-60CE-46D4-9679-C6A55190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66 numerical leads await coverage review and remain Other. They are not labelled tumor-only.</a:t>
            </a:r>
          </a:p>
        </p:txBody>
      </p:sp>
    </p:spTree>
    <p:extLst>
      <p:ext uri="{BB962C8B-B14F-4D97-AF65-F5344CB8AC3E}">
        <p14:creationId xmlns:p14="http://schemas.microsoft.com/office/powerpoint/2010/main" val="2425089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73E2B-706F-4811-9BE3-F7A2256C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18580B-499F-493B-BBC3-2B4AA58A4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filtering layer can contribute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495B8-E70E-42A6-85F8-4AB7E38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CFE59-2A7C-4AED-A733-8A67BB9B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6C12FC34-9AF6-49A2-8333-3105F109BA74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143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ce26d4a844464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95F5BF-029E-4E9B-826A-36D77FB7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Final: 698 CTA / 18,031 Unsafe / 600 Other / 534 unassigned.</a:t>
            </a:r>
          </a:p>
        </p:txBody>
      </p:sp>
    </p:spTree>
    <p:extLst>
      <p:ext uri="{BB962C8B-B14F-4D97-AF65-F5344CB8AC3E}">
        <p14:creationId xmlns:p14="http://schemas.microsoft.com/office/powerpoint/2010/main" val="5157679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1CFA7-94BF-4604-990A-594F346AD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HUMAN FUNNEL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76824-994B-4D20-8110-B474580E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Removals at each filter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F1592-1085-421C-89F3-4ED42267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1148B-0DC7-4705-89A7-FE555FE8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D8A5F-67CF-4C7A-93C6-B2422A684C25}"/>
              </a:ext>
            </a:extLst>
          </p:cNvPr>
          <p:cNvGraphicFramePr/>
          <p:nvPr/>
        </p:nvGraphicFramePr>
        <p:xfrm>
          <a:off xmlns:a="http://schemas.openxmlformats.org/drawingml/2006/main" x="609600" y="1504950"/>
          <a:ext xmlns:a="http://schemas.openxmlformats.org/drawingml/2006/main" cx="10972800" cy="4095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76875"/>
                <a:gridCol w="1809750"/>
                <a:gridCol w="1809750"/>
                <a:gridCol w="1876425"/>
              </a:tblGrid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First removals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Eligible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Unsafe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Association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2,173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17,690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Cancer expression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17,674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12,044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5,630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RNA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5,422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Reproductive concentration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4,425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10,094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3,444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17,500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tissue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238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743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17,914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HPA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17,944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724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17,961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c49b7bf31d64e1b"/>
                        </a:rPr>
                        <a:t>DICE</a:t>
                      </a:r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immune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18,016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Adult cornea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Accepted normal-protein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Clinical safety exclusion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validated 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255984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and Other assignments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698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18,031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D30E5D-49F5-4FA1-AFF1-92F309FB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Sequential removals overlap. Final categories use every applicable evidence layer.</a:t>
            </a:r>
          </a:p>
        </p:txBody>
      </p:sp>
    </p:spTree>
    <p:extLst>
      <p:ext uri="{BB962C8B-B14F-4D97-AF65-F5344CB8AC3E}">
        <p14:creationId xmlns:p14="http://schemas.microsoft.com/office/powerpoint/2010/main" val="167088997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033967-E8B3-417E-959A-063BF42A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ANATOMY AND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13F808-0ABA-4EEC-87F0-802108881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IHC matching to measured RNA compartments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C68F48-EBEF-47F6-BE5E-36DFE4883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4B18E-9694-42A6-987A-A865E078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734D6-5E97-4CA9-A7B9-C344DB5C7CF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7496175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Context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 and current ceiling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colon epithelial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20.3 nTPM / 96 reads; Enhanced-negative glandular IHC; Manageable 128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PRAME adrenal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3.6 nTPM; incomplete IHC coverage; Vital 4 → 8 with IMA203 credit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CTAG2 bronchial basal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24.9 nTPM / 58 reads; Enhanced-negative respiratory IHC; Vital 32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Unrelated cells in the same tissue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negative-IHC credit without exact or declared compartment coverage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C1DCB5-0767-4E6A-A119-60CB1DAEE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PRAME and CTAG2 pass this policy. Parent-compartment sensitivity and PRAME’s Low adrenal protein remain explicit limitations.</a:t>
            </a:r>
          </a:p>
        </p:txBody>
      </p:sp>
    </p:spTree>
    <p:extLst>
      <p:ext uri="{BB962C8B-B14F-4D97-AF65-F5344CB8AC3E}">
        <p14:creationId xmlns:p14="http://schemas.microsoft.com/office/powerpoint/2010/main" val="75742275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38CB5-0AE9-42E4-AC83-2336ABD1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33E45-B909-425A-B1D2-E2E6BC40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adult/placental versus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47781D-9FFF-49DD-81D2-24F0ED9D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83469-97EE-4E87-97F6-E4AA9CA9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830108-CA59-442D-A95F-742357BCB8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15cb3aa65481b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67AB8-3547-46CF-A765-93B8FD54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46163000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AC3F0-AF4A-4978-8A55-EA194706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4C6565-9B17-464F-8206-3F0404B4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healthy RNA in TPM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015629-8E9D-479F-9F81-E22AF440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964A1-92BE-409D-9150-E09633C4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9644C-60CB-4BFE-B0F9-40C1361F03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6e39b4bd4d42e9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590C63-BCAB-46E0-A212-492DC9D1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103805351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67916-A3E3-4B07-ACE8-DEA14F17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EXPRESSION DISTRIBUTIONS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D082E0-9622-4346-8326-5556A751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Selected CTA: normal corneal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7C324-897D-4A70-B9D8-7224B1BC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C9502-C743-4572-B184-429065324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2D398-F4C0-473B-A563-487AE11EED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f8e5be014340b6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076AC-0004-4CE0-AE31-90D48133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Gray: healthy measurement unavailable. The lower band has no embryonic-expression value.</a:t>
            </a:r>
          </a:p>
        </p:txBody>
      </p:sp>
    </p:spTree>
    <p:extLst>
      <p:ext uri="{BB962C8B-B14F-4D97-AF65-F5344CB8AC3E}">
        <p14:creationId xmlns:p14="http://schemas.microsoft.com/office/powerpoint/2010/main" val="212848643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E0B837-C1A3-467B-854A-661ED7E9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BB064-6601-4D2B-814D-D3816910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1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BE97A-3A57-4729-8BDC-D208C9C9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86E197-D68B-4BDA-B60D-108F0D69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24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27F7FA-F4A7-4C04-8883-851B50BC78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2c51c68534ee8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219563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DF73C4-A073-4328-92F8-4F635DD7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843226-7F82-44E4-B46F-56FDAAF2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2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94325-30EF-4231-97AA-85D8CE6A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13C90A-D14C-4457-A87F-83351782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25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F9B067-6A2C-4C29-8F88-778A465E6B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0ee462a27e4785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2439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C3A0BD-077F-4400-9430-B72682C0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SELECTED CTA DETAIL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672DA2-5DB0-4E43-8507-6017C86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High adult/placental and embryonic RNA: labels 3 of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93A53B-5554-473E-98D1-4F9E4DBA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CFB22C-1108-44DD-80EF-1E82808F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26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BB10E-7DB2-428F-BBCB-71EFC4039D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d69127d5ac49e2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4946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D4FCB1-5F3D-470E-B51B-DCBE11A3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10C71-8691-473B-BD1E-265F1AFB0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Complementary embryonic measurements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86019-BAB2-43EE-97ED-C2D19C6B5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0E69A5-AF75-433B-892B-512DA1BC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68F135-2B65-4BC2-A619-58A1E870733F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000500"/>
                <a:gridCol w="35433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cells /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scope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28af48658a8427a"/>
                        </a:rPr>
                        <a:t>Tyser et al. (2021)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1,195 cells / 1 embryo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Gastrulation, Carnegie stage 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27d2ae98d4864660"/>
                        </a:rPr>
                        <a:t>Petropoulos et al. (2016)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1,519 cells / 88 embryos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Preimplantation, days 3–7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Recovered coverage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683 of 1,006 earlier missing groups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TPM, including familiar CTAs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00421E-FE4F-4175-B0D6-7DAD480D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PRAME, MAGE-A4, CTAG1A/B, XAGE1A/B and CT83 now have TPM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68E44A-BFB7-4D97-9EBD-2D789290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Each source keeps its own stages. Neither atlas covers all fetal or pediatric development.</a:t>
            </a:r>
          </a:p>
        </p:txBody>
      </p:sp>
    </p:spTree>
    <p:extLst>
      <p:ext uri="{BB962C8B-B14F-4D97-AF65-F5344CB8AC3E}">
        <p14:creationId xmlns:p14="http://schemas.microsoft.com/office/powerpoint/2010/main" val="57074747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354CE-E0FB-4113-9A80-313396C64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C8F09-4663-478B-AE4E-92E59E9F6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adult/placental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1195C4-5253-457B-8C48-C9DD7E80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B455E5-73E2-4F7F-BB41-695A05DB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28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5628E-A5A6-428F-8466-61E0E59F75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8d12c56fa54a8e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9050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73250F-12DD-4D92-8309-4BFEEB8B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CURRENT ASSIGNMENTS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0F1AA3-9FF1-4E4E-9A9D-FAAC8676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Widely studied antigens: embryonic 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6C0540-FC28-464F-B6AC-D2246064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DAACB7-AB54-47A7-9AC1-B14E1A55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29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0CC40F-4911-430E-B84A-4F65DDB281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38dee926c4f90"/>
          <a:stretch xmlns:a="http://schemas.openxmlformats.org/drawingml/2006/main"/>
        </p:blipFill>
        <p:spPr>
          <a:xfrm xmlns:a="http://schemas.openxmlformats.org/drawingml/2006/main">
            <a:off x="527538" y="1524000"/>
            <a:ext cx="11136923" cy="4524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70734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631C1-895B-4846-9345-C2A621AD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READING THE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BDF53-103C-45B4-A4E2-18F6F167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Assessment status is separate from category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B1215-F4A5-41E8-AF8A-969EC933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799B1-CABA-4613-8904-649CDA840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DD594-0767-4D75-A9B0-A614A5A6D719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5924550"/>
                <a:gridCol w="1619250"/>
              </a:tblGrid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API 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Human 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Candidate, Unsafe or Other assigned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19,329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incomplete_evidence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Unassigned with missing coverage or unresolved evidence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475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normal_evidence_hold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normal coverage passes; a normal-screen hold remains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59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381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unassessed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species-specific selection policy applied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0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24E69B-5D6E-4655-9501-5F6A464A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721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Other requires a complete, resolved normal screen. Unassigned does not mean Unsafe or low expression.</a:t>
            </a:r>
          </a:p>
        </p:txBody>
      </p:sp>
    </p:spTree>
    <p:extLst>
      <p:ext uri="{BB962C8B-B14F-4D97-AF65-F5344CB8AC3E}">
        <p14:creationId xmlns:p14="http://schemas.microsoft.com/office/powerpoint/2010/main" val="25775335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F005E1-EF90-432F-A97E-968C3D5D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COVERAGE AUDIT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11E6A-FDEC-409A-9062-7E00599A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Which sources have incomplete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9FC6C-F925-4CDC-B1E4-FCE572D4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9B811-E85A-4F1C-89F2-DD0E48ED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31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3D527-6A73-4062-87DB-AA3A5CC221B7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239250"/>
                <a:gridCol w="1733550"/>
              </a:tblGrid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 or unresolved evidence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Proteins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de7905a38d6b4fad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consensus bulk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374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normal bulk: HPA consensus + HPA brain + direct GTEx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366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e77c3957e11d44b8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tissue-cell clusters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335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42f482cf11674494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immune cells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Monaco immune cells via </a:t>
                      </a:r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dfb496bbdabd4607"/>
                        </a:rPr>
                        <a:t>HPA v23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304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Required </a:t>
                      </a:r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7339fb8b97f44c7c"/>
                        </a:rPr>
                        <a:t>GTEx v11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bulk panel (52 contexts)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413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Combined Tyser + Petropoulos TPM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86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tumor measurement: OncoRef + HPA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34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Measured tumor, incomplete group profile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034">
                <a:tc>
                  <a:txBody>
                    <a:bodyPr/>
                    <a:lstStyle/>
                    <a:p>
                      <a:r>
                        <a:rPr sz="1650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d3d46204a28f4a1f"/>
                        </a:rPr>
                        <a:t>HPA v23</a:t>
                      </a:r>
                      <a:r>
                        <a:rPr sz="165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Uncertain normal-tissue IHC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E621EB-42F6-47A6-805D-4D0435F9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Overlapping gaps within 475 unassigned proteins. </a:t>
            </a:r>
            <a:r>
              <a:rPr sz="1800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ff35bc3d538e4a4c"/>
              </a:rPr>
              <a:t>DICE</a:t>
            </a: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corneal coverage are optional.</a:t>
            </a:r>
          </a:p>
        </p:txBody>
      </p:sp>
    </p:spTree>
    <p:extLst>
      <p:ext uri="{BB962C8B-B14F-4D97-AF65-F5344CB8AC3E}">
        <p14:creationId xmlns:p14="http://schemas.microsoft.com/office/powerpoint/2010/main" val="33745926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5E2D4-7D5F-49EF-BC65-030C87DA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SPECIES-SPECIFIC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13660-CE51-466D-B404-35A431B5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Dog evidence and integration gaps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AB6A2-BE9A-4914-89B3-1464B33B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FED22E-150B-465D-A8DB-DC8AE116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32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83349-6931-4DE3-8042-D96F31A7927C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8210550"/>
              </a:tblGrid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Layer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Available evidence / remaining gap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Nominations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 + 10 − 1 shared = 14 native nominations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Identity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unique mappings; one ambiguous MAGE-family assay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/ developmental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Bgee TPM and BarkBase TMM-CPM need reference reconciliation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Tumor RNA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GSE304066 count/FPKM and reference conflicts remain unresolved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Normal protein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Limited study IHC; Pfizer pooled iBAQ is not cell-resolved IHC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Selection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All 14 unassigned / unassessed; no canine quantitative policy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D45E0A-7B01-457B-8F27-C9CDE950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Human thresholds, antibody grades and normal-tissue absence never transfer by orthology.</a:t>
            </a:r>
          </a:p>
        </p:txBody>
      </p:sp>
    </p:spTree>
    <p:extLst>
      <p:ext uri="{BB962C8B-B14F-4D97-AF65-F5344CB8AC3E}">
        <p14:creationId xmlns:p14="http://schemas.microsoft.com/office/powerpoint/2010/main" val="106060013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8A43E7-AE80-4527-B571-2F6F4FD1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DEVELOPMENTAL NOMINATIONS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FEBC34-F3B5-4D76-A034-FB96A5A9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Curated oncofetal sources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BDEBF-11BF-4D76-ACEE-82EA7FBF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1C96C9-FD49-45E6-ABD8-0A5207468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33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89505-F1F9-4D3D-B65C-5159FBEE2C2A}"/>
              </a:ext>
            </a:extLst>
          </p:cNvPr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7353300"/>
              </a:tblGrid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Scope and integration status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Tyser + Petropoulos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Current gastrulation and preimplantation TPM sources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540cdda367434a3a"/>
                        </a:rPr>
                        <a:t>Shaw et al.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157 cancer-specific targets; six oncofetal annotations. Exon-specific scope retained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49930335c2814205"/>
                        </a:rPr>
                        <a:t>TRIM71 liver study (2024)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Liver oncofetal signature; requires identity and measurement ingestion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75" b="1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081689b6dc8c4179"/>
                        </a:rPr>
                        <a:t>Cardoso-Moreira et al. (2019)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Developmental organ trajectories with child/adult comparisons; not integrated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A568CB-A794-440D-9CDE-06644171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Published nominations need independent normal/tumor filtering and postnatal coverage.</a:t>
            </a:r>
          </a:p>
        </p:txBody>
      </p:sp>
    </p:spTree>
    <p:extLst>
      <p:ext uri="{BB962C8B-B14F-4D97-AF65-F5344CB8AC3E}">
        <p14:creationId xmlns:p14="http://schemas.microsoft.com/office/powerpoint/2010/main" val="186528807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5FDA84-DA65-4E21-B8D4-7A1B1938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ABBB3E-2255-4228-A8A2-14AEDDE6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Common API with native evidence underneath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8B770C-1FA2-45F2-B098-650ABD30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D3FC61-0FB2-42E5-BC1B-563451E8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DD93D-5F31-4CB6-B649-7C2EFD01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results = cta_selection.results(species="human")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 = cta_selection.audit(species="human")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audit.sources    audit.overlaps    audit.funnel</a:t>
            </a:r>
          </a:p>
          <a:p xmlns:a="http://schemas.openxmlformats.org/drawingml/2006/main">
            <a:pPr>
              <a:def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audit.explain("PRAME")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10465-89C8-4694-8DAB-D177C50EF048}"/>
              </a:ext>
            </a:extLst>
          </p:cNvPr>
          <p:cNvGraphicFramePr/>
          <p:nvPr/>
        </p:nvGraphicFramePr>
        <p:xfrm>
          <a:off xmlns:a="http://schemas.openxmlformats.org/drawingml/2006/main" x="609600" y="3810000"/>
          <a:ext xmlns:a="http://schemas.openxmlformats.org/drawingml/2006/main" cx="109728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7781925"/>
              </a:tblGrid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Field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CTA / Unsafe / Other; classification gives the named category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assessment_status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Screened, incomplete evidence, normal hold, or unassessed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classification / subtype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One categorical label; Other subtype always populated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FBB52D-3121-4D1B-B744-E2554668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Source-specific native units, tissue/cell context, confidence and coverage remain inspectable.</a:t>
            </a:r>
          </a:p>
        </p:txBody>
      </p:sp>
    </p:spTree>
    <p:extLst>
      <p:ext uri="{BB962C8B-B14F-4D97-AF65-F5344CB8AC3E}">
        <p14:creationId xmlns:p14="http://schemas.microsoft.com/office/powerpoint/2010/main" val="2093621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F19DC-CE69-47F1-94D3-D7C5B2EC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DATA API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3906A7-6342-4432-B0DA-A17DD98F8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B55"/>
                </a:solidFill>
                <a:latin typeface="Helvetica Neue"/>
                <a:ea typeface="Helvetica Neue"/>
                <a:cs typeface="Helvetica Neue"/>
              </a:rPr>
              <a:t>Every source resolves to a concrete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1CB17B-1CF2-459B-8851-BCAB0B85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OncoRef CTA evidence walkthrough   •   30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E3A47-25E4-404F-9F18-DFD57F78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3627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3CA55A-45F2-4516-AA73-77918E05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catalog.ensure("gtex_tissue_rna")               # v11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catalog.ensure("gtex_tissue_rna", version="v10")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catalog.provenance("gtex_tissue_rna", "v11")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CC34D-076B-42EA-86C2-1D305335D272}"/>
              </a:ext>
            </a:extLst>
          </p:cNvPr>
          <p:cNvGraphicFramePr/>
          <p:nvPr/>
        </p:nvGraphicFramePr>
        <p:xfrm>
          <a:off xmlns:a="http://schemas.openxmlformats.org/drawingml/2006/main" x="609600" y="3238500"/>
          <a:ext xmlns:a="http://schemas.openxmlformats.org/drawingml/2006/main" cx="10972800" cy="2238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8020050"/>
              </a:tblGrid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Shared choice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Source-specific meaning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T w="4763">
                      <a:solidFill>
                        <a:srgbClr val="D9E2E8"/>
                      </a:solidFill>
                      <a:prstDash val="solid"/>
                    </a:lnT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173B55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Default / latest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Newest registered release; saved runs keep explicit pins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Concrete version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8634b34b6cf04857"/>
                        </a:rPr>
                        <a:t>GTEx v11</a:t>
                      </a:r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; </a:t>
                      </a:r>
                      <a:r>
                        <a:rPr sz="1800" b="0" u="sng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  <a:hlinkClick xmlns:r="http://schemas.openxmlformats.org/officeDocument/2006/relationships" r:id="Rce60208d304f4109"/>
                        </a:rPr>
                        <a:t>HPA v25.1</a:t>
                      </a:r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; a study snapshot or OncoRef build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Provenance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Version, content checksum, native unit, annotation and pipeline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76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Species</a:t>
                      </a:r>
                    </a:p>
                  </a:txBody>
                  <a:tcPr marL="95250" marR="95250" marT="19050" marB="19050">
                    <a:lnL w="4763">
                      <a:solidFill>
                        <a:srgbClr val="D9E2E8"/>
                      </a:solidFill>
                      <a:prstDash val="solid"/>
                    </a:lnL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73B55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same selector applies to native dog and mouse assets</a:t>
                      </a:r>
                    </a:p>
                  </a:txBody>
                  <a:tcPr marL="95250" marR="95250" marT="19050" marB="19050">
                    <a:lnR w="4763">
                      <a:solidFill>
                        <a:srgbClr val="D9E2E8"/>
                      </a:solidFill>
                      <a:prstDash val="solid"/>
                    </a:lnR>
                    <a:lnB w="4763">
                      <a:solidFill>
                        <a:srgbClr val="D9E2E8"/>
                      </a:solidFill>
                      <a:prstDash val="solid"/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B3AD2-CB60-4382-93FE-D08E51BB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This analysis pins </a:t>
            </a: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743e30e310cf4b98"/>
              </a:rPr>
              <a:t>GTEx v11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and </a:t>
            </a:r>
            <a:r>
              <a:rPr sz="1725" b="0" u="sng">
                <a:solidFill>
                  <a:srgbClr val="536675"/>
                </a:solidFill>
                <a:latin typeface="Helvetica Neue"/>
                <a:ea typeface="Helvetica Neue"/>
                <a:cs typeface="Helvetica Neue"/>
                <a:hlinkClick xmlns:r="http://schemas.openxmlformats.org/officeDocument/2006/relationships" r:id="R43769a52cc8a4aff"/>
              </a:rPr>
              <a:t>HPA v23</a:t>
            </a:r>
            <a:r>
              <a:rPr sz="1725" b="0">
                <a:solidFill>
                  <a:srgbClr val="536675"/>
                </a:solidFill>
                <a:latin typeface="Helvetica Neue"/>
                <a:ea typeface="Helvetica Neue"/>
                <a:cs typeface="Helvetica Neue"/>
              </a:rPr>
              <a:t> normal panels. A newer public default does not rewrite it.</a:t>
            </a:r>
          </a:p>
        </p:txBody>
      </p:sp>
    </p:spTree>
    <p:extLst>
      <p:ext uri="{BB962C8B-B14F-4D97-AF65-F5344CB8AC3E}">
        <p14:creationId xmlns:p14="http://schemas.microsoft.com/office/powerpoint/2010/main" val="18712023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2026-10-30T19:26:51.1000000Z</dcterms:created>
  <dcterms:modified xsi:type="dcterms:W3CDTF">2026-10-30T19:26:51.1000000Z</dcterms:modified>
</coreProperties>
</file>