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52125f8d794590" /><Relationship Type="http://schemas.openxmlformats.org/officeDocument/2006/relationships/extended-properties" Target="/docProps/app.xml" Id="R88ad3f594f1c46af" /><Relationship Type="http://schemas.openxmlformats.org/officeDocument/2006/relationships/officeDocument" Target="/ppt/presentation.xml" Id="R79b2b11521df41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1d7273324c4f52"/>
  </p:sldMasterIdLst>
  <p:notesMasterIdLst>
    <p:notesMasterId xmlns:r="http://schemas.openxmlformats.org/officeDocument/2006/relationships" r:id="R55881b78ec614417"/>
  </p:notesMasterIdLst>
  <p:sldIdLst>
    <p:sldId xmlns:r="http://schemas.openxmlformats.org/officeDocument/2006/relationships" id="256" r:id="Re55a3ff910404f1d"/>
    <p:sldId xmlns:r="http://schemas.openxmlformats.org/officeDocument/2006/relationships" id="257" r:id="R0d1272ca522a47cd"/>
    <p:sldId xmlns:r="http://schemas.openxmlformats.org/officeDocument/2006/relationships" id="258" r:id="R299fcf81dc01463c"/>
    <p:sldId xmlns:r="http://schemas.openxmlformats.org/officeDocument/2006/relationships" id="259" r:id="Rc043da6e67e04017"/>
    <p:sldId xmlns:r="http://schemas.openxmlformats.org/officeDocument/2006/relationships" id="260" r:id="Rc042ae7d203443c8"/>
    <p:sldId xmlns:r="http://schemas.openxmlformats.org/officeDocument/2006/relationships" id="261" r:id="Rb9f06cf7d44a448a"/>
    <p:sldId xmlns:r="http://schemas.openxmlformats.org/officeDocument/2006/relationships" id="262" r:id="R5510efeaf3824860"/>
    <p:sldId xmlns:r="http://schemas.openxmlformats.org/officeDocument/2006/relationships" id="263" r:id="Ra2c23c4fbcbc4f00"/>
    <p:sldId xmlns:r="http://schemas.openxmlformats.org/officeDocument/2006/relationships" id="264" r:id="Re20ca055e3034486"/>
    <p:sldId xmlns:r="http://schemas.openxmlformats.org/officeDocument/2006/relationships" id="265" r:id="R107a6024c56745cd"/>
    <p:sldId xmlns:r="http://schemas.openxmlformats.org/officeDocument/2006/relationships" id="266" r:id="Rb6b4a286a44b4b3f"/>
    <p:sldId xmlns:r="http://schemas.openxmlformats.org/officeDocument/2006/relationships" id="267" r:id="R5f70ea73faea432f"/>
    <p:sldId xmlns:r="http://schemas.openxmlformats.org/officeDocument/2006/relationships" id="268" r:id="R86e1816fb5e14299"/>
    <p:sldId xmlns:r="http://schemas.openxmlformats.org/officeDocument/2006/relationships" id="269" r:id="R2a0a79cfb09f490c"/>
    <p:sldId xmlns:r="http://schemas.openxmlformats.org/officeDocument/2006/relationships" id="270" r:id="R23b4efeac9b841c6"/>
    <p:sldId xmlns:r="http://schemas.openxmlformats.org/officeDocument/2006/relationships" id="271" r:id="Rbda6a57f357d49df"/>
    <p:sldId xmlns:r="http://schemas.openxmlformats.org/officeDocument/2006/relationships" id="272" r:id="R7240addaade546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a903b43e084a31" /><Relationship Type="http://schemas.openxmlformats.org/officeDocument/2006/relationships/slideMaster" Target="/ppt/slideMasters/slideMaster1.xml" Id="R1b1d7273324c4f52" /><Relationship Type="http://schemas.openxmlformats.org/officeDocument/2006/relationships/notesMaster" Target="/ppt/notesMasters/notesMaster1.xml" Id="R55881b78ec614417" /><Relationship Type="http://schemas.openxmlformats.org/officeDocument/2006/relationships/presProps" Target="/ppt/presProps.xml" Id="R6006ac3018dc4c9b" /><Relationship Type="http://schemas.openxmlformats.org/officeDocument/2006/relationships/tableStyles" Target="/ppt/tableStyles.xml" Id="R60e0cc021afd478b" /><Relationship Type="http://schemas.openxmlformats.org/officeDocument/2006/relationships/slide" Target="/ppt/slides/slide1.xml" Id="Re55a3ff910404f1d" /><Relationship Type="http://schemas.openxmlformats.org/officeDocument/2006/relationships/slide" Target="/ppt/slides/slide2.xml" Id="R0d1272ca522a47cd" /><Relationship Type="http://schemas.openxmlformats.org/officeDocument/2006/relationships/slide" Target="/ppt/slides/slide3.xml" Id="R299fcf81dc01463c" /><Relationship Type="http://schemas.openxmlformats.org/officeDocument/2006/relationships/slide" Target="/ppt/slides/slide4.xml" Id="Rc043da6e67e04017" /><Relationship Type="http://schemas.openxmlformats.org/officeDocument/2006/relationships/slide" Target="/ppt/slides/slide5.xml" Id="Rc042ae7d203443c8" /><Relationship Type="http://schemas.openxmlformats.org/officeDocument/2006/relationships/slide" Target="/ppt/slides/slide6.xml" Id="Rb9f06cf7d44a448a" /><Relationship Type="http://schemas.openxmlformats.org/officeDocument/2006/relationships/slide" Target="/ppt/slides/slide7.xml" Id="R5510efeaf3824860" /><Relationship Type="http://schemas.openxmlformats.org/officeDocument/2006/relationships/slide" Target="/ppt/slides/slide8.xml" Id="Ra2c23c4fbcbc4f00" /><Relationship Type="http://schemas.openxmlformats.org/officeDocument/2006/relationships/slide" Target="/ppt/slides/slide9.xml" Id="Re20ca055e3034486" /><Relationship Type="http://schemas.openxmlformats.org/officeDocument/2006/relationships/slide" Target="/ppt/slides/slide10.xml" Id="R107a6024c56745cd" /><Relationship Type="http://schemas.openxmlformats.org/officeDocument/2006/relationships/slide" Target="/ppt/slides/slide11.xml" Id="Rb6b4a286a44b4b3f" /><Relationship Type="http://schemas.openxmlformats.org/officeDocument/2006/relationships/slide" Target="/ppt/slides/slide12.xml" Id="R5f70ea73faea432f" /><Relationship Type="http://schemas.openxmlformats.org/officeDocument/2006/relationships/slide" Target="/ppt/slides/slide13.xml" Id="R86e1816fb5e14299" /><Relationship Type="http://schemas.openxmlformats.org/officeDocument/2006/relationships/slide" Target="/ppt/slides/slide14.xml" Id="R2a0a79cfb09f490c" /><Relationship Type="http://schemas.openxmlformats.org/officeDocument/2006/relationships/slide" Target="/ppt/slides/slide15.xml" Id="R23b4efeac9b841c6" /><Relationship Type="http://schemas.openxmlformats.org/officeDocument/2006/relationships/slide" Target="/ppt/slides/slide16.xml" Id="Rbda6a57f357d49df" /><Relationship Type="http://schemas.openxmlformats.org/officeDocument/2006/relationships/slide" Target="/ppt/slides/slide17.xml" Id="R7240addaade546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4dff0082ce4e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f2f990d6224fa5" /><Relationship Type="http://schemas.openxmlformats.org/officeDocument/2006/relationships/notesMaster" Target="/ppt/notesMasters/notesMaster1.xml" Id="R7d7ab7b8c8a348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21b03204a145d8" /><Relationship Type="http://schemas.openxmlformats.org/officeDocument/2006/relationships/notesMaster" Target="/ppt/notesMasters/notesMaster1.xml" Id="Ra033823522c548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6fd4307c734b53" /><Relationship Type="http://schemas.openxmlformats.org/officeDocument/2006/relationships/notesMaster" Target="/ppt/notesMasters/notesMaster1.xml" Id="R0ed8a84dd2734e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941c32139049b0" /><Relationship Type="http://schemas.openxmlformats.org/officeDocument/2006/relationships/notesMaster" Target="/ppt/notesMasters/notesMaster1.xml" Id="Re49956a531e84c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4cfbb89bc24be9" /><Relationship Type="http://schemas.openxmlformats.org/officeDocument/2006/relationships/notesMaster" Target="/ppt/notesMasters/notesMaster1.xml" Id="R6d023d3e3b4949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28f2c8384a498a" /><Relationship Type="http://schemas.openxmlformats.org/officeDocument/2006/relationships/notesMaster" Target="/ppt/notesMasters/notesMaster1.xml" Id="Rd043c10f24494e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5ae90194b442f2" /><Relationship Type="http://schemas.openxmlformats.org/officeDocument/2006/relationships/notesMaster" Target="/ppt/notesMasters/notesMaster1.xml" Id="R854c7429343245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6fb6163d2b450e" /><Relationship Type="http://schemas.openxmlformats.org/officeDocument/2006/relationships/notesMaster" Target="/ppt/notesMasters/notesMaster1.xml" Id="Rffe74ac2294d4e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7160b7400740ca" /><Relationship Type="http://schemas.openxmlformats.org/officeDocument/2006/relationships/notesMaster" Target="/ppt/notesMasters/notesMaster1.xml" Id="R604aa30aacff4e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6c46ff2c914cf3" /><Relationship Type="http://schemas.openxmlformats.org/officeDocument/2006/relationships/notesMaster" Target="/ppt/notesMasters/notesMaster1.xml" Id="R6f079b451b5846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c3fd3babf6455a" /><Relationship Type="http://schemas.openxmlformats.org/officeDocument/2006/relationships/notesMaster" Target="/ppt/notesMasters/notesMaster1.xml" Id="R3f002126b5f649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78106537b64d7a" /><Relationship Type="http://schemas.openxmlformats.org/officeDocument/2006/relationships/notesMaster" Target="/ppt/notesMasters/notesMaster1.xml" Id="Rc243b70f368149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fb0465ac3e4c58" /><Relationship Type="http://schemas.openxmlformats.org/officeDocument/2006/relationships/notesMaster" Target="/ppt/notesMasters/notesMaster1.xml" Id="R9ad4e9a88c5d46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ba2b6003cc4a42" /><Relationship Type="http://schemas.openxmlformats.org/officeDocument/2006/relationships/notesMaster" Target="/ppt/notesMasters/notesMaster1.xml" Id="R60919ad6c1d74f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14d186a37b48b8" /><Relationship Type="http://schemas.openxmlformats.org/officeDocument/2006/relationships/notesMaster" Target="/ppt/notesMasters/notesMaster1.xml" Id="R708b139b158241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3cb8c7b78249f8" /><Relationship Type="http://schemas.openxmlformats.org/officeDocument/2006/relationships/notesMaster" Target="/ppt/notesMasters/notesMaster1.xml" Id="R5621cdc9097d46c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898d6aa35f4caf" /><Relationship Type="http://schemas.openxmlformats.org/officeDocument/2006/relationships/notesMaster" Target="/ppt/notesMasters/notesMaster1.xml" Id="R0716134ad85c49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 and dog CTA evidence</a:t>
            </a:r>
          </a:p>
          <a:p xmlns:a="http://schemas.openxmlformats.org/drawingml/2006/main">
            <a:r>
              <a:t>Current human selection is unchanged. Dog nomination counts are not a genome-wide selection.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Published candidate lists</a:t>
            </a:r>
          </a:p>
          <a:p xmlns:a="http://schemas.openxmlformats.org/drawingml/2006/main">
            <a:r>
              <a:t>da Silva et al. (2017): https://doi.org/10.18632/oncotarget.21715</a:t>
            </a:r>
          </a:p>
          <a:p xmlns:a="http://schemas.openxmlformats.org/drawingml/2006/main">
            <a:r>
              <a:t>Wang et al. (2016): https://doi.org/10.1038/ncomms10499</a:t>
            </a:r>
          </a:p>
          <a:p xmlns:a="http://schemas.openxmlformats.org/drawingml/2006/main">
            <a:r>
              <a:t>Chang et al. (2019): https://doi.org/10.1002/cam4.2223</a:t>
            </a:r>
          </a:p>
          <a:p xmlns:a="http://schemas.openxmlformats.org/drawingml/2006/main">
            <a:r>
              <a:t>Gong et al. (2021): https://doi.org/10.1038/s41467-021-22695-y</a:t>
            </a:r>
          </a:p>
          <a:p xmlns:a="http://schemas.openxmlformats.org/drawingml/2006/main">
            <a:r>
              <a:t>Bruggeman et al. (2018): https://doi.org/10.1038/s41388-018-0357-2</a:t>
            </a:r>
          </a:p>
          <a:p xmlns:a="http://schemas.openxmlformats.org/drawingml/2006/main">
            <a:r>
              <a:t>Jamin et al. (2021): https://doi.org/10.1002/1878-0261.12900</a:t>
            </a:r>
          </a:p>
          <a:p xmlns:a="http://schemas.openxmlformats.org/drawingml/2006/main">
            <a:r>
              <a:t>Loriot et al. (2025): https://doi.org/10.1371/journal.pgen.1011734</a:t>
            </a:r>
          </a:p>
          <a:p xmlns:a="http://schemas.openxmlformats.org/drawingml/2006/main">
            <a:r>
              <a:t>Carter et al. (2023): https://doi.org/10.1136/jitc-2023-007935</a:t>
            </a:r>
          </a:p>
          <a:p xmlns:a="http://schemas.openxmlformats.org/drawingml/2006/main">
            <a:r>
              <a:t>Seager et al. (2024): https://doi.org/10.1186/s12967-024-04918-0</a:t>
            </a:r>
          </a:p>
          <a:p xmlns:a="http://schemas.openxmlformats.org/drawingml/2006/main">
            <a:r>
              <a:t>Bradley et al. (2020): https://doi.org/10.1038/s41467-020-19141-w</a:t>
            </a:r>
          </a:p>
          <a:p xmlns:a="http://schemas.openxmlformats.org/drawingml/2006/main">
            <a:r>
              <a:t>Bai et al. (2016): https://doi.org/10.1158/0008-5472.CAN-16-0225</a:t>
            </a:r>
          </a:p>
          <a:p xmlns:a="http://schemas.openxmlformats.org/drawingml/2006/main">
            <a:r>
              <a:t>Garg et al. (2007): https://doi.org/10.1158/1078-0432.CCR-06-2340</a:t>
            </a:r>
          </a:p>
          <a:p xmlns:a="http://schemas.openxmlformats.org/drawingml/2006/main">
            <a:r>
              <a:t>Boël et al. (1995): https://doi.org/10.1016/s1074-7613(95)80053-0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How published lists overlap</a:t>
            </a:r>
          </a:p>
          <a:p xmlns:a="http://schemas.openxmlformats.org/drawingml/2006/main">
            <a:r>
              <a:t>Paper tables are unioned. Counts represent mapped protein-equivalence groups. Full source IDs and pairwise matrix: human-overlaps.csv.gz in the walkthrough.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12,139 groups enter the funnel</a:t>
            </a:r>
          </a:p>
          <a:p xmlns:a="http://schemas.openxmlformats.org/drawingml/2006/main">
            <a:r>
              <a:t>Tyser et al. (2021): https://doi.org/10.1038/s41586-021-04158-y . The complete reference has 19,863 groups. HPA supplies reproductive nTPM. Developmental presence alone is not restriction.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 and cancer expression sources</a:t>
            </a:r>
          </a:p>
          <a:p xmlns:a="http://schemas.openxmlformats.org/drawingml/2006/main">
            <a:r>
              <a:t>URLs and versions: oncoref/data/cta-selection-sources.csv. HPA v23 https://v23.proteinatlas.org/about/download ; DICE https://dice-database.org/ ; cornea https://www.ncbi.nlm.nih.gov/geo/query/acc.cgi?acc=GSE155683 ; tumor registry and sample lineage in the frozen report.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Active RNA cutoffs</a:t>
            </a:r>
          </a:p>
          <a:p xmlns:a="http://schemas.openxmlformats.org/drawingml/2006/main">
            <a:r>
              <a:t>The second RNA boundary is a policy multiplier, not an antibody grade or a measured toxicity limit. Cornea CP10K uses nominal limits /100, not a TPM conversion.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Rules applied before final assignment</a:t>
            </a:r>
          </a:p>
          <a:p xmlns:a="http://schemas.openxmlformats.org/drawingml/2006/main">
            <a:r>
              <a:t>All sources retain native units and missingness. RNA candidate equality passes. Every layer can contribute after a prior hold.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filtering layer can contribute</a:t>
            </a:r>
          </a:p>
          <a:p xmlns:a="http://schemas.openxmlformats.org/drawingml/2006/main">
            <a:r>
              <a:t>Eligible so far becomes a final CTA category only at the last stage. Sequential removals depend on display order; final decisions do not.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at each filtering choice</a:t>
            </a:r>
          </a:p>
          <a:p xmlns:a="http://schemas.openxmlformats.org/drawingml/2006/main">
            <a:r>
              <a:t>These are sequential first-removal counts, not independent marginal effects. Full source decisions remain available after an earlier failure.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Widely studied antigens</a:t>
            </a:r>
          </a:p>
          <a:p xmlns:a="http://schemas.openxmlformats.org/drawingml/2006/main">
            <a:r>
              <a:t>Comparison genes are not forced positive controls. NY-ESO-1 is CTAG1A/B; LAGE-1 is CTAG2. Evidence includes retained flags.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Reproductive and developmental expression</a:t>
            </a:r>
          </a:p>
          <a:p xmlns:a="http://schemas.openxmlformats.org/drawingml/2006/main">
            <a:r>
              <a:t>Axes include zero using a symmetric-log scale. Missing measurements are omitted. Classification uses the full funnel. Embryonic and reproductive measurements retain separate units.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PRAME has colon IHC</a:t>
            </a:r>
          </a:p>
          <a:p xmlns:a="http://schemas.openxmlformats.org/drawingml/2006/main">
            <a:r>
              <a:t>HPA v23 PRAME: https://v23.proteinatlas.org/ENSG00000185686-PRAME/tissue/colon . The frozen table reports Enhanced Not detected glandular, endothelial and peripheral nerve/ganglion cells. Exact undifferentiated-cluster coverage remains unresolved.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Dog nominations and funnel coverage</a:t>
            </a:r>
          </a:p>
          <a:p xmlns:a="http://schemas.openxmlformats.org/drawingml/2006/main">
            <a:r>
              <a:t>Nemec et al. (2019): https://doi.org/10.1111/vco.12475 ; Hindriks et al. (2025): https://doi.org/10.1016/j.vetimm.2025.110946 . Nomination rows can represent ambiguous assay families.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Dog data sources and tracked integration</a:t>
            </a:r>
          </a:p>
          <a:p xmlns:a="http://schemas.openxmlformats.org/drawingml/2006/main">
            <a:r>
              <a:t>Source issues https://github.com/pirl-unc/oncoref/issues/574 and https://github.com/pirl-unc/oncoref/issues/585 . Pfizer https://doi.org/10.1038/s41597-026-07512-9 ; DoGA https://doi.org/10.1038/s41467-024-52798-1 ; BarkBase https://pubmed.ncbi.nlm.nih.gov/31181663/ 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Neither can have a simpler definition</a:t>
            </a:r>
          </a:p>
          <a:p xmlns:a="http://schemas.openxmlformats.org/drawingml/2006/main">
            <a:r>
              <a:t>This removes the arbitrary intermediate RNA band. It requires replaying RNA and protein with the same anatomy policy, not only relabeling plots. Missingness and uncertainty remain separate reason/status fields.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Curated oncofetal nominations can mirror CTA curation</a:t>
            </a:r>
          </a:p>
          <a:p xmlns:a="http://schemas.openxmlformats.org/drawingml/2006/main">
            <a:r>
              <a:t>Shaw et al. (2024): https://doi.org/10.1038/s41467-024-47649-y ; TRIM71 study (2024): https://pmc.ncbi.nlm.nih.gov/articles/PMC11388079/ ; Cardoso-Moreira et al. (2019): https://pmc.ncbi.nlm.nih.gov/articles/PMC6658352/ . These newly identified sources are not in current selection counts.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shared audit API across species</a:t>
            </a:r>
          </a:p>
          <a:p xmlns:a="http://schemas.openxmlformats.org/drawingml/2006/main">
            <a:r>
              <a:t>The same schema retains native units, references and evidence gaps. Existing cta_selection.results and cta_selection.sources remain unchanged. Audit sources count published-list contributions; the existing sources function inventories measurement resources.</a:t>
            </a:r>
          </a:p>
          <a:p xmlns:a="http://schemas.openxmlformats.org/drawingml/2006/main">
            <a:r>
              <a:t>Report: https://pirl-unc.github.io/oncoref/audits/cta-release-1.21.0/</a:t>
            </a:r>
          </a:p>
          <a:p xmlns:a="http://schemas.openxmlformats.org/drawingml/2006/main">
            <a:r>
              <a:t>Policy: oncoref.cta-selection.1.21.0</a:t>
            </a:r>
          </a:p>
          <a:p xmlns:a="http://schemas.openxmlformats.org/drawingml/2006/main">
            <a:r>
              <a:t>Frozen decision report SHA256: 79a0247b8c94d853e76a4270a5c93f2d758a879a08f5b9d336c476feddcd2b8f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34562b9c045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0ac218eefa4d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e7725ba8b945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1ede00cb248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2ac69ac10445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3084e61e54d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DDDDB-EFCD-4FDE-8B30-436F726B4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D56639-9AF1-4E58-9A08-530093D2E3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AFEC3B-4C97-42A6-A692-A32AE4A109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76EF05-45A8-42BE-B333-617776A55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88966A-8558-498B-A230-A85C682EA5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0233AD-D859-44D5-A60C-4927E81636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7DD0AF-57E0-4B07-A13F-56B7E28E22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03F762-F96A-4A81-8B63-5014A2D873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B577F3-DB84-465C-8933-A9F3FB2D1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0BF7E2-26C9-4597-B71D-FDC7C3F2F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96bd6b16a54cf8" /><Relationship Type="http://schemas.openxmlformats.org/officeDocument/2006/relationships/slideLayout" Target="/ppt/slideLayouts/slideLayout1.xml" Id="R6e4584198e9d4c4d" /><Relationship Type="http://schemas.openxmlformats.org/officeDocument/2006/relationships/slideLayout" Target="/ppt/slideLayouts/slideLayout2.xml" Id="R130d37aa8d8346bc" /><Relationship Type="http://schemas.openxmlformats.org/officeDocument/2006/relationships/slideLayout" Target="/ppt/slideLayouts/slideLayout3.xml" Id="R419056925ad6425f" /><Relationship Type="http://schemas.openxmlformats.org/officeDocument/2006/relationships/slideLayout" Target="/ppt/slideLayouts/slideLayout4.xml" Id="Rc98049d53e2e4ec2" /><Relationship Type="http://schemas.openxmlformats.org/officeDocument/2006/relationships/slideLayout" Target="/ppt/slideLayouts/slideLayout5.xml" Id="Rd4a9c0f099fb455f" /><Relationship Type="http://schemas.openxmlformats.org/officeDocument/2006/relationships/slideLayout" Target="/ppt/slideLayouts/slideLayout6.xml" Id="Rcbc973a4908f47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4584198e9d4c4d"/>
    <p:sldLayoutId xmlns:r="http://schemas.openxmlformats.org/officeDocument/2006/relationships" id="2147483650" r:id="R130d37aa8d8346bc"/>
    <p:sldLayoutId xmlns:r="http://schemas.openxmlformats.org/officeDocument/2006/relationships" id="2147483651" r:id="R419056925ad6425f"/>
    <p:sldLayoutId xmlns:r="http://schemas.openxmlformats.org/officeDocument/2006/relationships" id="2147483652" r:id="Rc98049d53e2e4ec2"/>
    <p:sldLayoutId xmlns:r="http://schemas.openxmlformats.org/officeDocument/2006/relationships" id="2147483653" r:id="Rd4a9c0f099fb455f"/>
    <p:sldLayoutId xmlns:r="http://schemas.openxmlformats.org/officeDocument/2006/relationships" id="2147483654" r:id="Rcbc973a4908f47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de831b4c44eb6" /><Relationship Type="http://schemas.openxmlformats.org/officeDocument/2006/relationships/notesSlide" Target="/ppt/notesSlides/notesSlide1.xml" Id="Re8d03633f18c40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180b92e5f3463f" /><Relationship Type="http://schemas.openxmlformats.org/officeDocument/2006/relationships/notesSlide" Target="/ppt/notesSlides/notesSlide2.xml" Id="R27917c7a8c3441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a84e271064b05" /><Relationship Type="http://schemas.openxmlformats.org/officeDocument/2006/relationships/image" Target="/ppt/media/image.png" Id="R578d36e0e998472c" /><Relationship Type="http://schemas.openxmlformats.org/officeDocument/2006/relationships/notesSlide" Target="/ppt/notesSlides/notesSlide3.xml" Id="Rf8da9966847544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7f1bfbc7f84b4c" /><Relationship Type="http://schemas.openxmlformats.org/officeDocument/2006/relationships/notesSlide" Target="/ppt/notesSlides/notesSlide4.xml" Id="R35ed3825b1444d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bcd3e95ad74b0b" /><Relationship Type="http://schemas.openxmlformats.org/officeDocument/2006/relationships/notesSlide" Target="/ppt/notesSlides/notesSlide5.xml" Id="R531457cdcd1e41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110930cd5407b" /><Relationship Type="http://schemas.openxmlformats.org/officeDocument/2006/relationships/notesSlide" Target="/ppt/notesSlides/notesSlide6.xml" Id="Rcfd0c7a96f1546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294157ebd24b46" /><Relationship Type="http://schemas.openxmlformats.org/officeDocument/2006/relationships/notesSlide" Target="/ppt/notesSlides/notesSlide7.xml" Id="R18011cd07ce04e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73822158a249ef" /><Relationship Type="http://schemas.openxmlformats.org/officeDocument/2006/relationships/chart" Target="/ppt/slides/charts/chart1.xml" Id="R174a829237d84331" /><Relationship Type="http://schemas.openxmlformats.org/officeDocument/2006/relationships/notesSlide" Target="/ppt/notesSlides/notesSlide8.xml" Id="R616655ec22d744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5fb964a4334c80" /><Relationship Type="http://schemas.openxmlformats.org/officeDocument/2006/relationships/notesSlide" Target="/ppt/notesSlides/notesSlide9.xml" Id="Rf92085c35c6548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ab2d1d228e48a5" /><Relationship Type="http://schemas.openxmlformats.org/officeDocument/2006/relationships/notesSlide" Target="/ppt/notesSlides/notesSlide10.xml" Id="R47de177409de46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732c619524e86" /><Relationship Type="http://schemas.openxmlformats.org/officeDocument/2006/relationships/image" Target="/ppt/media/image2.png" Id="Re71f945b43094e6a" /><Relationship Type="http://schemas.openxmlformats.org/officeDocument/2006/relationships/notesSlide" Target="/ppt/notesSlides/notesSlide11.xml" Id="R2cb595495ba341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57ca685684a26" /><Relationship Type="http://schemas.openxmlformats.org/officeDocument/2006/relationships/notesSlide" Target="/ppt/notesSlides/notesSlide12.xml" Id="R5b9a7af283344c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0c8cc1f5345ce" /><Relationship Type="http://schemas.openxmlformats.org/officeDocument/2006/relationships/notesSlide" Target="/ppt/notesSlides/notesSlide13.xml" Id="R503a629fe9b940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2a3989fa36416d" /><Relationship Type="http://schemas.openxmlformats.org/officeDocument/2006/relationships/notesSlide" Target="/ppt/notesSlides/notesSlide14.xml" Id="R16a9673e3bbf4cb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9da32813ff480d" /><Relationship Type="http://schemas.openxmlformats.org/officeDocument/2006/relationships/notesSlide" Target="/ppt/notesSlides/notesSlide15.xml" Id="R0ec5109a180848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84b88895724608" /><Relationship Type="http://schemas.openxmlformats.org/officeDocument/2006/relationships/notesSlide" Target="/ppt/notesSlides/notesSlide16.xml" Id="Rdd3531efa00647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1b07fc5e4a4979" /><Relationship Type="http://schemas.openxmlformats.org/officeDocument/2006/relationships/notesSlide" Target="/ppt/notesSlides/notesSlide17.xml" Id="R89c3a5acf13e44b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Eligible so far</c:v>
          </c:tx>
          <c:spPr>
            <a:solidFill xmlns:a="http://schemas.openxmlformats.org/drawingml/2006/main">
              <a:srgbClr val="087E8B"/>
            </a:solidFill>
          </c:spPr>
          <c:invertIfNegative val="0"/>
          <c:cat>
            <c:strRef>
              <c:f>'Chart Data'!$A$2:$A$14</c:f>
              <c:strCache>
                <c:ptCount val="13"/>
                <c:pt idx="0">
                  <c:v>External IHC</c:v>
                </c:pt>
                <c:pt idx="1">
                  <c:v>Clinical safety</c:v>
                </c:pt>
                <c:pt idx="2">
                  <c:v>Curated protein</c:v>
                </c:pt>
                <c:pt idx="3">
                  <c:v>Cornea</c:v>
                </c:pt>
                <c:pt idx="4">
                  <c:v>DICE</c:v>
                </c:pt>
                <c:pt idx="5">
                  <c:v>Monaco</c:v>
                </c:pt>
                <c:pt idx="6">
                  <c:v>HPA immune</c:v>
                </c:pt>
                <c:pt idx="7">
                  <c:v>Tissue clusters</c:v>
                </c:pt>
                <c:pt idx="8">
                  <c:v>Bulk RNA</c:v>
                </c:pt>
                <c:pt idx="9">
                  <c:v>Coverage</c:v>
                </c:pt>
                <c:pt idx="10">
                  <c:v>HPA protein</c:v>
                </c:pt>
                <c:pt idx="11">
                  <c:v>Tumor</c:v>
                </c:pt>
                <c:pt idx="12">
                  <c:v>Association</c:v>
                </c:pt>
              </c:strCache>
            </c:strRef>
          </c:cat>
          <c:val>
            <c:numRef>
              <c:f>'Chart Data'!$B$2:$B$14</c:f>
              <c:numCache>
                <c:formatCode>General</c:formatCode>
                <c:ptCount val="13"/>
                <c:pt idx="0">
                  <c:v>463</c:v>
                </c:pt>
                <c:pt idx="1">
                  <c:v>463</c:v>
                </c:pt>
                <c:pt idx="2">
                  <c:v>463</c:v>
                </c:pt>
                <c:pt idx="3">
                  <c:v>464</c:v>
                </c:pt>
                <c:pt idx="4">
                  <c:v>468</c:v>
                </c:pt>
                <c:pt idx="5">
                  <c:v>489</c:v>
                </c:pt>
                <c:pt idx="6">
                  <c:v>500</c:v>
                </c:pt>
                <c:pt idx="7">
                  <c:v>508</c:v>
                </c:pt>
                <c:pt idx="8">
                  <c:v>904</c:v>
                </c:pt>
                <c:pt idx="9">
                  <c:v>3192</c:v>
                </c:pt>
                <c:pt idx="10">
                  <c:v>3282</c:v>
                </c:pt>
                <c:pt idx="11">
                  <c:v>12132</c:v>
                </c:pt>
                <c:pt idx="12">
                  <c:v>12139</c:v>
                </c:pt>
              </c:numCache>
            </c:numRef>
          </c:val>
        </c:ser>
        <c:ser>
          <c:idx val="1"/>
          <c:order val="1"/>
          <c:tx>
            <c:v>Unsafe</c:v>
          </c:tx>
          <c:spPr>
            <a:solidFill xmlns:a="http://schemas.openxmlformats.org/drawingml/2006/main">
              <a:srgbClr val="AC493B"/>
            </a:solidFill>
          </c:spPr>
          <c:invertIfNegative val="0"/>
          <c:cat>
            <c:strRef>
              <c:f>'Chart Data'!$C$2:$C$14</c:f>
              <c:strCache>
                <c:ptCount val="13"/>
                <c:pt idx="0">
                  <c:v>External IHC</c:v>
                </c:pt>
                <c:pt idx="1">
                  <c:v>Clinical safety</c:v>
                </c:pt>
                <c:pt idx="2">
                  <c:v>Curated protein</c:v>
                </c:pt>
                <c:pt idx="3">
                  <c:v>Cornea</c:v>
                </c:pt>
                <c:pt idx="4">
                  <c:v>DICE</c:v>
                </c:pt>
                <c:pt idx="5">
                  <c:v>Monaco</c:v>
                </c:pt>
                <c:pt idx="6">
                  <c:v>HPA immune</c:v>
                </c:pt>
                <c:pt idx="7">
                  <c:v>Tissue clusters</c:v>
                </c:pt>
                <c:pt idx="8">
                  <c:v>Bulk RNA</c:v>
                </c:pt>
                <c:pt idx="9">
                  <c:v>Coverage</c:v>
                </c:pt>
                <c:pt idx="10">
                  <c:v>HPA protein</c:v>
                </c:pt>
                <c:pt idx="11">
                  <c:v>Tumor</c:v>
                </c:pt>
                <c:pt idx="12">
                  <c:v>Association</c:v>
                </c:pt>
              </c:strCache>
            </c:strRef>
          </c:cat>
          <c:val>
            <c:numRef>
              <c:f>'Chart Data'!$D$2:$D$14</c:f>
              <c:numCache>
                <c:formatCode>General</c:formatCode>
                <c:ptCount val="13"/>
                <c:pt idx="0">
                  <c:v>17388</c:v>
                </c:pt>
                <c:pt idx="1">
                  <c:v>17388</c:v>
                </c:pt>
                <c:pt idx="2">
                  <c:v>17387</c:v>
                </c:pt>
                <c:pt idx="3">
                  <c:v>17383</c:v>
                </c:pt>
                <c:pt idx="4">
                  <c:v>17369</c:v>
                </c:pt>
                <c:pt idx="5">
                  <c:v>17308</c:v>
                </c:pt>
                <c:pt idx="6">
                  <c:v>17273</c:v>
                </c:pt>
                <c:pt idx="7">
                  <c:v>17242</c:v>
                </c:pt>
                <c:pt idx="8">
                  <c:v>15870</c:v>
                </c:pt>
                <c:pt idx="9">
                  <c:v>10172</c:v>
                </c:pt>
                <c:pt idx="10">
                  <c:v>10172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2"/>
          <c:order val="2"/>
          <c:tx>
            <c:v>Neither</c:v>
          </c:tx>
          <c:spPr>
            <a:solidFill xmlns:a="http://schemas.openxmlformats.org/drawingml/2006/main">
              <a:srgbClr val="BEA477"/>
            </a:solidFill>
          </c:spPr>
          <c:invertIfNegative val="0"/>
          <c:cat>
            <c:strRef>
              <c:f>'Chart Data'!$E$2:$E$14</c:f>
              <c:strCache>
                <c:ptCount val="13"/>
                <c:pt idx="0">
                  <c:v>External IHC</c:v>
                </c:pt>
                <c:pt idx="1">
                  <c:v>Clinical safety</c:v>
                </c:pt>
                <c:pt idx="2">
                  <c:v>Curated protein</c:v>
                </c:pt>
                <c:pt idx="3">
                  <c:v>Cornea</c:v>
                </c:pt>
                <c:pt idx="4">
                  <c:v>DICE</c:v>
                </c:pt>
                <c:pt idx="5">
                  <c:v>Monaco</c:v>
                </c:pt>
                <c:pt idx="6">
                  <c:v>HPA immune</c:v>
                </c:pt>
                <c:pt idx="7">
                  <c:v>Tissue clusters</c:v>
                </c:pt>
                <c:pt idx="8">
                  <c:v>Bulk RNA</c:v>
                </c:pt>
                <c:pt idx="9">
                  <c:v>Coverage</c:v>
                </c:pt>
                <c:pt idx="10">
                  <c:v>HPA protein</c:v>
                </c:pt>
                <c:pt idx="11">
                  <c:v>Tumor</c:v>
                </c:pt>
                <c:pt idx="12">
                  <c:v>Association</c:v>
                </c:pt>
              </c:strCache>
            </c:strRef>
          </c:cat>
          <c:val>
            <c:numRef>
              <c:f>'Chart Data'!$F$2:$F$14</c:f>
              <c:numCache>
                <c:formatCode>General</c:formatCode>
                <c:ptCount val="13"/>
                <c:pt idx="0">
                  <c:v>2012</c:v>
                </c:pt>
                <c:pt idx="1">
                  <c:v>2012</c:v>
                </c:pt>
                <c:pt idx="2">
                  <c:v>2013</c:v>
                </c:pt>
                <c:pt idx="3">
                  <c:v>2016</c:v>
                </c:pt>
                <c:pt idx="4">
                  <c:v>2026</c:v>
                </c:pt>
                <c:pt idx="5">
                  <c:v>2066</c:v>
                </c:pt>
                <c:pt idx="6">
                  <c:v>2090</c:v>
                </c:pt>
                <c:pt idx="7">
                  <c:v>2113</c:v>
                </c:pt>
                <c:pt idx="8">
                  <c:v>3089</c:v>
                </c:pt>
                <c:pt idx="9">
                  <c:v>6499</c:v>
                </c:pt>
                <c:pt idx="10">
                  <c:v>6409</c:v>
                </c:pt>
                <c:pt idx="11">
                  <c:v>7731</c:v>
                </c:pt>
                <c:pt idx="12">
                  <c:v>7724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B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73B55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C4368-732D-4B55-9DD9-70B24800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SOURCES AND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3A230-4B7D-4D81-8D10-BC66ECBE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Human and dog CTA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334EB-EDFB-4F57-BC9E-559A47A3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DE4FA-1C9F-4E13-BD70-6DC7D66E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F4507-04F7-41F8-AA72-D21B8E7A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463 human CTA groups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85D83-BEA1-482B-9EDF-209A6FFA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481 loci   /   17,388 Unsafe groups   /   2,012 Neither groups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D4490-ECD6-4F7E-A2DE-BE2FF4FB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Dog: 14 native nominations, quantitative selection unassessed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597FE-1CBD-4EED-8C1B-300502FE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Source contributions, overlaps, measured contexts and explicitly labeled policy comparisons.</a:t>
            </a:r>
          </a:p>
        </p:txBody>
      </p:sp>
    </p:spTree>
    <p:extLst>
      <p:ext uri="{BB962C8B-B14F-4D97-AF65-F5344CB8AC3E}">
        <p14:creationId xmlns:p14="http://schemas.microsoft.com/office/powerpoint/2010/main" val="118592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3C350-74DF-44BA-8DA1-5B503B77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NOMINATIONS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9B243-08DD-49CB-A92B-6EA4C3CA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Published candidate lists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A3147-DE30-4D8A-99FC-7CAB5E73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E362F-CE1C-49ED-89AD-F848C577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DC97B-2ED5-44D7-B21B-2D3FF8AD70C2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714500"/>
                <a:gridCol w="1619250"/>
                <a:gridCol w="1714500"/>
                <a:gridCol w="1733550"/>
              </a:tblGrid>
              <a:tr h="285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Paper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Unsafe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Neither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 Silva et al. (2017)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1,017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356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385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Wang et al. (2016)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Chang et al. (2019)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Gong et al. (2021)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729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Bruggeman et al. (2018)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622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Jamin et al. (2021)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412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Loriot et al. (2025)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Carter et al. (2023)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Seager et al. (2024)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Bradley et al. (2020)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Bai et al. (2016)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Garg et al. (2007)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Boël et al. (1995)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8AB93-0F27-408D-9ACE-4F720496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Union: 2,482 groups / 2,538 loci. 418 selected groups have an annotation; 45 do not.</a:t>
            </a:r>
          </a:p>
        </p:txBody>
      </p:sp>
    </p:spTree>
    <p:extLst>
      <p:ext uri="{BB962C8B-B14F-4D97-AF65-F5344CB8AC3E}">
        <p14:creationId xmlns:p14="http://schemas.microsoft.com/office/powerpoint/2010/main" val="482089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F6099-A9E3-4012-8A15-CA6B4E62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NOMINATIONS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55E3A-33C3-4E21-AF61-BD9F8AAD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How published lists overlap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26D93-70D0-4933-AC0C-97CE75B8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9EB32-61B5-4DEF-BF95-6336A03C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EEBA1-D2D4-423F-BA78-1F30F1D833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d36e0e998472c"/>
          <a:stretch xmlns:a="http://schemas.openxmlformats.org/drawingml/2006/main"/>
        </p:blipFill>
        <p:spPr>
          <a:xfrm xmlns:a="http://schemas.openxmlformats.org/drawingml/2006/main">
            <a:off x="1333500" y="1447800"/>
            <a:ext cx="9525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01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2CB84-B1C4-4D9F-9F47-18D924CD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POSITIVE EXPRESSION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20583-1DA6-43F5-9466-EF46ECF8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Why 12,139 groups enter the funnel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44941-A38D-4F54-9584-51202972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33B15-B8FD-4470-B249-A5BF3592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25409-64DE-40F5-AC4D-1813F2F33255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2533650"/>
                <a:gridCol w="253365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Qualifying route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Entrants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Reproductive only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1,231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Developmental only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9,481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Both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1,427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12,139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35D05-8A89-41F6-A467-4FD90C84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Whole-reference RNA measurements create this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BF847-1153-44E4-9F90-AFE9A52B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One early embryo supplies the developmental route. Later fetal atlases remain outside the current policy.</a:t>
            </a:r>
          </a:p>
        </p:txBody>
      </p:sp>
    </p:spTree>
    <p:extLst>
      <p:ext uri="{BB962C8B-B14F-4D97-AF65-F5344CB8AC3E}">
        <p14:creationId xmlns:p14="http://schemas.microsoft.com/office/powerpoint/2010/main" val="794977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6098E-E73B-426C-989B-698C51B0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D0E16-F9FB-4734-BEFF-0F82B2C3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Normal and cancer expression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1609F-DA48-4D98-A951-01C683BA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FFD51-1EF3-4A44-AF8F-B307CCCA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7FBA8-3DDA-4B99-9889-3AC05F733CEC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429250"/>
                <a:gridCol w="2590800"/>
              </a:tblGrid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Quantity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/ reproductive bulk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consensus with GTEx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tissue-cell clusters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tissue clusters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nTPM with read support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immune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/ Monaco / original DICE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nTPM /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Adult cornea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Collin et al., GSE155683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CP10K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+ curated external IHC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Staining and reagent confidence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Cancer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132 compatible OncoRef cohort views + HPA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TPM / protein-coding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Developmental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Tyser et al. (2021), one embryo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Lineage mean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FA124-BA77-49D8-B80C-AA7DA7C0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14,452 namespace-deduplicated tumor sample IDs. Patient independence and source overlap remain explicit.</a:t>
            </a:r>
          </a:p>
        </p:txBody>
      </p:sp>
    </p:spTree>
    <p:extLst>
      <p:ext uri="{BB962C8B-B14F-4D97-AF65-F5344CB8AC3E}">
        <p14:creationId xmlns:p14="http://schemas.microsoft.com/office/powerpoint/2010/main" val="838174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1365D-DDDF-469F-A5F3-9DCC0F27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RELEASED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0F1B9-32F1-4AA7-8473-503853B4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Active RNA cutoffs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FE6E8-6553-4DCA-8B70-A2CE6500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7E0BE-766B-4042-AE9F-E378C15E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FC45B-5795-4394-B2F4-62A12EE6941D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238375"/>
                <a:gridCol w="1828800"/>
                <a:gridCol w="1828800"/>
                <a:gridCol w="1838325"/>
              </a:tblGrid>
              <a:tr h="5905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 ceiling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Unmatched IHC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Enhanced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Vital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Protected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Manageable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Specified bowel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28DD5-F3CA-4E7E-94BB-DFBC3094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Above ceiling: hold. At least 2× ceiling: Unsafe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ABAEE-26EA-49EB-B0B5-1192AFAF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Negative-IHC credit requires verified tissue/cell coverage. Same-tissue staining alone cannot establish that match.</a:t>
            </a:r>
          </a:p>
        </p:txBody>
      </p:sp>
    </p:spTree>
    <p:extLst>
      <p:ext uri="{BB962C8B-B14F-4D97-AF65-F5344CB8AC3E}">
        <p14:creationId xmlns:p14="http://schemas.microsoft.com/office/powerpoint/2010/main" val="1876311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9E4D9-D9DD-4A0F-8CB2-561C2C59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RELEASED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D1E2B-C2EC-472F-8342-DFAB0114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Rules applied before final assignment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A364F-5EF6-4F74-A880-AD6754C4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DF669-8286-49A0-AA6A-8E90DBEA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C7B07-159A-48A3-9764-F949ECD2811F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96300"/>
              </a:tblGrid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Gate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rule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Positive context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Reproductive ≥5 nTPM and &gt; adult maximum, OR supported embryonic mean ≥5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Tumor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≥2 TPM / pTPM in at least one compatible sample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Coverage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bulk / cell / immune panels. DICE and cornea optional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RNA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Tissue- and IHC-dependent ceilings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 retains a flag. Accepted stronger positive evidence excludes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decision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Unsafe evidence takes precedence. Remaining holds give Neither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0C4E2-F995-405C-9C18-A7DB0EC6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These are active research-policy cutoffs. Adult normal panels do not establish pediatric safety.</a:t>
            </a:r>
          </a:p>
        </p:txBody>
      </p:sp>
    </p:spTree>
    <p:extLst>
      <p:ext uri="{BB962C8B-B14F-4D97-AF65-F5344CB8AC3E}">
        <p14:creationId xmlns:p14="http://schemas.microsoft.com/office/powerpoint/2010/main" val="16558803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2D978-A84A-4E18-95C6-29966D2A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6D99B-9EF4-447E-B834-53954AE8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Every filtering layer can contribute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7DA88-F724-4C3C-A663-EF2E7428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E2775-8A39-4F88-8495-4ECF07D8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DF47CFD-CFB9-4CDD-9944-AB9EFC4E9D85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4a829237d8433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E7BE7-3563-411D-A165-71A8B233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19,863 groups at every stage. Final: 463 CTA / 17,388 Unsafe / 2,012 Neither.</a:t>
            </a:r>
          </a:p>
        </p:txBody>
      </p:sp>
    </p:spTree>
    <p:extLst>
      <p:ext uri="{BB962C8B-B14F-4D97-AF65-F5344CB8AC3E}">
        <p14:creationId xmlns:p14="http://schemas.microsoft.com/office/powerpoint/2010/main" val="13482805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CB1D4-1F65-4589-9A06-1B37FEA7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D7215-6CA2-402C-AC18-ADD83896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Counts at each filtering choice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A27C1-CCAB-45D3-939A-AB943ABF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58943-C539-4C37-9596-655FD6D5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F80A7-03E7-47D1-832E-9DE9BC8B8730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2095500"/>
                <a:gridCol w="1590675"/>
                <a:gridCol w="1905000"/>
                <a:gridCol w="1905000"/>
              </a:tblGrid>
              <a:tr h="29255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Removed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Eligible*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Unsafe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Neither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Association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7,724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12,139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7,724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Tumor ≥2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12,132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7,731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8,850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3,282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10,172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6,409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coverage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3,192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10,172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6,499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bulk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2,288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904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15,870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3,089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tissue clusters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17,242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2,113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immune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17,273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2,090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Monaco immune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489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17,308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2,066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DICE immune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17,369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2,026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Adult cornea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17,383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2,016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Curated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17,387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2,013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Clinical safety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17,388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2,012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External IHC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17,388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2,012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7F3F6-E78B-4190-970D-E8FB3652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*Eligible so far until the final row. Later evidence can change Neither to Unsafe.</a:t>
            </a:r>
          </a:p>
        </p:txBody>
      </p:sp>
    </p:spTree>
    <p:extLst>
      <p:ext uri="{BB962C8B-B14F-4D97-AF65-F5344CB8AC3E}">
        <p14:creationId xmlns:p14="http://schemas.microsoft.com/office/powerpoint/2010/main" val="3742679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7EF9D-9411-44BC-A58D-B5D27D9D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CURRENT ASSIGNMENTS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34EA9-E078-4C63-8F1B-8BB98562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Widely studied antigens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5E403-2301-4963-9C75-702BC62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85478-FFDD-406A-B32B-A5F27DB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26EE8-3D41-46B9-817A-B48921C42C23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524000"/>
                <a:gridCol w="7162800"/>
              </a:tblGrid>
              <a:tr h="2925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Antigen / group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Decision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Reason / retained context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PAGE1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Passes all current gates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SMC1B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Passes all current gates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CTAG2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Unsafe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Bronchial basal cells 24.9 nTPM, Unsafe boundary 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MAGE-A4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Passes all current gates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TBXT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Embryonic 245.1 TPM. Adult-disc / IHC review retained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PRAME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Adrenal 3.6, heart fibroblasts 12, colon cells 20.3 nTPM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MAGE-A1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Neither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Reproductive 4.4 nTPM is below association floor 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CT83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Quantitative gates pass. External-IHC review retained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MAGE-A12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Unsafe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Reviewed clinical injury with attribution uncertainty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MAGE-A3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Neither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Colon undifferentiated cells 53.1 nTPM, ceiling 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NY-ESO-1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Passes all current gates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SSX2/B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Passes all current gates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9255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XAGE1A/B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Passes all current gates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AF643-18D2-404B-A842-7ED1B2C4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Known CTA loci receive current decisions: 162 CTA / 16 Unsafe / 35 Neither.</a:t>
            </a:r>
          </a:p>
        </p:txBody>
      </p:sp>
    </p:spTree>
    <p:extLst>
      <p:ext uri="{BB962C8B-B14F-4D97-AF65-F5344CB8AC3E}">
        <p14:creationId xmlns:p14="http://schemas.microsoft.com/office/powerpoint/2010/main" val="1714135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C4F64-2BA5-4A01-A6A5-E2B731F2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WIDELY STUDIED ANTIGENS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01B6B-344B-4F31-9AD8-F30524D9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Reproductive and developmental expression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96C01-928A-4CFA-9570-31438AD3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7A98A-E5C6-4385-A829-100B534E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9150B-BD7D-44BE-9AA9-9B29CCEBE1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f945b43094e6a"/>
          <a:stretch xmlns:a="http://schemas.openxmlformats.org/drawingml/2006/main"/>
        </p:blipFill>
        <p:spPr>
          <a:xfrm xmlns:a="http://schemas.openxmlformats.org/drawingml/2006/main">
            <a:off x="1295400" y="1409700"/>
            <a:ext cx="9601200" cy="4800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170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FE055-FDE5-44F9-B462-7AE4866D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CELL-TYPE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D13F2-5B24-4C34-95F8-D741ACD5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PRAME has colon IHC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49DCB-CDE1-4234-B72B-0FF7A79C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B5A7E-C76B-421A-A50E-443FF94C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E40B3-5DD3-4D41-9CE8-E37E7EA7353D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067550"/>
              </a:tblGrid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evidence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Colon RNA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Undifferentiated cells: 20.3 nTPM, 96 reads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Colon IHC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Enhanced Not detected: glandular, endothelial, nerve/ganglion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ceiling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 without matched negative-IHC credit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Bowel moved to Manageable 16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PRAME would become Neither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Matched negative IHC, if verified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Approved would give 32; Enhanced would give 128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D2F56-CC7A-4261-9B67-931C044E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Same-tissue negatives are retained. Assigning cell-type coverage requires a supported anatomical match.</a:t>
            </a:r>
          </a:p>
        </p:txBody>
      </p:sp>
    </p:spTree>
    <p:extLst>
      <p:ext uri="{BB962C8B-B14F-4D97-AF65-F5344CB8AC3E}">
        <p14:creationId xmlns:p14="http://schemas.microsoft.com/office/powerpoint/2010/main" val="12172061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2ACDC-4C77-4DA3-B394-0BC01223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DOG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063F1-948F-4E42-99DA-A0A6CC4D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Dog nominations and funnel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86C5B-43F1-4A5E-994B-ECE9D2B6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62DB0-DA84-4D2B-A143-CD818ECD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312E8-FFB6-47E5-AEFC-D6690D934D37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/ gap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nominations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Nemec 5 + Hindriks 10 − shared NT5C1B 1 = 14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Identity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 unique nominations, one ambiguous MAGE family assay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/ developmental RNA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matrices available. Reference / scale reconciliation needed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Tumor RNA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GSE304066 count/FPKM and annotation conflicts unresolved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 study IHC and pooled Pfizer iBAQ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Quantitative selection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Unassessed. All 14 nominations remain Neither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1F96A-060F-49C4-B373-E38106C8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No genome-wide canine CTA or Unsafe count has been established.</a:t>
            </a:r>
          </a:p>
        </p:txBody>
      </p:sp>
    </p:spTree>
    <p:extLst>
      <p:ext uri="{BB962C8B-B14F-4D97-AF65-F5344CB8AC3E}">
        <p14:creationId xmlns:p14="http://schemas.microsoft.com/office/powerpoint/2010/main" val="10004320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3F943-8D21-4D25-B443-A7D594BF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DOG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DC575-A132-4A56-AB0A-EAD44831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Dog data sources and tracked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B9D29-2531-40B2-AA7B-71AEA81E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90677-6B36-4EDD-BE81-516A7F9C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E9686-3A47-4F9B-AA99-F704A40F48C8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547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and status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/ developmental RNA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Bgee native TPM; BarkBase 37,149 features × 150 TMM-CPM columns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Additional RNA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DoGA and Pfizer RNA: metadata registered, full matrices not integrated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Tumor cohorts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GSE304066 provenance blocked; more cohorts tracked in #574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MS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Pfizer 9,929 reported groups × 38 tissue pools; integration #585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IHC / cell atlases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 study IHC. Systematic IHC and cell coverage remain gaps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9A7F0-427F-4A11-8991-632FD0EE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46 Bgee/BarkBase libraries overlap. Pooled MS cannot identify individual donors or cell types.</a:t>
            </a:r>
          </a:p>
        </p:txBody>
      </p:sp>
    </p:spTree>
    <p:extLst>
      <p:ext uri="{BB962C8B-B14F-4D97-AF65-F5344CB8AC3E}">
        <p14:creationId xmlns:p14="http://schemas.microsoft.com/office/powerpoint/2010/main" val="17921382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632FB-8920-4AC1-89CB-FAC001AB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PROPOSED POLICY, NOT RELEASED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1FD25-B469-4F67-AE8C-F01D5D2E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Neither can have a simpler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F24B4-44F5-4D54-844A-E57B52C1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0BDF1-A49D-4A2C-A4A5-2DEE4A16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9102B-6543-48FC-BF0E-8A489394D038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591550"/>
              </a:tblGrid>
              <a:tr h="7381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meaning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Unsafe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Credible expression above the single vital/protected cutoff, or accepted clinical harm evidence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 / oncofetal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Tumor + permitted-context association + adequate coverage + acceptable normal expression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Neither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tumor or association, low expression, other-compartment expression, or unresolved evidence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648CC-CE11-4A35-AE63-198F250A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A missing measurement differs from a low measurement. Every layer still evaluates every gene.</a:t>
            </a:r>
          </a:p>
        </p:txBody>
      </p:sp>
    </p:spTree>
    <p:extLst>
      <p:ext uri="{BB962C8B-B14F-4D97-AF65-F5344CB8AC3E}">
        <p14:creationId xmlns:p14="http://schemas.microsoft.com/office/powerpoint/2010/main" val="13071703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3D704-DFF4-4955-AE50-135C133F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DEVELOPMENTAL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DD5E2-374A-4219-9B35-3DFA7A8D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Curated oncofetal nominations can mirror CTA curation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83B55-1700-4C9D-941F-C12D53F7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E85C1-5764-4535-BA56-5BE3D3E8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400AE-4950-4839-8875-7272E1C43B8B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Contribution and scope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Shaw et al. (2024)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157 cancer-specific targets, six oncofetal annotations. Retain exon-specific FN1/TNC scope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TRIM71 liver study (2024)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Top-200 oncofetal expression signature. Liver-specific comparison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Cardoso-Moreira et al. (2019)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Seven-organ developmental trajectories with child/adult measurements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Tyser route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embryonic expression. Does not itself establish restriction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8C922-C96A-462C-B142-A4B46BE0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Published nominations still need independent normal/tumor filtering and explicit postnatal coverage.</a:t>
            </a:r>
          </a:p>
        </p:txBody>
      </p:sp>
    </p:spTree>
    <p:extLst>
      <p:ext uri="{BB962C8B-B14F-4D97-AF65-F5344CB8AC3E}">
        <p14:creationId xmlns:p14="http://schemas.microsoft.com/office/powerpoint/2010/main" val="24295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63067-50FD-474B-ADC9-913B0B70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2BEAD-342B-4BF6-9882-9182CA4F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A shared audit API across species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070A9-319C-4FD8-850E-D3BC6766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1.21.0 evidence walkthrough   •   28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453AC-4632-420B-BA89-AE72A059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A1262-C8E5-44F0-8A4A-34017032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audit = cta_selection.audit(species="human")</a:t>
            </a:r>
          </a:p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audit.sources     audit.overlaps     audit.funnel</a:t>
            </a:r>
          </a:p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audit.criteria    audit.explain("CTAG2")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976A6-D111-4178-9A74-A0CE1391DE59}"/>
              </a:ext>
            </a:extLst>
          </p:cNvPr>
          <p:cNvGraphicFramePr/>
          <p:nvPr/>
        </p:nvGraphicFramePr>
        <p:xfrm>
          <a:off xmlns:a="http://schemas.openxmlformats.org/drawingml/2006/main" x="609600" y="3714750"/>
          <a:ext xmlns:a="http://schemas.openxmlformats.org/drawingml/2006/main" cx="10972800" cy="1828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782050"/>
              </a:tblGrid>
              <a:tr h="457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Species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Human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Released decisions with detailed measured contexts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Dog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nominations and explicit unassessed stages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Mouse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Stable schema with unavailable curation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E7C27-A3EB-4A93-93A2-1B846688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Offline, checksum-verified tables. Human RNA cutoffs do not transfer by orthology.</a:t>
            </a:r>
          </a:p>
        </p:txBody>
      </p:sp>
    </p:spTree>
    <p:extLst>
      <p:ext uri="{BB962C8B-B14F-4D97-AF65-F5344CB8AC3E}">
        <p14:creationId xmlns:p14="http://schemas.microsoft.com/office/powerpoint/2010/main" val="1407568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2026-10-28T15:35:52.5910000Z</dcterms:created>
  <dcterms:modified xsi:type="dcterms:W3CDTF">2026-10-28T15:35:52.5910000Z</dcterms:modified>
</coreProperties>
</file>