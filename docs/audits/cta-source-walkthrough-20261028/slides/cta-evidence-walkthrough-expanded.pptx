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slides/charts/chart1.xml" ContentType="application/vnd.openxmlformats-officedocument.drawingml.chart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b625f404e104cfc" /><Relationship Type="http://schemas.openxmlformats.org/officeDocument/2006/relationships/extended-properties" Target="/docProps/app.xml" Id="R42a1024320a342a2" /><Relationship Type="http://schemas.openxmlformats.org/officeDocument/2006/relationships/officeDocument" Target="/ppt/presentation.xml" Id="R15f9c03e41ec4b1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0e09b25ec574b00"/>
  </p:sldMasterIdLst>
  <p:notesMasterIdLst>
    <p:notesMasterId xmlns:r="http://schemas.openxmlformats.org/officeDocument/2006/relationships" r:id="Raf8bbf5001cc49d9"/>
  </p:notesMasterIdLst>
  <p:sldIdLst>
    <p:sldId xmlns:r="http://schemas.openxmlformats.org/officeDocument/2006/relationships" id="256" r:id="Rf8d38ffe45e64910"/>
    <p:sldId xmlns:r="http://schemas.openxmlformats.org/officeDocument/2006/relationships" id="257" r:id="R2e385352fdfd43e9"/>
    <p:sldId xmlns:r="http://schemas.openxmlformats.org/officeDocument/2006/relationships" id="258" r:id="R8d3db62066ac4744"/>
    <p:sldId xmlns:r="http://schemas.openxmlformats.org/officeDocument/2006/relationships" id="259" r:id="Rc7af1aa2a0bf4433"/>
    <p:sldId xmlns:r="http://schemas.openxmlformats.org/officeDocument/2006/relationships" id="260" r:id="Re4a653b3b4e0448e"/>
    <p:sldId xmlns:r="http://schemas.openxmlformats.org/officeDocument/2006/relationships" id="261" r:id="R0132a5f67f4441ea"/>
    <p:sldId xmlns:r="http://schemas.openxmlformats.org/officeDocument/2006/relationships" id="262" r:id="Reab5f50e54684366"/>
    <p:sldId xmlns:r="http://schemas.openxmlformats.org/officeDocument/2006/relationships" id="263" r:id="Rc1a1926e09ad489c"/>
    <p:sldId xmlns:r="http://schemas.openxmlformats.org/officeDocument/2006/relationships" id="264" r:id="Rf202725b55ef4799"/>
    <p:sldId xmlns:r="http://schemas.openxmlformats.org/officeDocument/2006/relationships" id="265" r:id="Rd364076162e84712"/>
    <p:sldId xmlns:r="http://schemas.openxmlformats.org/officeDocument/2006/relationships" id="266" r:id="R0070d12018784428"/>
    <p:sldId xmlns:r="http://schemas.openxmlformats.org/officeDocument/2006/relationships" id="267" r:id="R5e28a8378c7f4da4"/>
    <p:sldId xmlns:r="http://schemas.openxmlformats.org/officeDocument/2006/relationships" id="268" r:id="R2140a946ba6c4963"/>
    <p:sldId xmlns:r="http://schemas.openxmlformats.org/officeDocument/2006/relationships" id="269" r:id="Rd4cb3606f0ed4274"/>
    <p:sldId xmlns:r="http://schemas.openxmlformats.org/officeDocument/2006/relationships" id="270" r:id="Recce3694fac948bf"/>
    <p:sldId xmlns:r="http://schemas.openxmlformats.org/officeDocument/2006/relationships" id="271" r:id="R3b2972f6b3cc4902"/>
    <p:sldId xmlns:r="http://schemas.openxmlformats.org/officeDocument/2006/relationships" id="272" r:id="Rb2d6c36b9df04638"/>
    <p:sldId xmlns:r="http://schemas.openxmlformats.org/officeDocument/2006/relationships" id="273" r:id="R776573b02ea14647"/>
    <p:sldId xmlns:r="http://schemas.openxmlformats.org/officeDocument/2006/relationships" id="274" r:id="Rf210a63a2aaa48cb"/>
    <p:sldId xmlns:r="http://schemas.openxmlformats.org/officeDocument/2006/relationships" id="275" r:id="R8e9c27f51a584e8d"/>
    <p:sldId xmlns:r="http://schemas.openxmlformats.org/officeDocument/2006/relationships" id="276" r:id="Rc12e92f4133c4538"/>
    <p:sldId xmlns:r="http://schemas.openxmlformats.org/officeDocument/2006/relationships" id="277" r:id="R4911eaaba57440f1"/>
    <p:sldId xmlns:r="http://schemas.openxmlformats.org/officeDocument/2006/relationships" id="278" r:id="R8d3d58d7f4bd4bc4"/>
    <p:sldId xmlns:r="http://schemas.openxmlformats.org/officeDocument/2006/relationships" id="279" r:id="Rcf7d5a7af8bf4d55"/>
    <p:sldId xmlns:r="http://schemas.openxmlformats.org/officeDocument/2006/relationships" id="280" r:id="Rf9c616153d754fd0"/>
    <p:sldId xmlns:r="http://schemas.openxmlformats.org/officeDocument/2006/relationships" id="281" r:id="Rc4903297af144df4"/>
    <p:sldId xmlns:r="http://schemas.openxmlformats.org/officeDocument/2006/relationships" id="282" r:id="R334d62288fa24a10"/>
    <p:sldId xmlns:r="http://schemas.openxmlformats.org/officeDocument/2006/relationships" id="283" r:id="R1aece8c6a79f4503"/>
    <p:sldId xmlns:r="http://schemas.openxmlformats.org/officeDocument/2006/relationships" id="284" r:id="R1ef12066a6f24aab"/>
    <p:sldId xmlns:r="http://schemas.openxmlformats.org/officeDocument/2006/relationships" id="285" r:id="R5de0547f7377454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48cbdea93bb4c1f" /><Relationship Type="http://schemas.openxmlformats.org/officeDocument/2006/relationships/slideMaster" Target="/ppt/slideMasters/slideMaster1.xml" Id="Rd0e09b25ec574b00" /><Relationship Type="http://schemas.openxmlformats.org/officeDocument/2006/relationships/notesMaster" Target="/ppt/notesMasters/notesMaster1.xml" Id="Raf8bbf5001cc49d9" /><Relationship Type="http://schemas.openxmlformats.org/officeDocument/2006/relationships/presProps" Target="/ppt/presProps.xml" Id="Ra584b2382f2141de" /><Relationship Type="http://schemas.openxmlformats.org/officeDocument/2006/relationships/tableStyles" Target="/ppt/tableStyles.xml" Id="R6fffc28f43084b91" /><Relationship Type="http://schemas.openxmlformats.org/officeDocument/2006/relationships/slide" Target="/ppt/slides/slide1.xml" Id="Rf8d38ffe45e64910" /><Relationship Type="http://schemas.openxmlformats.org/officeDocument/2006/relationships/slide" Target="/ppt/slides/slide2.xml" Id="R2e385352fdfd43e9" /><Relationship Type="http://schemas.openxmlformats.org/officeDocument/2006/relationships/slide" Target="/ppt/slides/slide3.xml" Id="R8d3db62066ac4744" /><Relationship Type="http://schemas.openxmlformats.org/officeDocument/2006/relationships/slide" Target="/ppt/slides/slide4.xml" Id="Rc7af1aa2a0bf4433" /><Relationship Type="http://schemas.openxmlformats.org/officeDocument/2006/relationships/slide" Target="/ppt/slides/slide5.xml" Id="Re4a653b3b4e0448e" /><Relationship Type="http://schemas.openxmlformats.org/officeDocument/2006/relationships/slide" Target="/ppt/slides/slide6.xml" Id="R0132a5f67f4441ea" /><Relationship Type="http://schemas.openxmlformats.org/officeDocument/2006/relationships/slide" Target="/ppt/slides/slide7.xml" Id="Reab5f50e54684366" /><Relationship Type="http://schemas.openxmlformats.org/officeDocument/2006/relationships/slide" Target="/ppt/slides/slide8.xml" Id="Rc1a1926e09ad489c" /><Relationship Type="http://schemas.openxmlformats.org/officeDocument/2006/relationships/slide" Target="/ppt/slides/slide9.xml" Id="Rf202725b55ef4799" /><Relationship Type="http://schemas.openxmlformats.org/officeDocument/2006/relationships/slide" Target="/ppt/slides/slide10.xml" Id="Rd364076162e84712" /><Relationship Type="http://schemas.openxmlformats.org/officeDocument/2006/relationships/slide" Target="/ppt/slides/slide11.xml" Id="R0070d12018784428" /><Relationship Type="http://schemas.openxmlformats.org/officeDocument/2006/relationships/slide" Target="/ppt/slides/slide12.xml" Id="R5e28a8378c7f4da4" /><Relationship Type="http://schemas.openxmlformats.org/officeDocument/2006/relationships/slide" Target="/ppt/slides/slide13.xml" Id="R2140a946ba6c4963" /><Relationship Type="http://schemas.openxmlformats.org/officeDocument/2006/relationships/slide" Target="/ppt/slides/slide14.xml" Id="Rd4cb3606f0ed4274" /><Relationship Type="http://schemas.openxmlformats.org/officeDocument/2006/relationships/slide" Target="/ppt/slides/slide15.xml" Id="Recce3694fac948bf" /><Relationship Type="http://schemas.openxmlformats.org/officeDocument/2006/relationships/slide" Target="/ppt/slides/slide16.xml" Id="R3b2972f6b3cc4902" /><Relationship Type="http://schemas.openxmlformats.org/officeDocument/2006/relationships/slide" Target="/ppt/slides/slide17.xml" Id="Rb2d6c36b9df04638" /><Relationship Type="http://schemas.openxmlformats.org/officeDocument/2006/relationships/slide" Target="/ppt/slides/slide18.xml" Id="R776573b02ea14647" /><Relationship Type="http://schemas.openxmlformats.org/officeDocument/2006/relationships/slide" Target="/ppt/slides/slide19.xml" Id="Rf210a63a2aaa48cb" /><Relationship Type="http://schemas.openxmlformats.org/officeDocument/2006/relationships/slide" Target="/ppt/slides/slide20.xml" Id="R8e9c27f51a584e8d" /><Relationship Type="http://schemas.openxmlformats.org/officeDocument/2006/relationships/slide" Target="/ppt/slides/slide21.xml" Id="Rc12e92f4133c4538" /><Relationship Type="http://schemas.openxmlformats.org/officeDocument/2006/relationships/slide" Target="/ppt/slides/slide22.xml" Id="R4911eaaba57440f1" /><Relationship Type="http://schemas.openxmlformats.org/officeDocument/2006/relationships/slide" Target="/ppt/slides/slide23.xml" Id="R8d3d58d7f4bd4bc4" /><Relationship Type="http://schemas.openxmlformats.org/officeDocument/2006/relationships/slide" Target="/ppt/slides/slide24.xml" Id="Rcf7d5a7af8bf4d55" /><Relationship Type="http://schemas.openxmlformats.org/officeDocument/2006/relationships/slide" Target="/ppt/slides/slide25.xml" Id="Rf9c616153d754fd0" /><Relationship Type="http://schemas.openxmlformats.org/officeDocument/2006/relationships/slide" Target="/ppt/slides/slide26.xml" Id="Rc4903297af144df4" /><Relationship Type="http://schemas.openxmlformats.org/officeDocument/2006/relationships/slide" Target="/ppt/slides/slide27.xml" Id="R334d62288fa24a10" /><Relationship Type="http://schemas.openxmlformats.org/officeDocument/2006/relationships/slide" Target="/ppt/slides/slide28.xml" Id="R1aece8c6a79f4503" /><Relationship Type="http://schemas.openxmlformats.org/officeDocument/2006/relationships/slide" Target="/ppt/slides/slide29.xml" Id="R1ef12066a6f24aab" /><Relationship Type="http://schemas.openxmlformats.org/officeDocument/2006/relationships/slide" Target="/ppt/slides/slide30.xml" Id="R5de0547f7377454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bd599a7f1f84ad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8675802805142e4" /><Relationship Type="http://schemas.openxmlformats.org/officeDocument/2006/relationships/notesMaster" Target="/ppt/notesMasters/notesMaster1.xml" Id="R95cfbdbc04b748c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6deb6b9a6734f03" /><Relationship Type="http://schemas.openxmlformats.org/officeDocument/2006/relationships/notesMaster" Target="/ppt/notesMasters/notesMaster1.xml" Id="Rfd873df29e06426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2a4cf75ad1d4f3b" /><Relationship Type="http://schemas.openxmlformats.org/officeDocument/2006/relationships/notesMaster" Target="/ppt/notesMasters/notesMaster1.xml" Id="R60e44c731128481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bddfeb3d2954bb2" /><Relationship Type="http://schemas.openxmlformats.org/officeDocument/2006/relationships/notesMaster" Target="/ppt/notesMasters/notesMaster1.xml" Id="R0619e04a27bb42e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095ef02bf304313" /><Relationship Type="http://schemas.openxmlformats.org/officeDocument/2006/relationships/notesMaster" Target="/ppt/notesMasters/notesMaster1.xml" Id="Rf4eb8447ece24bb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d556998cc9548ac" /><Relationship Type="http://schemas.openxmlformats.org/officeDocument/2006/relationships/notesMaster" Target="/ppt/notesMasters/notesMaster1.xml" Id="R32d2649128e54b8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9e19f2834fe4c66" /><Relationship Type="http://schemas.openxmlformats.org/officeDocument/2006/relationships/notesMaster" Target="/ppt/notesMasters/notesMaster1.xml" Id="Ra7045cf932fc4b4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d8ccba687974ce2" /><Relationship Type="http://schemas.openxmlformats.org/officeDocument/2006/relationships/notesMaster" Target="/ppt/notesMasters/notesMaster1.xml" Id="R879d9aee42664a6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a6cc70344f64c0f" /><Relationship Type="http://schemas.openxmlformats.org/officeDocument/2006/relationships/notesMaster" Target="/ppt/notesMasters/notesMaster1.xml" Id="R8299c6ba8dca4d4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fb8fd36c6274b17" /><Relationship Type="http://schemas.openxmlformats.org/officeDocument/2006/relationships/notesMaster" Target="/ppt/notesMasters/notesMaster1.xml" Id="R1051872ddcc54d0e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6001bfd3e9664c29" /><Relationship Type="http://schemas.openxmlformats.org/officeDocument/2006/relationships/notesMaster" Target="/ppt/notesMasters/notesMaster1.xml" Id="R2e842e29d7b441f4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fd5215ceb4264251" /><Relationship Type="http://schemas.openxmlformats.org/officeDocument/2006/relationships/notesMaster" Target="/ppt/notesMasters/notesMaster1.xml" Id="R1540f0494ff741bb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a34bb9dbd53d46c3" /><Relationship Type="http://schemas.openxmlformats.org/officeDocument/2006/relationships/notesMaster" Target="/ppt/notesMasters/notesMaster1.xml" Id="R883867a8774048a0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956d638e73364579" /><Relationship Type="http://schemas.openxmlformats.org/officeDocument/2006/relationships/notesMaster" Target="/ppt/notesMasters/notesMaster1.xml" Id="R5c2a5f22bf4d46ad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244a50415f054146" /><Relationship Type="http://schemas.openxmlformats.org/officeDocument/2006/relationships/notesMaster" Target="/ppt/notesMasters/notesMaster1.xml" Id="R096060d4610e4151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95fefe035fe94669" /><Relationship Type="http://schemas.openxmlformats.org/officeDocument/2006/relationships/notesMaster" Target="/ppt/notesMasters/notesMaster1.xml" Id="R011f7bb93b2948e6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a2a126bc5d7842bf" /><Relationship Type="http://schemas.openxmlformats.org/officeDocument/2006/relationships/notesMaster" Target="/ppt/notesMasters/notesMaster1.xml" Id="Rc41ed1e4cb13434f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0d9b51382ae24487" /><Relationship Type="http://schemas.openxmlformats.org/officeDocument/2006/relationships/notesMaster" Target="/ppt/notesMasters/notesMaster1.xml" Id="R9b7e80fa6d4b44a4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828e8197b5d546e9" /><Relationship Type="http://schemas.openxmlformats.org/officeDocument/2006/relationships/notesMaster" Target="/ppt/notesMasters/notesMaster1.xml" Id="R4a8483f9fd8441cf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dfaaffd869af4656" /><Relationship Type="http://schemas.openxmlformats.org/officeDocument/2006/relationships/notesMaster" Target="/ppt/notesMasters/notesMaster1.xml" Id="R35e1a5b49e994e53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5f647cff24e745d9" /><Relationship Type="http://schemas.openxmlformats.org/officeDocument/2006/relationships/notesMaster" Target="/ppt/notesMasters/notesMaster1.xml" Id="R6c5548e003ec47d1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9a20836bc5b749ee" /><Relationship Type="http://schemas.openxmlformats.org/officeDocument/2006/relationships/notesMaster" Target="/ppt/notesMasters/notesMaster1.xml" Id="Rb002552622cc4cc5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311d21a491b244c5" /><Relationship Type="http://schemas.openxmlformats.org/officeDocument/2006/relationships/notesMaster" Target="/ppt/notesMasters/notesMaster1.xml" Id="R5ed126701ff3414f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20416644be0f4d76" /><Relationship Type="http://schemas.openxmlformats.org/officeDocument/2006/relationships/notesMaster" Target="/ppt/notesMasters/notesMaster1.xml" Id="Rc294c2031b534ed1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70180410cc494f31" /><Relationship Type="http://schemas.openxmlformats.org/officeDocument/2006/relationships/notesMaster" Target="/ppt/notesMasters/notesMaster1.xml" Id="R641da576e99941d9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bf7c20fc820e418e" /><Relationship Type="http://schemas.openxmlformats.org/officeDocument/2006/relationships/notesMaster" Target="/ppt/notesMasters/notesMaster1.xml" Id="R0c603adec00641f0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e78bc1f6e6c24df5" /><Relationship Type="http://schemas.openxmlformats.org/officeDocument/2006/relationships/notesMaster" Target="/ppt/notesMasters/notesMaster1.xml" Id="R5204061c991c4414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230b96cb1a1247d4" /><Relationship Type="http://schemas.openxmlformats.org/officeDocument/2006/relationships/notesMaster" Target="/ppt/notesMasters/notesMaster1.xml" Id="R5fa559929bc7477f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1767e87093be49c6" /><Relationship Type="http://schemas.openxmlformats.org/officeDocument/2006/relationships/notesMaster" Target="/ppt/notesMasters/notesMaster1.xml" Id="R4c9e5ba332004dce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ca5b7e0fbecc4f9f" /><Relationship Type="http://schemas.openxmlformats.org/officeDocument/2006/relationships/notesMaster" Target="/ppt/notesMasters/notesMaster1.xml" Id="Ra3ecb6c9d4a045a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Human and dog CTA evidence</a:t>
            </a:r>
          </a:p>
          <a:p xmlns:a="http://schemas.openxmlformats.org/drawingml/2006/main">
            <a:r>
              <a:t>One RNA ceiling. Neither requires an affirmative expression profile. Unassigned is an assessment status, not a biological category.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oncoref.cta-selection.2026-10-29.3</a:t>
            </a:r>
          </a:p>
          <a:p xmlns:a="http://schemas.openxmlformats.org/drawingml/2006/main">
            <a:r>
              <a:t>Decision snapshot SHA256: cbf16d3371962e3b73f6a6fb19c1dbe1c8d1a35458666d6e9fa46fd6a743e118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Safety, cancer and Reproductive evidence</a:t>
            </a:r>
          </a:p>
          <a:p xmlns:a="http://schemas.openxmlformats.org/drawingml/2006/main">
            <a:r>
              <a:t>Only safety supplies Unsafe evidence. Reproductive is the umbrella for adult reproductive, placental, extraembryonic, embryonic and fetal contexts.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oncoref.cta-selection.2026-10-29.3</a:t>
            </a:r>
          </a:p>
          <a:p xmlns:a="http://schemas.openxmlformats.org/drawingml/2006/main">
            <a:r>
              <a:t>Decision snapshot SHA256: cbf16d3371962e3b73f6a6fb19c1dbe1c8d1a35458666d6e9fa46fd6a743e118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Diffuse expression is an identity question</a:t>
            </a:r>
          </a:p>
          <a:p xmlns:a="http://schemas.openxmlformats.org/drawingml/2006/main">
            <a:r>
              <a:t>The old normal-maximum veto is removed. Diffuseness averages N/(N+R) across fixed weighted normal contexts, including Disposable. The active 10% adult/placental identity boundary requires complete HPA measurements and the existing 5 nTPM reference. Thymus is Permissive and excluded. Supported embryonic evidence retains its separate route with unassessed concentration.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oncoref.cta-selection.2026-10-29.3</a:t>
            </a:r>
          </a:p>
          <a:p xmlns:a="http://schemas.openxmlformats.org/drawingml/2006/main">
            <a:r>
              <a:t>Decision snapshot SHA256: cbf16d3371962e3b73f6a6fb19c1dbe1c8d1a35458666d6e9fa46fd6a743e118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 fixed GTEx core for every protein</a:t>
            </a:r>
          </a:p>
          <a:p xmlns:a="http://schemas.openxmlformats.org/drawingml/2006/main">
            <a:r>
              <a:t>GTEx v11 uses 52 native bulk contexts, 9 Reproductive and 43 other. Every member locus must be measured. 19,119 / 19,863 proteins have full coverage; no intermediate coverage profiles occur.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oncoref.cta-selection.2026-10-29.3</a:t>
            </a:r>
          </a:p>
          <a:p xmlns:a="http://schemas.openxmlformats.org/drawingml/2006/main">
            <a:r>
              <a:t>Decision snapshot SHA256: cbf16d3371962e3b73f6a6fb19c1dbe1c8d1a35458666d6e9fa46fd6a743e118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ZNF730: panel composition matters</a:t>
            </a:r>
          </a:p>
          <a:p xmlns:a="http://schemas.openxmlformats.org/drawingml/2006/main">
            <a:r>
              <a:t>Full tissue tables: https://pirl-unc.github.io/oncoref/audits/cta-unassigned-20261029/znf730/ . Original panels differ; scores are not a controlled assay comparison.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oncoref.cta-selection.2026-10-29.3</a:t>
            </a:r>
          </a:p>
          <a:p xmlns:a="http://schemas.openxmlformats.org/drawingml/2006/main">
            <a:r>
              <a:t>Decision snapshot SHA256: cbf16d3371962e3b73f6a6fb19c1dbe1c8d1a35458666d6e9fa46fd6a743e118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Published candidate lists</a:t>
            </a:r>
          </a:p>
          <a:p xmlns:a="http://schemas.openxmlformats.org/drawingml/2006/main">
            <a:r>
              <a:t>da Silva et al. (2017): https://doi.org/10.18632/oncotarget.21715</a:t>
            </a:r>
          </a:p>
          <a:p xmlns:a="http://schemas.openxmlformats.org/drawingml/2006/main">
            <a:r>
              <a:t>Wang et al. (2016): https://doi.org/10.1038/ncomms10499</a:t>
            </a:r>
          </a:p>
          <a:p xmlns:a="http://schemas.openxmlformats.org/drawingml/2006/main">
            <a:r>
              <a:t>Chang et al. (2019): https://doi.org/10.1002/cam4.2223</a:t>
            </a:r>
          </a:p>
          <a:p xmlns:a="http://schemas.openxmlformats.org/drawingml/2006/main">
            <a:r>
              <a:t>Gong et al. (2021): https://doi.org/10.1038/s41467-021-22695-y</a:t>
            </a:r>
          </a:p>
          <a:p xmlns:a="http://schemas.openxmlformats.org/drawingml/2006/main">
            <a:r>
              <a:t>Bruggeman et al. (2018): https://doi.org/10.1038/s41388-018-0357-2</a:t>
            </a:r>
          </a:p>
          <a:p xmlns:a="http://schemas.openxmlformats.org/drawingml/2006/main">
            <a:r>
              <a:t>Jamin et al. (2021): https://doi.org/10.1002/1878-0261.12900</a:t>
            </a:r>
          </a:p>
          <a:p xmlns:a="http://schemas.openxmlformats.org/drawingml/2006/main">
            <a:r>
              <a:t>Loriot et al. (2025): https://doi.org/10.1371/journal.pgen.1011734</a:t>
            </a:r>
          </a:p>
          <a:p xmlns:a="http://schemas.openxmlformats.org/drawingml/2006/main">
            <a:r>
              <a:t>Carter et al. (2023): https://doi.org/10.1136/jitc-2023-007935</a:t>
            </a:r>
          </a:p>
          <a:p xmlns:a="http://schemas.openxmlformats.org/drawingml/2006/main">
            <a:r>
              <a:t>Hirbo et al. (2015): https://doi.org/10.1371/journal.pone.0144155</a:t>
            </a:r>
          </a:p>
          <a:p xmlns:a="http://schemas.openxmlformats.org/drawingml/2006/main">
            <a:r>
              <a:t>Seager et al. (2024): https://doi.org/10.1186/s12967-024-04918-0</a:t>
            </a:r>
          </a:p>
          <a:p xmlns:a="http://schemas.openxmlformats.org/drawingml/2006/main">
            <a:r>
              <a:t>Sasaroli et al. (2011): https://doi.org/10.4161/cbt.12.3.16260</a:t>
            </a:r>
          </a:p>
          <a:p xmlns:a="http://schemas.openxmlformats.org/drawingml/2006/main">
            <a:r>
              <a:t>Garg et al. (2007): https://doi.org/10.1158/1078-0432.CCR-06-2340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oncoref.cta-selection.2026-10-29.3</a:t>
            </a:r>
          </a:p>
          <a:p xmlns:a="http://schemas.openxmlformats.org/drawingml/2006/main">
            <a:r>
              <a:t>Decision snapshot SHA256: cbf16d3371962e3b73f6a6fb19c1dbe1c8d1a35458666d6e9fa46fd6a743e118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Broader published nominations</a:t>
            </a:r>
          </a:p>
          <a:p xmlns:a="http://schemas.openxmlformats.org/drawingml/2006/main">
            <a:r>
              <a:t>Sasaroli et al. (2011) https://doi.org/10.4161/cbt.12.3.16260 . Hirbo et al. (2015) https://doi.org/10.1371/journal.pone.0144155 . Exact extracted rows and matching receipts accompany the report.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oncoref.cta-selection.2026-10-29.3</a:t>
            </a:r>
          </a:p>
          <a:p xmlns:a="http://schemas.openxmlformats.org/drawingml/2006/main">
            <a:r>
              <a:t>Decision snapshot SHA256: cbf16d3371962e3b73f6a6fb19c1dbe1c8d1a35458666d6e9fa46fd6a743e118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Overlap between published lists</a:t>
            </a:r>
          </a:p>
          <a:p xmlns:a="http://schemas.openxmlformats.org/drawingml/2006/main">
            <a:r>
              <a:t>Tables and author-recognized prior antigens within the same paper are unioned. Evidence roles, source IDs and pairwise counts accompany the report.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oncoref.cta-selection.2026-10-29.3</a:t>
            </a:r>
          </a:p>
          <a:p xmlns:a="http://schemas.openxmlformats.org/drawingml/2006/main">
            <a:r>
              <a:t>Decision snapshot SHA256: cbf16d3371962e3b73f6a6fb19c1dbe1c8d1a35458666d6e9fa46fd6a743e118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Reproductive evidence: measured branches</a:t>
            </a:r>
          </a:p>
          <a:p xmlns:a="http://schemas.openxmlformats.org/drawingml/2006/main">
            <a:r>
              <a:t>Tyser et al. (2021): https://doi.org/10.1038/s41586-021-04158-y . HPA v23 https://v23.proteinatlas.org/about/download .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oncoref.cta-selection.2026-10-29.3</a:t>
            </a:r>
          </a:p>
          <a:p xmlns:a="http://schemas.openxmlformats.org/drawingml/2006/main">
            <a:r>
              <a:t>Decision snapshot SHA256: cbf16d3371962e3b73f6a6fb19c1dbe1c8d1a35458666d6e9fa46fd6a743e118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Normal and cancer measurement sources</a:t>
            </a:r>
          </a:p>
          <a:p xmlns:a="http://schemas.openxmlformats.org/drawingml/2006/main">
            <a:r>
              <a:t>HPA https://v23.proteinatlas.org/about/download ; DICE https://dice-database.org/ ; cornea https://www.ncbi.nlm.nih.gov/geo/query/acc.cgi?acc=GSE155683 ; Tyser https://doi.org/10.1038/s41586-021-04158-y . Full URLs and sample lineage accompany the report.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oncoref.cta-selection.2026-10-29.3</a:t>
            </a:r>
          </a:p>
          <a:p xmlns:a="http://schemas.openxmlformats.org/drawingml/2006/main">
            <a:r>
              <a:t>Decision snapshot SHA256: cbf16d3371962e3b73f6a6fb19c1dbe1c8d1a35458666d6e9fa46fd6a743e118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RNA cutoffs</a:t>
            </a:r>
          </a:p>
          <a:p xmlns:a="http://schemas.openxmlformats.org/drawingml/2006/main">
            <a:r>
              <a:t>The same nominal values apply across native TPM/nTPM assays. CP10K uses nominal /100, not a TPM conversion. Values are screening-policy choices, not measured toxicity limits.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oncoref.cta-selection.2026-10-29.3</a:t>
            </a:r>
          </a:p>
          <a:p xmlns:a="http://schemas.openxmlformats.org/drawingml/2006/main">
            <a:r>
              <a:t>Decision snapshot SHA256: cbf16d3371962e3b73f6a6fb19c1dbe1c8d1a35458666d6e9fa46fd6a743e118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Neither describes a measured profile</a:t>
            </a:r>
          </a:p>
          <a:p xmlns:a="http://schemas.openxmlformats.org/drawingml/2006/main">
            <a:r>
              <a:t>Low means below the common 2-unit expression floor in every measured source, with required normal panels and tumor/developmental measurements. Missing optional DICE/cornea is disclosed. No detected protein is not proof of absence in every unmeasured tissue.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oncoref.cta-selection.2026-10-29.3</a:t>
            </a:r>
          </a:p>
          <a:p xmlns:a="http://schemas.openxmlformats.org/drawingml/2006/main">
            <a:r>
              <a:t>Decision snapshot SHA256: cbf16d3371962e3b73f6a6fb19c1dbe1c8d1a35458666d6e9fa46fd6a743e118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Every filtering layer can contribute</a:t>
            </a:r>
          </a:p>
          <a:p xmlns:a="http://schemas.openxmlformats.org/drawingml/2006/main">
            <a:r>
              <a:t>The gray segment is held/unassigned evidence, not Neither. The final profile check assigns Neither. All layers evaluate every protein; final categories are independent of display order.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oncoref.cta-selection.2026-10-29.3</a:t>
            </a:r>
          </a:p>
          <a:p xmlns:a="http://schemas.openxmlformats.org/drawingml/2006/main">
            <a:r>
              <a:t>Decision snapshot SHA256: cbf16d3371962e3b73f6a6fb19c1dbe1c8d1a35458666d6e9fa46fd6a743e118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Removals at each filter</a:t>
            </a:r>
          </a:p>
          <a:p xmlns:a="http://schemas.openxmlformats.org/drawingml/2006/main">
            <a:r>
              <a:t>Sequential first removals depend on the displayed order; the independent-layer table reports overlaps.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oncoref.cta-selection.2026-10-29.3</a:t>
            </a:r>
          </a:p>
          <a:p xmlns:a="http://schemas.openxmlformats.org/drawingml/2006/main">
            <a:r>
              <a:t>Decision snapshot SHA256: cbf16d3371962e3b73f6a6fb19c1dbe1c8d1a35458666d6e9fa46fd6a743e118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IHC matching to measured RNA compartments</a:t>
            </a:r>
          </a:p>
          <a:p xmlns:a="http://schemas.openxmlformats.org/drawingml/2006/main">
            <a:r>
              <a:t>HPA colon https://www.proteinatlas.org/learn/dictionary/normal/colon ; bronchus https://www.proteinatlas.org/learn/dictionary/normal/bronchus . Parent-compartment credit is a declared anatomical interpretation, not proof that all rare cells were sampled.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oncoref.cta-selection.2026-10-29.3</a:t>
            </a:r>
          </a:p>
          <a:p xmlns:a="http://schemas.openxmlformats.org/drawingml/2006/main">
            <a:r>
              <a:t>Decision snapshot SHA256: cbf16d3371962e3b73f6a6fb19c1dbe1c8d1a35458666d6e9fa46fd6a743e118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Selected CTA: adult/placental versus embryonic RNA</a:t>
            </a:r>
          </a:p>
          <a:p xmlns:a="http://schemas.openxmlformats.org/drawingml/2006/main">
            <a:r>
              <a:t>Color uses the highest supported non-disposable healthy expression within the stated native unit. There is no mixed-unit maximum. Labels include widely studied antigens with mapped values. Companion panels label all selected proteins ≥5 on both axes. Missing embryonic measurements appear in a separate categorical band; every selected protein is represented without zero filling.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oncoref.cta-selection.2026-10-29.3</a:t>
            </a:r>
          </a:p>
          <a:p xmlns:a="http://schemas.openxmlformats.org/drawingml/2006/main">
            <a:r>
              <a:t>Decision snapshot SHA256: cbf16d3371962e3b73f6a6fb19c1dbe1c8d1a35458666d6e9fa46fd6a743e118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Selected CTA: healthy RNA in TPM</a:t>
            </a:r>
          </a:p>
          <a:p xmlns:a="http://schemas.openxmlformats.org/drawingml/2006/main">
            <a:r>
              <a:t>Color uses the highest supported non-disposable healthy expression within the stated native unit. There is no mixed-unit maximum. Labels include widely studied antigens with mapped values. Companion panels label all selected proteins ≥5 on both axes. Missing embryonic measurements appear in a separate categorical band; every selected protein is represented without zero filling.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oncoref.cta-selection.2026-10-29.3</a:t>
            </a:r>
          </a:p>
          <a:p xmlns:a="http://schemas.openxmlformats.org/drawingml/2006/main">
            <a:r>
              <a:t>Decision snapshot SHA256: cbf16d3371962e3b73f6a6fb19c1dbe1c8d1a35458666d6e9fa46fd6a743e118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Selected CTA: normal corneal RNA</a:t>
            </a:r>
          </a:p>
          <a:p xmlns:a="http://schemas.openxmlformats.org/drawingml/2006/main">
            <a:r>
              <a:t>Color uses the highest supported non-disposable healthy expression within the stated native unit. There is no mixed-unit maximum. Labels include widely studied antigens with mapped values. Companion panels label all selected proteins ≥5 on both axes. Missing embryonic measurements appear in a separate categorical band; every selected protein is represented without zero filling.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oncoref.cta-selection.2026-10-29.3</a:t>
            </a:r>
          </a:p>
          <a:p xmlns:a="http://schemas.openxmlformats.org/drawingml/2006/main">
            <a:r>
              <a:t>Decision snapshot SHA256: cbf16d3371962e3b73f6a6fb19c1dbe1c8d1a35458666d6e9fa46fd6a743e118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High adult/placental and embryonic RNA: labels 1 of 3</a:t>
            </a:r>
          </a:p>
          <a:p xmlns:a="http://schemas.openxmlformats.org/drawingml/2006/main">
            <a:r>
              <a:t>The three panels use identical axes and together label all selected proteins with reproductive nTPM ≥5 and measured embryonic lineage-mean TPM ≥5. This descriptive threshold does not replace developmental cell-support requirements. Color is the highest non-disposable healthy nTPM.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oncoref.cta-selection.2026-10-29.3</a:t>
            </a:r>
          </a:p>
          <a:p xmlns:a="http://schemas.openxmlformats.org/drawingml/2006/main">
            <a:r>
              <a:t>Decision snapshot SHA256: cbf16d3371962e3b73f6a6fb19c1dbe1c8d1a35458666d6e9fa46fd6a743e118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High adult/placental and embryonic RNA: labels 2 of 3</a:t>
            </a:r>
          </a:p>
          <a:p xmlns:a="http://schemas.openxmlformats.org/drawingml/2006/main">
            <a:r>
              <a:t>The three panels use identical axes and together label all selected proteins with reproductive nTPM ≥5 and measured embryonic lineage-mean TPM ≥5. This descriptive threshold does not replace developmental cell-support requirements. Color is the highest non-disposable healthy nTPM.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oncoref.cta-selection.2026-10-29.3</a:t>
            </a:r>
          </a:p>
          <a:p xmlns:a="http://schemas.openxmlformats.org/drawingml/2006/main">
            <a:r>
              <a:t>Decision snapshot SHA256: cbf16d3371962e3b73f6a6fb19c1dbe1c8d1a35458666d6e9fa46fd6a743e118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High adult/placental and embryonic RNA: labels 3 of 3</a:t>
            </a:r>
          </a:p>
          <a:p xmlns:a="http://schemas.openxmlformats.org/drawingml/2006/main">
            <a:r>
              <a:t>The three panels use identical axes and together label all selected proteins with reproductive nTPM ≥5 and measured embryonic lineage-mean TPM ≥5. This descriptive threshold does not replace developmental cell-support requirements. Color is the highest non-disposable healthy nTPM.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oncoref.cta-selection.2026-10-29.3</a:t>
            </a:r>
          </a:p>
          <a:p xmlns:a="http://schemas.openxmlformats.org/drawingml/2006/main">
            <a:r>
              <a:t>Decision snapshot SHA256: cbf16d3371962e3b73f6a6fb19c1dbe1c8d1a35458666d6e9fa46fd6a743e118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Complementary embryonic measurements</a:t>
            </a:r>
          </a:p>
          <a:p xmlns:a="http://schemas.openxmlformats.org/drawingml/2006/main">
            <a:r>
              <a:t>Tyser E-MTAB-9388 https://doi.org/10.1038/s41586-021-04158-y . Petropoulos E-MTAB-3929 https://www.ebi.ac.uk/gxa/sc/experiments/E-MTAB-3929/Results . Sources retain their own stage, cell support and donor counts.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oncoref.cta-selection.2026-10-29.3</a:t>
            </a:r>
          </a:p>
          <a:p xmlns:a="http://schemas.openxmlformats.org/drawingml/2006/main">
            <a:r>
              <a:t>Decision snapshot SHA256: cbf16d3371962e3b73f6a6fb19c1dbe1c8d1a35458666d6e9fa46fd6a743e118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Widely studied antigens: adult/placental RNA</a:t>
            </a:r>
          </a:p>
          <a:p xmlns:a="http://schemas.openxmlformats.org/drawingml/2006/main">
            <a:r>
              <a:t>MAGE-A1 and MAGE-A3 are comparators, not admission controls. Full-width figures highlight PRAME, NY-ESO-1 (CTAG1A/B), XAGE1A/B, MAGE-A4, CT83, SSX2/B and TBXT. Missing embryonic measurements are in a separate band.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oncoref.cta-selection.2026-10-29.3</a:t>
            </a:r>
          </a:p>
          <a:p xmlns:a="http://schemas.openxmlformats.org/drawingml/2006/main">
            <a:r>
              <a:t>Decision snapshot SHA256: cbf16d3371962e3b73f6a6fb19c1dbe1c8d1a35458666d6e9fa46fd6a743e118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Widely studied antigens: embryonic RNA</a:t>
            </a:r>
          </a:p>
          <a:p xmlns:a="http://schemas.openxmlformats.org/drawingml/2006/main">
            <a:r>
              <a:t>MAGE-A1 and MAGE-A3 are comparators, not admission controls. Full-width figures highlight PRAME, NY-ESO-1 (CTAG1A/B), XAGE1A/B, MAGE-A4, CT83, SSX2/B and TBXT. Missing embryonic measurements are in a separate band.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oncoref.cta-selection.2026-10-29.3</a:t>
            </a:r>
          </a:p>
          <a:p xmlns:a="http://schemas.openxmlformats.org/drawingml/2006/main">
            <a:r>
              <a:t>Decision snapshot SHA256: cbf16d3371962e3b73f6a6fb19c1dbe1c8d1a35458666d6e9fa46fd6a743e118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Assessment status is separate from category</a:t>
            </a:r>
          </a:p>
          <a:p xmlns:a="http://schemas.openxmlformats.org/drawingml/2006/main">
            <a:r>
              <a:t>A category can be assigned despite gaps in optional or irrelevant sources. Screened does not mean clinically safe or fully measured. MAGE-A3 has measured colon counterevidence. An independent developmental measurement cannot erase it.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oncoref.cta-selection.2026-10-29.3</a:t>
            </a:r>
          </a:p>
          <a:p xmlns:a="http://schemas.openxmlformats.org/drawingml/2006/main">
            <a:r>
              <a:t>Decision snapshot SHA256: cbf16d3371962e3b73f6a6fb19c1dbe1c8d1a35458666d6e9fa46fd6a743e118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Which sources have incomplete evidence</a:t>
            </a:r>
          </a:p>
          <a:p xmlns:a="http://schemas.openxmlformats.org/drawingml/2006/main">
            <a:r>
              <a:t>Source versions, complete missing tissue/cell contexts, member ENSG IDs, historical IDs, synonyms and tumor cohort coverage: https://pirl-unc.github.io/oncoref/audits/cta-source-walkthrough-20261028/coverage/ . Counts overlap and do not sum to a total.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oncoref.cta-selection.2026-10-29.3</a:t>
            </a:r>
          </a:p>
          <a:p xmlns:a="http://schemas.openxmlformats.org/drawingml/2006/main">
            <a:r>
              <a:t>Decision snapshot SHA256: cbf16d3371962e3b73f6a6fb19c1dbe1c8d1a35458666d6e9fa46fd6a743e118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Dog evidence and integration gaps</a:t>
            </a:r>
          </a:p>
          <a:p xmlns:a="http://schemas.openxmlformats.org/drawingml/2006/main">
            <a:r>
              <a:t>Nemec et al. (2019) https://doi.org/10.1111/vco.12475 ; Hindriks et al. (2025) https://doi.org/10.1016/j.vetimm.2025.110946 . Issues https://github.com/pirl-unc/oncoref/issues/574 and https://github.com/pirl-unc/oncoref/issues/585 .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oncoref.cta-selection.2026-10-29.3</a:t>
            </a:r>
          </a:p>
          <a:p xmlns:a="http://schemas.openxmlformats.org/drawingml/2006/main">
            <a:r>
              <a:t>Decision snapshot SHA256: cbf16d3371962e3b73f6a6fb19c1dbe1c8d1a35458666d6e9fa46fd6a743e118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Curated oncofetal sources</a:t>
            </a:r>
          </a:p>
          <a:p xmlns:a="http://schemas.openxmlformats.org/drawingml/2006/main">
            <a:r>
              <a:t>Shaw et al. (2024) https://doi.org/10.1038/s41467-024-47649-y ; TRIM71 liver study https://pmc.ncbi.nlm.nih.gov/articles/PMC11388079/ ; Cardoso-Moreira et al. (2019) https://pmc.ncbi.nlm.nih.gov/articles/PMC6658352/ . Newly identified sources are not in current selection counts.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oncoref.cta-selection.2026-10-29.3</a:t>
            </a:r>
          </a:p>
          <a:p xmlns:a="http://schemas.openxmlformats.org/drawingml/2006/main">
            <a:r>
              <a:t>Decision snapshot SHA256: cbf16d3371962e3b73f6a6fb19c1dbe1c8d1a35458666d6e9fa46fd6a743e118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Common API with native evidence underneath</a:t>
            </a:r>
          </a:p>
          <a:p xmlns:a="http://schemas.openxmlformats.org/drawingml/2006/main">
            <a:r>
              <a:t>Human, dog and mouse share schema and explicit unavailable states. Data are offline and checksum-verified. Frozen release reports remain unchanged.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oncoref.cta-selection.2026-10-29.3</a:t>
            </a:r>
          </a:p>
          <a:p xmlns:a="http://schemas.openxmlformats.org/drawingml/2006/main">
            <a:r>
              <a:t>Decision snapshot SHA256: cbf16d3371962e3b73f6a6fb19c1dbe1c8d1a35458666d6e9fa46fd6a743e118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Every source resolves to a concrete version</a:t>
            </a:r>
          </a:p>
          <a:p xmlns:a="http://schemas.openxmlformats.org/drawingml/2006/main">
            <a:r>
              <a:t>Data version API: https://pirl-unc.github.io/oncoref/data-versions/ . GTEx versions and pipelines: https://github.com/broadinstitute/gtex-pipeline/blob/master/rnaseq/README.md . HPA current RNA snapshot: https://github.com/pirl-unc/oncoref/releases/tag/reference-hpa-v25.1-20261028 .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oncoref.cta-selection.2026-10-29.3</a:t>
            </a:r>
          </a:p>
          <a:p xmlns:a="http://schemas.openxmlformats.org/drawingml/2006/main">
            <a:r>
              <a:t>Decision snapshot SHA256: cbf16d3371962e3b73f6a6fb19c1dbe1c8d1a35458666d6e9fa46fd6a743e118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6a2a8d931884a08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dd7f901ad6f4487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786314a73e1407b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400574e949444ad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70af24f263a4891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3f3a6d9f95b456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93F2943-2673-4538-89A7-71DC92E5593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7B35CC75-20C2-442C-964B-55C8DE72C541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34D68401-F2F2-4D68-B8C9-5084804CDB0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B5D6A5C-9B45-4F48-B1F5-03964A29466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EB3A8395-ED85-4B04-AB04-AA862D72F76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FB0748D4-B002-4C48-B0CB-1EC4C17D904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8018B4A4-763F-4E86-9CAC-7E4E386D96F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DBFF35B7-F28C-4514-8676-BB2A279BBE16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A20015FB-DACA-46C6-AD98-682A96DA9B8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367C2E1D-A46E-4587-AFEE-592D7B34ADE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c9c7833ba0f4005" /><Relationship Type="http://schemas.openxmlformats.org/officeDocument/2006/relationships/slideLayout" Target="/ppt/slideLayouts/slideLayout1.xml" Id="Rbcbca721b8424a55" /><Relationship Type="http://schemas.openxmlformats.org/officeDocument/2006/relationships/slideLayout" Target="/ppt/slideLayouts/slideLayout2.xml" Id="Rb735a60ce2164ce9" /><Relationship Type="http://schemas.openxmlformats.org/officeDocument/2006/relationships/slideLayout" Target="/ppt/slideLayouts/slideLayout3.xml" Id="R68b8d88dd1fa4eff" /><Relationship Type="http://schemas.openxmlformats.org/officeDocument/2006/relationships/slideLayout" Target="/ppt/slideLayouts/slideLayout4.xml" Id="R9f32781b8cfc4e9d" /><Relationship Type="http://schemas.openxmlformats.org/officeDocument/2006/relationships/slideLayout" Target="/ppt/slideLayouts/slideLayout5.xml" Id="Rf558915a5a674d64" /><Relationship Type="http://schemas.openxmlformats.org/officeDocument/2006/relationships/slideLayout" Target="/ppt/slideLayouts/slideLayout6.xml" Id="Rc54b63f8d0a44fd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cbca721b8424a55"/>
    <p:sldLayoutId xmlns:r="http://schemas.openxmlformats.org/officeDocument/2006/relationships" id="2147483650" r:id="Rb735a60ce2164ce9"/>
    <p:sldLayoutId xmlns:r="http://schemas.openxmlformats.org/officeDocument/2006/relationships" id="2147483651" r:id="R68b8d88dd1fa4eff"/>
    <p:sldLayoutId xmlns:r="http://schemas.openxmlformats.org/officeDocument/2006/relationships" id="2147483652" r:id="R9f32781b8cfc4e9d"/>
    <p:sldLayoutId xmlns:r="http://schemas.openxmlformats.org/officeDocument/2006/relationships" id="2147483653" r:id="Rf558915a5a674d64"/>
    <p:sldLayoutId xmlns:r="http://schemas.openxmlformats.org/officeDocument/2006/relationships" id="2147483654" r:id="Rc54b63f8d0a44fd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b7ce799524d4e87" /><Relationship Type="http://schemas.openxmlformats.org/officeDocument/2006/relationships/notesSlide" Target="/ppt/notesSlides/notesSlide1.xml" Id="Rba3b61d3c513447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08c8cb0b422471c" /><Relationship Type="http://schemas.openxmlformats.org/officeDocument/2006/relationships/notesSlide" Target="/ppt/notesSlides/notesSlide2.xml" Id="R800375056c9342e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e9e005cd479460c" /><Relationship Type="http://schemas.openxmlformats.org/officeDocument/2006/relationships/hyperlink" Target="https://v23.proteinatlas.org/about/download" TargetMode="External" Id="R3a6bfc73f892419a" /><Relationship Type="http://schemas.openxmlformats.org/officeDocument/2006/relationships/hyperlink" Target="https://v23.proteinatlas.org/about/download" TargetMode="External" Id="R4c6ad57b52c54b40" /><Relationship Type="http://schemas.openxmlformats.org/officeDocument/2006/relationships/notesSlide" Target="/ppt/notesSlides/notesSlide3.xml" Id="Ra8b210896ce5418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0f92dd4244a4342" /><Relationship Type="http://schemas.openxmlformats.org/officeDocument/2006/relationships/hyperlink" Target="https://gtexportal.org/home/downloads/adult-gtex" TargetMode="External" Id="Rbf303ac8a7e942d0" /><Relationship Type="http://schemas.openxmlformats.org/officeDocument/2006/relationships/hyperlink" Target="https://dice-database.org/" TargetMode="External" Id="R977f6a4df2a9427e" /><Relationship Type="http://schemas.openxmlformats.org/officeDocument/2006/relationships/notesSlide" Target="/ppt/notesSlides/notesSlide4.xml" Id="R7ede86b2559c4dc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d8aa030dc38426b" /><Relationship Type="http://schemas.openxmlformats.org/officeDocument/2006/relationships/notesSlide" Target="/ppt/notesSlides/notesSlide5.xml" Id="R1678002da419458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8908e28015d4f67" /><Relationship Type="http://schemas.openxmlformats.org/officeDocument/2006/relationships/hyperlink" Target="https://doi.org/10.18632/oncotarget.21715" TargetMode="External" Id="R8b56f122e1704df8" /><Relationship Type="http://schemas.openxmlformats.org/officeDocument/2006/relationships/hyperlink" Target="https://doi.org/10.1038/ncomms10499" TargetMode="External" Id="Rbe6eac80c642491b" /><Relationship Type="http://schemas.openxmlformats.org/officeDocument/2006/relationships/hyperlink" Target="https://doi.org/10.1002/cam4.2223" TargetMode="External" Id="R839b4c8ca52f485c" /><Relationship Type="http://schemas.openxmlformats.org/officeDocument/2006/relationships/hyperlink" Target="https://doi.org/10.1038/s41467-021-22695-y" TargetMode="External" Id="Rd63629391a614663" /><Relationship Type="http://schemas.openxmlformats.org/officeDocument/2006/relationships/hyperlink" Target="https://doi.org/10.1038/s41388-018-0357-2" TargetMode="External" Id="Rf0d8b9980f1a4be4" /><Relationship Type="http://schemas.openxmlformats.org/officeDocument/2006/relationships/hyperlink" Target="https://doi.org/10.1002/1878-0261.12900" TargetMode="External" Id="R4f9775eef08d4365" /><Relationship Type="http://schemas.openxmlformats.org/officeDocument/2006/relationships/hyperlink" Target="https://doi.org/10.1371/journal.pgen.1011734" TargetMode="External" Id="R83bce568d5c54498" /><Relationship Type="http://schemas.openxmlformats.org/officeDocument/2006/relationships/hyperlink" Target="https://doi.org/10.1136/jitc-2023-007935" TargetMode="External" Id="R47671a9e7ebe436d" /><Relationship Type="http://schemas.openxmlformats.org/officeDocument/2006/relationships/hyperlink" Target="https://doi.org/10.1371/journal.pone.0144155" TargetMode="External" Id="Rc864c26d9eec48a1" /><Relationship Type="http://schemas.openxmlformats.org/officeDocument/2006/relationships/hyperlink" Target="https://doi.org/10.1186/s12967-024-04918-0" TargetMode="External" Id="R95bdaaa985844d4c" /><Relationship Type="http://schemas.openxmlformats.org/officeDocument/2006/relationships/hyperlink" Target="https://doi.org/10.4161/cbt.12.3.16260" TargetMode="External" Id="Rf3ae0f905e2f439e" /><Relationship Type="http://schemas.openxmlformats.org/officeDocument/2006/relationships/hyperlink" Target="https://doi.org/10.1158/1078-0432.CCR-06-2340" TargetMode="External" Id="Ra93c8ccbdcb74127" /><Relationship Type="http://schemas.openxmlformats.org/officeDocument/2006/relationships/notesSlide" Target="/ppt/notesSlides/notesSlide6.xml" Id="Rc88b1570ae6847f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c178660cc7441e9" /><Relationship Type="http://schemas.openxmlformats.org/officeDocument/2006/relationships/hyperlink" Target="https://doi.org/10.4161/cbt.12.3.16260" TargetMode="External" Id="R95b6de64e25f4147" /><Relationship Type="http://schemas.openxmlformats.org/officeDocument/2006/relationships/hyperlink" Target="https://doi.org/10.1371/journal.pone.0144155" TargetMode="External" Id="R8e4a123641674f7d" /><Relationship Type="http://schemas.openxmlformats.org/officeDocument/2006/relationships/hyperlink" Target="https://doi.org/10.1158/1078-0432.CCR-06-2340" TargetMode="External" Id="R52d16ab81b2d4bce" /><Relationship Type="http://schemas.openxmlformats.org/officeDocument/2006/relationships/notesSlide" Target="/ppt/notesSlides/notesSlide7.xml" Id="R7a073e16bfe442b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14d5d81819c4642" /><Relationship Type="http://schemas.openxmlformats.org/officeDocument/2006/relationships/image" Target="/ppt/media/image.png" Id="R60ec44e1dc2f43a1" /><Relationship Type="http://schemas.openxmlformats.org/officeDocument/2006/relationships/notesSlide" Target="/ppt/notesSlides/notesSlide8.xml" Id="R6a0e4f7f8e084be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e804313a0e94ee8" /><Relationship Type="http://schemas.openxmlformats.org/officeDocument/2006/relationships/notesSlide" Target="/ppt/notesSlides/notesSlide9.xml" Id="Rfdf94e5028314d10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8bf42beb9f34094" /><Relationship Type="http://schemas.openxmlformats.org/officeDocument/2006/relationships/hyperlink" Target="https://v23.proteinatlas.org/about/download" TargetMode="External" Id="R0d75640fca434664" /><Relationship Type="http://schemas.openxmlformats.org/officeDocument/2006/relationships/hyperlink" Target="https://gtexportal.org/home/downloads/adult-gtex" TargetMode="External" Id="R1460475c938840a1" /><Relationship Type="http://schemas.openxmlformats.org/officeDocument/2006/relationships/hyperlink" Target="https://v23.proteinatlas.org/about/download" TargetMode="External" Id="Rb12dfa527d0d4f04" /><Relationship Type="http://schemas.openxmlformats.org/officeDocument/2006/relationships/hyperlink" Target="https://v23.proteinatlas.org/about/download" TargetMode="External" Id="R92a4209dec8e4428" /><Relationship Type="http://schemas.openxmlformats.org/officeDocument/2006/relationships/hyperlink" Target="https://dice-database.org/" TargetMode="External" Id="Re133c86f06eb4531" /><Relationship Type="http://schemas.openxmlformats.org/officeDocument/2006/relationships/hyperlink" Target="https://www.ncbi.nlm.nih.gov/geo/query/acc.cgi?acc=GSE155683" TargetMode="External" Id="R35e9c5256f614679" /><Relationship Type="http://schemas.openxmlformats.org/officeDocument/2006/relationships/hyperlink" Target="https://v23.proteinatlas.org/about/download" TargetMode="External" Id="R3aee7d795d9b4911" /><Relationship Type="http://schemas.openxmlformats.org/officeDocument/2006/relationships/hyperlink" Target="https://dice-database.org/" TargetMode="External" Id="R0e659a20c2ef49d3" /><Relationship Type="http://schemas.openxmlformats.org/officeDocument/2006/relationships/notesSlide" Target="/ppt/notesSlides/notesSlide10.xml" Id="Rc9c21c32a1494360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ad352fb5ea54c53" /><Relationship Type="http://schemas.openxmlformats.org/officeDocument/2006/relationships/notesSlide" Target="/ppt/notesSlides/notesSlide11.xml" Id="Rf4c00a2d6c6542ef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9ea991ec3fe403c" /><Relationship Type="http://schemas.openxmlformats.org/officeDocument/2006/relationships/notesSlide" Target="/ppt/notesSlides/notesSlide12.xml" Id="Ra7709d392747497a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c16fe6c4cb34249" /><Relationship Type="http://schemas.openxmlformats.org/officeDocument/2006/relationships/chart" Target="/ppt/slides/charts/chart1.xml" Id="R95c5067ec9db4eed" /><Relationship Type="http://schemas.openxmlformats.org/officeDocument/2006/relationships/notesSlide" Target="/ppt/notesSlides/notesSlide13.xml" Id="R9029bd04adb54a07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7a1c73193304a1e" /><Relationship Type="http://schemas.openxmlformats.org/officeDocument/2006/relationships/hyperlink" Target="https://dice-database.org/" TargetMode="External" Id="R6396112e68244b89" /><Relationship Type="http://schemas.openxmlformats.org/officeDocument/2006/relationships/notesSlide" Target="/ppt/notesSlides/notesSlide14.xml" Id="R1fcceb4bf5fe4867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86491db3a9d465b" /><Relationship Type="http://schemas.openxmlformats.org/officeDocument/2006/relationships/notesSlide" Target="/ppt/notesSlides/notesSlide15.xml" Id="R2a538f78edd542bb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ae6eefaa4fd4cf3" /><Relationship Type="http://schemas.openxmlformats.org/officeDocument/2006/relationships/image" Target="/ppt/media/image2.png" Id="R6c1679975cc54485" /><Relationship Type="http://schemas.openxmlformats.org/officeDocument/2006/relationships/notesSlide" Target="/ppt/notesSlides/notesSlide16.xml" Id="R1340965882ea4c46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cb94eb8bd0d4fd2" /><Relationship Type="http://schemas.openxmlformats.org/officeDocument/2006/relationships/image" Target="/ppt/media/image3.png" Id="R36cdfa2f72ff4044" /><Relationship Type="http://schemas.openxmlformats.org/officeDocument/2006/relationships/notesSlide" Target="/ppt/notesSlides/notesSlide17.xml" Id="Re5ef703bfa454ee5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5a8e4e34ec14e1e" /><Relationship Type="http://schemas.openxmlformats.org/officeDocument/2006/relationships/image" Target="/ppt/media/image4.png" Id="Rb0fbff206bb0416c" /><Relationship Type="http://schemas.openxmlformats.org/officeDocument/2006/relationships/notesSlide" Target="/ppt/notesSlides/notesSlide18.xml" Id="R460208905c69463c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94b7016bbe34398" /><Relationship Type="http://schemas.openxmlformats.org/officeDocument/2006/relationships/image" Target="/ppt/media/image5.png" Id="R9544101b3d7d4305" /><Relationship Type="http://schemas.openxmlformats.org/officeDocument/2006/relationships/notesSlide" Target="/ppt/notesSlides/notesSlide19.xml" Id="R9a5a269bd8074b60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12d4f3dd7af4984" /><Relationship Type="http://schemas.openxmlformats.org/officeDocument/2006/relationships/image" Target="/ppt/media/image6.png" Id="Rf17f90702c8443ce" /><Relationship Type="http://schemas.openxmlformats.org/officeDocument/2006/relationships/notesSlide" Target="/ppt/notesSlides/notesSlide20.xml" Id="Rb745c01608d34bd3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3f2c216ff854ca9" /><Relationship Type="http://schemas.openxmlformats.org/officeDocument/2006/relationships/image" Target="/ppt/media/image7.png" Id="Rf31e66ed4b4840e6" /><Relationship Type="http://schemas.openxmlformats.org/officeDocument/2006/relationships/notesSlide" Target="/ppt/notesSlides/notesSlide21.xml" Id="Rba42de4a18054f51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dc6901a85d446cd" /><Relationship Type="http://schemas.openxmlformats.org/officeDocument/2006/relationships/hyperlink" Target="https://doi.org/10.1038/s41586-021-04158-y" TargetMode="External" Id="R8bedb5192f7b45c4" /><Relationship Type="http://schemas.openxmlformats.org/officeDocument/2006/relationships/hyperlink" Target="https://www.ebi.ac.uk/gxa/sc/experiments/E-MTAB-3929/Results" TargetMode="External" Id="R389c20861480466f" /><Relationship Type="http://schemas.openxmlformats.org/officeDocument/2006/relationships/notesSlide" Target="/ppt/notesSlides/notesSlide22.xml" Id="R107801ab529d4e8d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4164bfe83044e46" /><Relationship Type="http://schemas.openxmlformats.org/officeDocument/2006/relationships/image" Target="/ppt/media/image8.png" Id="R4a878382b8614f92" /><Relationship Type="http://schemas.openxmlformats.org/officeDocument/2006/relationships/notesSlide" Target="/ppt/notesSlides/notesSlide23.xml" Id="Rd25c92adfa724e11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2225cd3f0294342" /><Relationship Type="http://schemas.openxmlformats.org/officeDocument/2006/relationships/image" Target="/ppt/media/image9.png" Id="R751fd90971d64c96" /><Relationship Type="http://schemas.openxmlformats.org/officeDocument/2006/relationships/notesSlide" Target="/ppt/notesSlides/notesSlide24.xml" Id="R30fbbe72c0524472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c077e50713545c5" /><Relationship Type="http://schemas.openxmlformats.org/officeDocument/2006/relationships/notesSlide" Target="/ppt/notesSlides/notesSlide25.xml" Id="R6a21350b56fb4a0b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a9a021073204b55" /><Relationship Type="http://schemas.openxmlformats.org/officeDocument/2006/relationships/hyperlink" Target="https://v23.proteinatlas.org/about/download" TargetMode="External" Id="Ra507caa54b8742dd" /><Relationship Type="http://schemas.openxmlformats.org/officeDocument/2006/relationships/hyperlink" Target="https://v23.proteinatlas.org/about/download" TargetMode="External" Id="Rc162badb45144d10" /><Relationship Type="http://schemas.openxmlformats.org/officeDocument/2006/relationships/hyperlink" Target="https://v23.proteinatlas.org/about/download" TargetMode="External" Id="R1322799ce9374ea1" /><Relationship Type="http://schemas.openxmlformats.org/officeDocument/2006/relationships/hyperlink" Target="https://v23.proteinatlas.org/about/download" TargetMode="External" Id="R727a66bde6de437c" /><Relationship Type="http://schemas.openxmlformats.org/officeDocument/2006/relationships/hyperlink" Target="https://gtexportal.org/home/downloads/adult-gtex" TargetMode="External" Id="R9ba3e4de246c4b62" /><Relationship Type="http://schemas.openxmlformats.org/officeDocument/2006/relationships/hyperlink" Target="https://v23.proteinatlas.org/about/download" TargetMode="External" Id="R6e4780761c404d3a" /><Relationship Type="http://schemas.openxmlformats.org/officeDocument/2006/relationships/hyperlink" Target="https://dice-database.org/" TargetMode="External" Id="Rd3a62c386be84250" /><Relationship Type="http://schemas.openxmlformats.org/officeDocument/2006/relationships/notesSlide" Target="/ppt/notesSlides/notesSlide26.xml" Id="R9b0a59c5186a44d7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c99f8501ee64b5a" /><Relationship Type="http://schemas.openxmlformats.org/officeDocument/2006/relationships/notesSlide" Target="/ppt/notesSlides/notesSlide27.xml" Id="R92e34ca590004919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3d39dbc160d4d2b" /><Relationship Type="http://schemas.openxmlformats.org/officeDocument/2006/relationships/hyperlink" Target="https://doi.org/10.1038/s41467-024-47649-y" TargetMode="External" Id="Rc75c172864f84bbb" /><Relationship Type="http://schemas.openxmlformats.org/officeDocument/2006/relationships/hyperlink" Target="https://pmc.ncbi.nlm.nih.gov/articles/PMC11388079/" TargetMode="External" Id="R5965a669570d4874" /><Relationship Type="http://schemas.openxmlformats.org/officeDocument/2006/relationships/hyperlink" Target="https://pmc.ncbi.nlm.nih.gov/articles/PMC6658352/" TargetMode="External" Id="R29432e0061864aef" /><Relationship Type="http://schemas.openxmlformats.org/officeDocument/2006/relationships/notesSlide" Target="/ppt/notesSlides/notesSlide28.xml" Id="R3c1995cdcb924b61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715f14894904561" /><Relationship Type="http://schemas.openxmlformats.org/officeDocument/2006/relationships/notesSlide" Target="/ppt/notesSlides/notesSlide29.xml" Id="R244c654232e74413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0f981b1943b42e0" /><Relationship Type="http://schemas.openxmlformats.org/officeDocument/2006/relationships/hyperlink" Target="https://gtexportal.org/home/downloads/adult-gtex" TargetMode="External" Id="Rcb27bd1042e64d48" /><Relationship Type="http://schemas.openxmlformats.org/officeDocument/2006/relationships/hyperlink" Target="https://www.proteinatlas.org/about/releases" TargetMode="External" Id="R8bc59eef152c44bc" /><Relationship Type="http://schemas.openxmlformats.org/officeDocument/2006/relationships/hyperlink" Target="https://gtexportal.org/home/downloads/adult-gtex" TargetMode="External" Id="Rb61ed8cbf1304b03" /><Relationship Type="http://schemas.openxmlformats.org/officeDocument/2006/relationships/hyperlink" Target="https://v23.proteinatlas.org/about/download" TargetMode="External" Id="R2de5472b5f1b43c3" /><Relationship Type="http://schemas.openxmlformats.org/officeDocument/2006/relationships/notesSlide" Target="/ppt/notesSlides/notesSlide30.xml" Id="R58dc6b868c454267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bar"/>
        <c:grouping val="stacked"/>
        <c:varyColors val="0"/>
        <c:ser>
          <c:idx val="0"/>
          <c:order val="0"/>
          <c:tx>
            <c:v>Eligible so far</c:v>
          </c:tx>
          <c:spPr>
            <a:solidFill xmlns:a="http://schemas.openxmlformats.org/drawingml/2006/main">
              <a:srgbClr val="087E8B"/>
            </a:solidFill>
          </c:spPr>
          <c:invertIfNegative val="0"/>
          <c:cat>
            <c:strRef>
              <c:f>'Chart Data'!$A$2:$A$16</c:f>
              <c:strCache>
                <c:ptCount val="15"/>
                <c:pt idx="0">
                  <c:v>Neither profiles</c:v>
                </c:pt>
                <c:pt idx="1">
                  <c:v>External IHC</c:v>
                </c:pt>
                <c:pt idx="2">
                  <c:v>Clinical safety</c:v>
                </c:pt>
                <c:pt idx="3">
                  <c:v>Curated protein</c:v>
                </c:pt>
                <c:pt idx="4">
                  <c:v>Cornea</c:v>
                </c:pt>
                <c:pt idx="5">
                  <c:v>DICE</c:v>
                </c:pt>
                <c:pt idx="6">
                  <c:v>Monaco</c:v>
                </c:pt>
                <c:pt idx="7">
                  <c:v>HPA immune</c:v>
                </c:pt>
                <c:pt idx="8">
                  <c:v>Tissue clusters</c:v>
                </c:pt>
                <c:pt idx="9">
                  <c:v>Bulk RNA</c:v>
                </c:pt>
                <c:pt idx="10">
                  <c:v>Concentration</c:v>
                </c:pt>
                <c:pt idx="11">
                  <c:v>Coverage</c:v>
                </c:pt>
                <c:pt idx="12">
                  <c:v>HPA protein</c:v>
                </c:pt>
                <c:pt idx="13">
                  <c:v>Cancer expression</c:v>
                </c:pt>
                <c:pt idx="14">
                  <c:v>Reproductive evidence</c:v>
                </c:pt>
              </c:strCache>
            </c:strRef>
          </c:cat>
          <c:val>
            <c:numRef>
              <c:f>'Chart Data'!$B$2:$B$16</c:f>
              <c:numCache>
                <c:formatCode>General</c:formatCode>
                <c:ptCount val="15"/>
                <c:pt idx="0">
                  <c:v>522</c:v>
                </c:pt>
                <c:pt idx="1">
                  <c:v>522</c:v>
                </c:pt>
                <c:pt idx="2">
                  <c:v>522</c:v>
                </c:pt>
                <c:pt idx="3">
                  <c:v>523</c:v>
                </c:pt>
                <c:pt idx="4">
                  <c:v>524</c:v>
                </c:pt>
                <c:pt idx="5">
                  <c:v>527</c:v>
                </c:pt>
                <c:pt idx="6">
                  <c:v>542</c:v>
                </c:pt>
                <c:pt idx="7">
                  <c:v>545</c:v>
                </c:pt>
                <c:pt idx="8">
                  <c:v>552</c:v>
                </c:pt>
                <c:pt idx="9">
                  <c:v>731</c:v>
                </c:pt>
                <c:pt idx="10">
                  <c:v>4012</c:v>
                </c:pt>
                <c:pt idx="11">
                  <c:v>4223</c:v>
                </c:pt>
                <c:pt idx="12">
                  <c:v>4414</c:v>
                </c:pt>
                <c:pt idx="13">
                  <c:v>15314</c:v>
                </c:pt>
                <c:pt idx="14">
                  <c:v>15327</c:v>
                </c:pt>
              </c:numCache>
            </c:numRef>
          </c:val>
        </c:ser>
        <c:ser>
          <c:idx val="1"/>
          <c:order val="1"/>
          <c:tx>
            <c:v>Unsafe</c:v>
          </c:tx>
          <c:spPr>
            <a:solidFill xmlns:a="http://schemas.openxmlformats.org/drawingml/2006/main">
              <a:srgbClr val="AC493B"/>
            </a:solidFill>
          </c:spPr>
          <c:invertIfNegative val="0"/>
          <c:cat>
            <c:strRef>
              <c:f>'Chart Data'!$C$2:$C$16</c:f>
              <c:strCache>
                <c:ptCount val="15"/>
                <c:pt idx="0">
                  <c:v>Neither profiles</c:v>
                </c:pt>
                <c:pt idx="1">
                  <c:v>External IHC</c:v>
                </c:pt>
                <c:pt idx="2">
                  <c:v>Clinical safety</c:v>
                </c:pt>
                <c:pt idx="3">
                  <c:v>Curated protein</c:v>
                </c:pt>
                <c:pt idx="4">
                  <c:v>Cornea</c:v>
                </c:pt>
                <c:pt idx="5">
                  <c:v>DICE</c:v>
                </c:pt>
                <c:pt idx="6">
                  <c:v>Monaco</c:v>
                </c:pt>
                <c:pt idx="7">
                  <c:v>HPA immune</c:v>
                </c:pt>
                <c:pt idx="8">
                  <c:v>Tissue clusters</c:v>
                </c:pt>
                <c:pt idx="9">
                  <c:v>Bulk RNA</c:v>
                </c:pt>
                <c:pt idx="10">
                  <c:v>Concentration</c:v>
                </c:pt>
                <c:pt idx="11">
                  <c:v>Coverage</c:v>
                </c:pt>
                <c:pt idx="12">
                  <c:v>HPA protein</c:v>
                </c:pt>
                <c:pt idx="13">
                  <c:v>Cancer expression</c:v>
                </c:pt>
                <c:pt idx="14">
                  <c:v>Reproductive evidence</c:v>
                </c:pt>
              </c:strCache>
            </c:strRef>
          </c:cat>
          <c:val>
            <c:numRef>
              <c:f>'Chart Data'!$D$2:$D$16</c:f>
              <c:numCache>
                <c:formatCode>General</c:formatCode>
                <c:ptCount val="15"/>
                <c:pt idx="0">
                  <c:v>18031</c:v>
                </c:pt>
                <c:pt idx="1">
                  <c:v>18031</c:v>
                </c:pt>
                <c:pt idx="2">
                  <c:v>18031</c:v>
                </c:pt>
                <c:pt idx="3">
                  <c:v>18030</c:v>
                </c:pt>
                <c:pt idx="4">
                  <c:v>18028</c:v>
                </c:pt>
                <c:pt idx="5">
                  <c:v>18016</c:v>
                </c:pt>
                <c:pt idx="6">
                  <c:v>17961</c:v>
                </c:pt>
                <c:pt idx="7">
                  <c:v>17944</c:v>
                </c:pt>
                <c:pt idx="8">
                  <c:v>17914</c:v>
                </c:pt>
                <c:pt idx="9">
                  <c:v>17500</c:v>
                </c:pt>
                <c:pt idx="10">
                  <c:v>10094</c:v>
                </c:pt>
                <c:pt idx="11">
                  <c:v>10094</c:v>
                </c:pt>
                <c:pt idx="12">
                  <c:v>10094</c:v>
                </c:pt>
                <c:pt idx="13">
                  <c:v>0</c:v>
                </c:pt>
                <c:pt idx="14">
                  <c:v>0</c:v>
                </c:pt>
              </c:numCache>
            </c:numRef>
          </c:val>
        </c:ser>
        <c:ser>
          <c:idx val="2"/>
          <c:order val="2"/>
          <c:tx>
            <c:v>Neither</c:v>
          </c:tx>
          <c:spPr>
            <a:solidFill xmlns:a="http://schemas.openxmlformats.org/drawingml/2006/main">
              <a:srgbClr val="A28C68"/>
            </a:solidFill>
          </c:spPr>
          <c:invertIfNegative val="0"/>
          <c:cat>
            <c:strRef>
              <c:f>'Chart Data'!$E$2:$E$16</c:f>
              <c:strCache>
                <c:ptCount val="15"/>
                <c:pt idx="0">
                  <c:v>Neither profiles</c:v>
                </c:pt>
                <c:pt idx="1">
                  <c:v>External IHC</c:v>
                </c:pt>
                <c:pt idx="2">
                  <c:v>Clinical safety</c:v>
                </c:pt>
                <c:pt idx="3">
                  <c:v>Curated protein</c:v>
                </c:pt>
                <c:pt idx="4">
                  <c:v>Cornea</c:v>
                </c:pt>
                <c:pt idx="5">
                  <c:v>DICE</c:v>
                </c:pt>
                <c:pt idx="6">
                  <c:v>Monaco</c:v>
                </c:pt>
                <c:pt idx="7">
                  <c:v>HPA immune</c:v>
                </c:pt>
                <c:pt idx="8">
                  <c:v>Tissue clusters</c:v>
                </c:pt>
                <c:pt idx="9">
                  <c:v>Bulk RNA</c:v>
                </c:pt>
                <c:pt idx="10">
                  <c:v>Concentration</c:v>
                </c:pt>
                <c:pt idx="11">
                  <c:v>Coverage</c:v>
                </c:pt>
                <c:pt idx="12">
                  <c:v>HPA protein</c:v>
                </c:pt>
                <c:pt idx="13">
                  <c:v>Cancer expression</c:v>
                </c:pt>
                <c:pt idx="14">
                  <c:v>Reproductive evidence</c:v>
                </c:pt>
              </c:strCache>
            </c:strRef>
          </c:cat>
          <c:val>
            <c:numRef>
              <c:f>'Chart Data'!$F$2:$F$16</c:f>
              <c:numCache>
                <c:formatCode>General</c:formatCode>
                <c:ptCount val="15"/>
                <c:pt idx="0">
                  <c:v>20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</c:numCache>
            </c:numRef>
          </c:val>
        </c:ser>
        <c:ser>
          <c:idx val="3"/>
          <c:order val="3"/>
          <c:tx>
            <c:v>Unassigned</c:v>
          </c:tx>
          <c:spPr>
            <a:solidFill xmlns:a="http://schemas.openxmlformats.org/drawingml/2006/main">
              <a:srgbClr val="B9C3CD"/>
            </a:solidFill>
          </c:spPr>
          <c:invertIfNegative val="0"/>
          <c:cat>
            <c:strRef>
              <c:f>'Chart Data'!$G$2:$G$16</c:f>
              <c:strCache>
                <c:ptCount val="15"/>
                <c:pt idx="0">
                  <c:v>Neither profiles</c:v>
                </c:pt>
                <c:pt idx="1">
                  <c:v>External IHC</c:v>
                </c:pt>
                <c:pt idx="2">
                  <c:v>Clinical safety</c:v>
                </c:pt>
                <c:pt idx="3">
                  <c:v>Curated protein</c:v>
                </c:pt>
                <c:pt idx="4">
                  <c:v>Cornea</c:v>
                </c:pt>
                <c:pt idx="5">
                  <c:v>DICE</c:v>
                </c:pt>
                <c:pt idx="6">
                  <c:v>Monaco</c:v>
                </c:pt>
                <c:pt idx="7">
                  <c:v>HPA immune</c:v>
                </c:pt>
                <c:pt idx="8">
                  <c:v>Tissue clusters</c:v>
                </c:pt>
                <c:pt idx="9">
                  <c:v>Bulk RNA</c:v>
                </c:pt>
                <c:pt idx="10">
                  <c:v>Concentration</c:v>
                </c:pt>
                <c:pt idx="11">
                  <c:v>Coverage</c:v>
                </c:pt>
                <c:pt idx="12">
                  <c:v>HPA protein</c:v>
                </c:pt>
                <c:pt idx="13">
                  <c:v>Cancer expression</c:v>
                </c:pt>
                <c:pt idx="14">
                  <c:v>Reproductive evidence</c:v>
                </c:pt>
              </c:strCache>
            </c:strRef>
          </c:cat>
          <c:val>
            <c:numRef>
              <c:f>'Chart Data'!$H$2:$H$16</c:f>
              <c:numCache>
                <c:formatCode>General</c:formatCode>
                <c:ptCount val="15"/>
                <c:pt idx="0">
                  <c:v>1290</c:v>
                </c:pt>
                <c:pt idx="1">
                  <c:v>1310</c:v>
                </c:pt>
                <c:pt idx="2">
                  <c:v>1310</c:v>
                </c:pt>
                <c:pt idx="3">
                  <c:v>1310</c:v>
                </c:pt>
                <c:pt idx="4">
                  <c:v>1311</c:v>
                </c:pt>
                <c:pt idx="5">
                  <c:v>1320</c:v>
                </c:pt>
                <c:pt idx="6">
                  <c:v>1360</c:v>
                </c:pt>
                <c:pt idx="7">
                  <c:v>1374</c:v>
                </c:pt>
                <c:pt idx="8">
                  <c:v>1397</c:v>
                </c:pt>
                <c:pt idx="9">
                  <c:v>1632</c:v>
                </c:pt>
                <c:pt idx="10">
                  <c:v>5757</c:v>
                </c:pt>
                <c:pt idx="11">
                  <c:v>5546</c:v>
                </c:pt>
                <c:pt idx="12">
                  <c:v>5355</c:v>
                </c:pt>
                <c:pt idx="13">
                  <c:v>4549</c:v>
                </c:pt>
                <c:pt idx="14">
                  <c:v>4536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650">
                  <a:solidFill>
                    <a:srgbClr val="173B55"/>
                  </a:solidFill>
                  <a:latin typeface="Helvetica Neue"/>
                  <a:ea typeface="Helvetica Neue"/>
                  <a:cs typeface="Helvetica Neue"/>
                </a:defRPr>
              </a:pPr>
            </a:p>
          </c:txPr>
          <c:dLblPos val="inEnd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FFFFF"/>
        </a:solidFill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500">
              <a:solidFill>
                <a:srgbClr val="173B55"/>
              </a:solidFill>
              <a:latin typeface="Helvetica Neue"/>
              <a:ea typeface="Helvetica Neue"/>
              <a:cs typeface="Helvetica Neue"/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9F6E758-12A2-4FD0-BCCF-B06C95AC1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CURRENT SELECTION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EDC07EA-A401-4E02-84F6-FF02202B3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Human and dog CTA evidence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49343E1-7F32-49D3-8CCD-387DFA610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29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3335241-8C56-4382-851E-373A70F0F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A6CE83A-4B9B-4659-8FEF-CC0E416DF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2405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495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495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495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495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495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495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495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495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495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495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495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495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522 human CTA proteins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590843D-0BA6-4406-A54D-0B4228978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90875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400" b="0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400" b="0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400" b="0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400" b="0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400" b="0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400" b="0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400" b="0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400" b="0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400" b="0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400" b="0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400" b="0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0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558 loci   /   18,031 Unsafe   /   20 Neither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7E1C75C-1ECD-4438-AF17-FC6D1A32B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48150"/>
            <a:ext cx="109728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400" b="0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400" b="0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400" b="0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400" b="0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400" b="0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400" b="0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400" b="0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400" b="0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400" b="0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400" b="0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400" b="0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0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1,290 unassigned; dog selection remains unassessed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E1BAC7A-11EF-4802-BB3C-8EBCB92FE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Sources, expression profiles, single-cutoff filtering and measured tissue evidence.</a:t>
            </a:r>
          </a:p>
        </p:txBody>
      </p:sp>
    </p:spTree>
    <p:extLst>
      <p:ext uri="{BB962C8B-B14F-4D97-AF65-F5344CB8AC3E}">
        <p14:creationId xmlns:p14="http://schemas.microsoft.com/office/powerpoint/2010/main" val="64604921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1601EBD-EBD9-4C99-AC1B-13CFEA62B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INDEPENDENT QUESTIONS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A6C7C86-B0C2-4629-9DC7-40E928FEE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Safety, cancer and Reproductive evidence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273A40C-2828-400B-A1EC-531DEE606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29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EEE11F-E1A1-45B6-AB09-A524D7DBE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1D74573-0129-4BF2-96CC-D90CEB65F36C}"/>
              </a:ext>
            </a:extLst>
          </p:cNvPr>
          <p:cNvGraphicFramePr/>
          <p:nvPr/>
        </p:nvGraphicFramePr>
        <p:xfrm>
          <a:off xmlns:a="http://schemas.openxmlformats.org/drawingml/2006/main" x="609600" y="1619250"/>
          <a:ext xmlns:a="http://schemas.openxmlformats.org/drawingml/2006/main" cx="10972800" cy="3619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857500"/>
                <a:gridCol w="4305300"/>
                <a:gridCol w="3810000"/>
              </a:tblGrid>
              <a:tr h="72390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Assessment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Question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Current rule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</a:tr>
              <a:tr h="72390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Safety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Concerning normal expression?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Absolute RNA / IHC and clinical rules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2390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Cancer expression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Expressed in a measured cancer?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One sample ≥2 TPM or pTPM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72390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Reproductive evidence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Expression in a qualifying branch?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Adult/placental ≥5 nTPM or supported embryonic ≥5 TPM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2390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Coverage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Are required panels measured?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All GTEx core contexts and existing HPA panels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6828C6F-9DFB-424F-AEC2-0E24C06E9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Only safety establishes Unsafe. Missing core data remain unassigned. RNA is not a direct protein measurement.</a:t>
            </a:r>
          </a:p>
        </p:txBody>
      </p:sp>
    </p:spTree>
    <p:extLst>
      <p:ext uri="{BB962C8B-B14F-4D97-AF65-F5344CB8AC3E}">
        <p14:creationId xmlns:p14="http://schemas.microsoft.com/office/powerpoint/2010/main" val="85134175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7D1BBAB-445C-4652-BDAB-9D3AB4BC5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HPA PROFILE IDENTITY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ED18DAE-0957-4B2B-8AD8-E62C27382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Diffuse expression is an identity question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0C5F4FF-248C-4168-84CE-F73471192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29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533FA71-7166-4333-924D-8A7749076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929A805-7C3E-48D3-9398-BCB95E107129}"/>
              </a:ext>
            </a:extLst>
          </p:cNvPr>
          <p:cNvGraphicFramePr/>
          <p:nvPr/>
        </p:nvGraphicFramePr>
        <p:xfrm>
          <a:off xmlns:a="http://schemas.openxmlformats.org/drawingml/2006/main" x="609600" y="1619250"/>
          <a:ext xmlns:a="http://schemas.openxmlformats.org/drawingml/2006/main" cx="10972800" cy="3048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190875"/>
                <a:gridCol w="7781925"/>
              </a:tblGrid>
              <a:tr h="609600"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Term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Meaning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N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 u="sng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  <a:hlinkClick xmlns:r="http://schemas.openxmlformats.org/officeDocument/2006/relationships" r:id="R3a6bfc73f892419a"/>
                        </a:rPr>
                        <a:t>HPA v23</a:t>
                      </a:r>
                      <a:r>
                        <a:rPr sz="20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normal-tissue nTPM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R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Highest Reproductive nTPM in </a:t>
                      </a:r>
                      <a:r>
                        <a:rPr sz="2025" b="0" u="sng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  <a:hlinkClick xmlns:r="http://schemas.openxmlformats.org/officeDocument/2006/relationships" r:id="R4c6ad57b52c54b40"/>
                        </a:rPr>
                        <a:t>HPA v23</a:t>
                      </a:r>
                      <a:r>
                        <a:rPr sz="20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(adult/placental)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N / (N + R)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Average across 29 organs / 38 contexts; thymus excluded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Active boundary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Average &gt;10%, with R ≥5 and a complete comparison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FB2B482-3590-4669-B504-DF1F065DC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81625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MTCP1 moves to Neither: 24.53%. Thymus is excluded. Embryonic concentration remains unassessed.</a:t>
            </a:r>
          </a:p>
        </p:txBody>
      </p:sp>
    </p:spTree>
    <p:extLst>
      <p:ext uri="{BB962C8B-B14F-4D97-AF65-F5344CB8AC3E}">
        <p14:creationId xmlns:p14="http://schemas.microsoft.com/office/powerpoint/2010/main" val="113019614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FF14F9C-AE7D-4E2C-A2EB-6658BC50C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COVERAGE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8B5031F-0C94-4045-82A3-B383FF61C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A fixed GTEx core for every protein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D2944BF-CB21-4830-BF67-B84B6D86B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29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BAC9758-ACEA-4B46-8BCF-894287D27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04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97FCB2-AAC9-496A-A3CD-AE7E1BD2E96F}"/>
              </a:ext>
            </a:extLst>
          </p:cNvPr>
          <p:cNvGraphicFramePr/>
          <p:nvPr/>
        </p:nvGraphicFramePr>
        <p:xfrm>
          <a:off xmlns:a="http://schemas.openxmlformats.org/drawingml/2006/main" x="609600" y="1619250"/>
          <a:ext xmlns:a="http://schemas.openxmlformats.org/drawingml/2006/main" cx="10972800" cy="3143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333750"/>
                <a:gridCol w="7639050"/>
              </a:tblGrid>
              <a:tr h="628650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Requirement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Interpretation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r>
                        <a:rPr sz="1950" b="1" u="sng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  <a:hlinkClick xmlns:r="http://schemas.openxmlformats.org/officeDocument/2006/relationships" r:id="Rbf303ac8a7e942d0"/>
                        </a:rPr>
                        <a:t>GTEx v11</a:t>
                      </a:r>
                      <a:r>
                        <a:rPr sz="19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: 52 bulk contexts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Same contexts for every protein; measured zero counts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All member loci measured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Missing identities are not replaced by paralogs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Missing core coverage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Blocks CTA; unassigned unless independent Unsafe evidence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Optional </a:t>
                      </a:r>
                      <a:r>
                        <a:rPr sz="1950" b="1" u="sng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  <a:hlinkClick xmlns:r="http://schemas.openxmlformats.org/officeDocument/2006/relationships" r:id="R977f6a4df2a9427e"/>
                        </a:rPr>
                        <a:t>DICE</a:t>
                      </a:r>
                      <a:r>
                        <a:rPr sz="19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/ cornea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Missing coverage allowed; observed safety evidence counts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93DF9AA-67BE-4247-A093-7B66BB5EB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76875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GTEx does not cover every organ, fetal stage or rare cell. Existing HPA cell / immune coverage requirements also apply.</a:t>
            </a:r>
          </a:p>
        </p:txBody>
      </p:sp>
    </p:spTree>
    <p:extLst>
      <p:ext uri="{BB962C8B-B14F-4D97-AF65-F5344CB8AC3E}">
        <p14:creationId xmlns:p14="http://schemas.microsoft.com/office/powerpoint/2010/main" val="155834197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4D6C0B-005A-422E-B36D-ED1690256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CALCULATION AUDIT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D259769-419E-4A77-9BE5-16B15365A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ZNF730: panel composition matters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9F880E6-73C7-4A9B-BE5C-2A8497C37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29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279A55B-F76C-4931-82B3-36DF98D17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05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8074C5B-A363-4D7A-B1EA-29A8F4EB0F36}"/>
              </a:ext>
            </a:extLst>
          </p:cNvPr>
          <p:cNvGraphicFramePr/>
          <p:nvPr/>
        </p:nvGraphicFramePr>
        <p:xfrm>
          <a:off xmlns:a="http://schemas.openxmlformats.org/drawingml/2006/main" x="609600" y="1714500"/>
          <a:ext xmlns:a="http://schemas.openxmlformats.org/drawingml/2006/main" cx="10972800" cy="2667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381500"/>
                <a:gridCol w="3295650"/>
                <a:gridCol w="3295650"/>
              </a:tblGrid>
              <a:tr h="666750"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Calculation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HPA v23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GTEx v11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Reproductive reference (testis)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4.9 nTPM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4.91414 TPM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Full source panel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9.53%: 29 anatomy units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1.65%: 23 anatomy units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Same 20 anatomy units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6.36%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1.71%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FC044E2-91AF-4820-A125-AA1210DFE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Thymus is Permissive: excluded from both sides of the score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97C9F30-B01B-4484-8E52-DFB584701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3880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Thymus exclusion changes HPA 10.34% → 9.53%. Independent safety evidence keeps ZNF730 Unsafe.</a:t>
            </a:r>
          </a:p>
        </p:txBody>
      </p:sp>
    </p:spTree>
    <p:extLst>
      <p:ext uri="{BB962C8B-B14F-4D97-AF65-F5344CB8AC3E}">
        <p14:creationId xmlns:p14="http://schemas.microsoft.com/office/powerpoint/2010/main" val="27176911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DCDD743-6559-4BE5-B7CF-A7293BFBA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HUMAN ANNOTATIONS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F685F6C-7727-47C0-808A-0960B1737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Published candidate lists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75E2238-7E8A-43AD-9AEC-A860C2005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29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9ED5711-78F8-45D8-B6F6-62B1115B3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06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BA9201B-C0D7-4233-8F47-A4A31948638E}"/>
              </a:ext>
            </a:extLst>
          </p:cNvPr>
          <p:cNvGraphicFramePr/>
          <p:nvPr/>
        </p:nvGraphicFramePr>
        <p:xfrm>
          <a:off xmlns:a="http://schemas.openxmlformats.org/drawingml/2006/main" x="609600" y="1504950"/>
          <a:ext xmlns:a="http://schemas.openxmlformats.org/drawingml/2006/main" cx="10972800" cy="4000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714750"/>
                <a:gridCol w="1428750"/>
                <a:gridCol w="1333500"/>
                <a:gridCol w="1524000"/>
                <a:gridCol w="1428750"/>
                <a:gridCol w="1543050"/>
              </a:tblGrid>
              <a:tr h="307731"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Paper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Proteins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CTA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Unsafe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Neither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Unassigned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</a:tr>
              <a:tr h="307731">
                <a:tc>
                  <a:txBody>
                    <a:bodyPr/>
                    <a:lstStyle/>
                    <a:p>
                      <a:r>
                        <a:rPr sz="1425" b="1" u="sng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  <a:hlinkClick xmlns:r="http://schemas.openxmlformats.org/officeDocument/2006/relationships" r:id="R8b56f122e1704df8"/>
                        </a:rPr>
                        <a:t>da Silva et al. (2017)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1,017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372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401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243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07731">
                <a:tc>
                  <a:txBody>
                    <a:bodyPr/>
                    <a:lstStyle/>
                    <a:p>
                      <a:r>
                        <a:rPr sz="1425" b="1" u="sng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  <a:hlinkClick xmlns:r="http://schemas.openxmlformats.org/officeDocument/2006/relationships" r:id="Rbe6eac80c642491b"/>
                        </a:rPr>
                        <a:t>Wang et al. (2016)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988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264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640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83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307731">
                <a:tc>
                  <a:txBody>
                    <a:bodyPr/>
                    <a:lstStyle/>
                    <a:p>
                      <a:r>
                        <a:rPr sz="1425" b="1" u="sng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  <a:hlinkClick xmlns:r="http://schemas.openxmlformats.org/officeDocument/2006/relationships" r:id="R839b4c8ca52f485c"/>
                        </a:rPr>
                        <a:t>Chang et al. (2019)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985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285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639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61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07731">
                <a:tc>
                  <a:txBody>
                    <a:bodyPr/>
                    <a:lstStyle/>
                    <a:p>
                      <a:r>
                        <a:rPr sz="1425" b="1" u="sng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  <a:hlinkClick xmlns:r="http://schemas.openxmlformats.org/officeDocument/2006/relationships" r:id="Rd63629391a614663"/>
                        </a:rPr>
                        <a:t>Gong et al. (2021)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729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337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306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86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307731">
                <a:tc>
                  <a:txBody>
                    <a:bodyPr/>
                    <a:lstStyle/>
                    <a:p>
                      <a:r>
                        <a:rPr sz="1425" b="1" u="sng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  <a:hlinkClick xmlns:r="http://schemas.openxmlformats.org/officeDocument/2006/relationships" r:id="Rf0d8b9980f1a4be4"/>
                        </a:rPr>
                        <a:t>Bruggeman et al. (2018)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692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23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663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6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07731">
                <a:tc>
                  <a:txBody>
                    <a:bodyPr/>
                    <a:lstStyle/>
                    <a:p>
                      <a:r>
                        <a:rPr sz="1425" b="1" u="sng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  <a:hlinkClick xmlns:r="http://schemas.openxmlformats.org/officeDocument/2006/relationships" r:id="R4f9775eef08d4365"/>
                        </a:rPr>
                        <a:t>Jamin et al. (2021)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469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34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427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8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307731">
                <a:tc>
                  <a:txBody>
                    <a:bodyPr/>
                    <a:lstStyle/>
                    <a:p>
                      <a:r>
                        <a:rPr sz="1425" b="1" u="sng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  <a:hlinkClick xmlns:r="http://schemas.openxmlformats.org/officeDocument/2006/relationships" r:id="R83bce568d5c54498"/>
                        </a:rPr>
                        <a:t>Loriot et al. (2025)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202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81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101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20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07731">
                <a:tc>
                  <a:txBody>
                    <a:bodyPr/>
                    <a:lstStyle/>
                    <a:p>
                      <a:r>
                        <a:rPr sz="1425" b="1" u="sng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  <a:hlinkClick xmlns:r="http://schemas.openxmlformats.org/officeDocument/2006/relationships" r:id="R47671a9e7ebe436d"/>
                        </a:rPr>
                        <a:t>Carter et al. (2023)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103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57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37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9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307731">
                <a:tc>
                  <a:txBody>
                    <a:bodyPr/>
                    <a:lstStyle/>
                    <a:p>
                      <a:r>
                        <a:rPr sz="1425" b="1" u="sng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  <a:hlinkClick xmlns:r="http://schemas.openxmlformats.org/officeDocument/2006/relationships" r:id="Rc864c26d9eec48a1"/>
                        </a:rPr>
                        <a:t>Hirbo et al. (2015)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78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12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64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2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07731">
                <a:tc>
                  <a:txBody>
                    <a:bodyPr/>
                    <a:lstStyle/>
                    <a:p>
                      <a:r>
                        <a:rPr sz="1425" b="1" u="sng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  <a:hlinkClick xmlns:r="http://schemas.openxmlformats.org/officeDocument/2006/relationships" r:id="R95bdaaa985844d4c"/>
                        </a:rPr>
                        <a:t>Seager et al. (2024)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15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11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2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2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307731">
                <a:tc>
                  <a:txBody>
                    <a:bodyPr/>
                    <a:lstStyle/>
                    <a:p>
                      <a:r>
                        <a:rPr sz="1425" b="1" u="sng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  <a:hlinkClick xmlns:r="http://schemas.openxmlformats.org/officeDocument/2006/relationships" r:id="Rf3ae0f905e2f439e"/>
                        </a:rPr>
                        <a:t>Sasaroli et al. (2011)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13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13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07731">
                <a:tc>
                  <a:txBody>
                    <a:bodyPr/>
                    <a:lstStyle/>
                    <a:p>
                      <a:r>
                        <a:rPr sz="1425" b="1" u="sng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  <a:hlinkClick xmlns:r="http://schemas.openxmlformats.org/officeDocument/2006/relationships" r:id="Ra93c8ccbdcb74127"/>
                        </a:rPr>
                        <a:t>Garg et al. (2007)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5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3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2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2A9202E-4333-4BC6-B6E4-A8231FA94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Union: 2,514 proteins / 2,570 loci. 434 selected proteins have an annotation; 88 do not.</a:t>
            </a:r>
          </a:p>
        </p:txBody>
      </p:sp>
    </p:spTree>
    <p:extLst>
      <p:ext uri="{BB962C8B-B14F-4D97-AF65-F5344CB8AC3E}">
        <p14:creationId xmlns:p14="http://schemas.microsoft.com/office/powerpoint/2010/main" val="143997956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8897916-0412-4CAE-8F9F-910956F2D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PUBLICATION SCOPE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CDC6D23-4844-4ABF-A4AE-2AF0A9FF9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Broader published nominations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FF1FF84-12D0-4B9E-8B64-33E45B762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29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57EBFD8-61D1-44F9-86FF-963BE0139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07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37D4B36-011D-4453-AEDB-4084766CE9C9}"/>
              </a:ext>
            </a:extLst>
          </p:cNvPr>
          <p:cNvGraphicFramePr/>
          <p:nvPr/>
        </p:nvGraphicFramePr>
        <p:xfrm>
          <a:off xmlns:a="http://schemas.openxmlformats.org/drawingml/2006/main" x="609600" y="1619250"/>
          <a:ext xmlns:a="http://schemas.openxmlformats.org/drawingml/2006/main" cx="10972800" cy="3333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762250"/>
                <a:gridCol w="5429250"/>
                <a:gridCol w="2781300"/>
              </a:tblGrid>
              <a:tr h="66675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Paper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Published scope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Identity accounting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875" b="1" u="sng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  <a:hlinkClick xmlns:r="http://schemas.openxmlformats.org/officeDocument/2006/relationships" r:id="R95b6de64e25f4147"/>
                        </a:rPr>
                        <a:t>Sasaroli et al. (2011)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13 detailed tumor-vascular candidates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13 matched genes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875" b="1" u="sng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  <a:hlinkClick xmlns:r="http://schemas.openxmlformats.org/officeDocument/2006/relationships" r:id="R8e4a123641674f7d"/>
                        </a:rPr>
                        <a:t>Hirbo et al. (2015)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86 placenta-enriched genes, including 30 fast-evolving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82 matched, 4 unresolved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Compact source view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Bai, Boël and Bradley covered by larger sets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All memberships retained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875" b="1" u="sng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  <a:hlinkClick xmlns:r="http://schemas.openxmlformats.org/officeDocument/2006/relationships" r:id="R52d16ab81b2d4bce"/>
                        </a:rPr>
                        <a:t>Garg et al. (2007)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Still uniquely contributes SPAG9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Retained in main view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650DAA0-77E9-4E2C-98E1-F30B765E6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Vascular and placental nominations retain their scope. Paper membership never bypasses the quantitative funnel.</a:t>
            </a:r>
          </a:p>
        </p:txBody>
      </p:sp>
    </p:spTree>
    <p:extLst>
      <p:ext uri="{BB962C8B-B14F-4D97-AF65-F5344CB8AC3E}">
        <p14:creationId xmlns:p14="http://schemas.microsoft.com/office/powerpoint/2010/main" val="150885176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F3D1361-7CAE-403E-B939-F7823B216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HUMAN ANNOTATIONS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A4D3B00-0CA6-456D-A01F-CFA6AE8B9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Overlap between published lists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1DEF5A2-123D-454A-9152-81F23B349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29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A778E7-4D1F-4761-9067-27F1C86F2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08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1A2EEFD-7217-498E-AA9A-3307ED4DB8D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0ec44e1dc2f43a1"/>
          <a:stretch xmlns:a="http://schemas.openxmlformats.org/drawingml/2006/main"/>
        </p:blipFill>
        <p:spPr>
          <a:xfrm xmlns:a="http://schemas.openxmlformats.org/drawingml/2006/main">
            <a:off x="1333500" y="1447800"/>
            <a:ext cx="9525000" cy="4762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522562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45B8078-117C-45FE-B5AA-BA4863082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POSITIVE EXPRESSION CONTEXTS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504E702-E8CD-4429-95B4-F8A4E71B7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Reproductive evidence: measured branches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ACBC37E-0D87-4E77-A5AA-588DD6B81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29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630D47B-7B33-4D21-8D7E-5BA966719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09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1874201-F792-4721-8B01-2F44318F3168}"/>
              </a:ext>
            </a:extLst>
          </p:cNvPr>
          <p:cNvGraphicFramePr/>
          <p:nvPr/>
        </p:nvGraphicFramePr>
        <p:xfrm>
          <a:off xmlns:a="http://schemas.openxmlformats.org/drawingml/2006/main" x="609600" y="1619250"/>
          <a:ext xmlns:a="http://schemas.openxmlformats.org/drawingml/2006/main" cx="10972800" cy="2667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5905500"/>
                <a:gridCol w="2533650"/>
                <a:gridCol w="2533650"/>
              </a:tblGrid>
              <a:tr h="666750">
                <a:tc>
                  <a:txBody>
                    <a:bodyPr/>
                    <a:lstStyle/>
                    <a:p>
                      <a:r>
                        <a:rPr sz="217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Qualifying route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Entrants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Final CTA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217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Adult/placental evidence only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2,322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291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217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Embryonic-only evidence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2,095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154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217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Both measured routes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10,910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77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837F2F8-FF8F-43E8-AF1F-0DF5500E5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14875"/>
            <a:ext cx="10972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4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4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4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4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4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4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4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4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4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4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4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Whole-reference RNA measurements create this set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A17F11A-E1A2-4F71-BC42-D01DA392C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81625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Entrants count positive expression before the other admission gates. Reproductive presence and profile concentration are separate questions.</a:t>
            </a:r>
          </a:p>
        </p:txBody>
      </p:sp>
    </p:spTree>
    <p:extLst>
      <p:ext uri="{BB962C8B-B14F-4D97-AF65-F5344CB8AC3E}">
        <p14:creationId xmlns:p14="http://schemas.microsoft.com/office/powerpoint/2010/main" val="74899875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E8D2D0C-08C1-40B4-9985-1E4974354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HUMAN EVIDENCE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EBA20E4-005F-4C47-A6B7-C37F63E7C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Normal and cancer measurement sources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95DA9B3-ED33-4D09-B3C5-4F96B037F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29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C2FD02F-C880-4B4F-A6C7-6EE22FB4D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10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EACE1C1-10B4-44D4-B8AD-C8080A231096}"/>
              </a:ext>
            </a:extLst>
          </p:cNvPr>
          <p:cNvGraphicFramePr/>
          <p:nvPr/>
        </p:nvGraphicFramePr>
        <p:xfrm>
          <a:off xmlns:a="http://schemas.openxmlformats.org/drawingml/2006/main" x="609600" y="1619250"/>
          <a:ext xmlns:a="http://schemas.openxmlformats.org/drawingml/2006/main" cx="10972800" cy="3857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952750"/>
                <a:gridCol w="5429250"/>
                <a:gridCol w="2590800"/>
              </a:tblGrid>
              <a:tr h="482203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Evidence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Source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Quantity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</a:tr>
              <a:tr h="482203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Normal / reproductive bulk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 u="sng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  <a:hlinkClick xmlns:r="http://schemas.openxmlformats.org/officeDocument/2006/relationships" r:id="R0d75640fca434664"/>
                        </a:rPr>
                        <a:t>HPA v23</a:t>
                      </a:r>
                      <a:r>
                        <a:rPr sz="16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consensus / brain + </a:t>
                      </a:r>
                      <a:r>
                        <a:rPr sz="1650" b="0" u="sng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  <a:hlinkClick xmlns:r="http://schemas.openxmlformats.org/officeDocument/2006/relationships" r:id="R1460475c938840a1"/>
                        </a:rPr>
                        <a:t>GTEx v11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nTPM / TPM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82203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Normal tissue cells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 u="sng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  <a:hlinkClick xmlns:r="http://schemas.openxmlformats.org/officeDocument/2006/relationships" r:id="Rb12dfa527d0d4f04"/>
                        </a:rPr>
                        <a:t>HPA v23</a:t>
                      </a:r>
                      <a:r>
                        <a:rPr sz="16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clusters, at least 20 reads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nTPM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482203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Immune cells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 u="sng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  <a:hlinkClick xmlns:r="http://schemas.openxmlformats.org/officeDocument/2006/relationships" r:id="R92a4209dec8e4428"/>
                        </a:rPr>
                        <a:t>HPA v23</a:t>
                      </a:r>
                      <a:r>
                        <a:rPr sz="16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/ Monaco / original </a:t>
                      </a:r>
                      <a:r>
                        <a:rPr sz="1650" b="0" u="sng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  <a:hlinkClick xmlns:r="http://schemas.openxmlformats.org/officeDocument/2006/relationships" r:id="Re133c86f06eb4531"/>
                        </a:rPr>
                        <a:t>DICE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Native nTPM / TPM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82203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Adult cornea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Collin et al., </a:t>
                      </a:r>
                      <a:r>
                        <a:rPr sz="1650" b="0" u="sng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  <a:hlinkClick xmlns:r="http://schemas.openxmlformats.org/officeDocument/2006/relationships" r:id="R35e9c5256f614679"/>
                        </a:rPr>
                        <a:t>GSE155683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CP10K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482203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Normal protein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 u="sng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  <a:hlinkClick xmlns:r="http://schemas.openxmlformats.org/officeDocument/2006/relationships" r:id="R3aee7d795d9b4911"/>
                        </a:rPr>
                        <a:t>HPA v23</a:t>
                      </a:r>
                      <a:r>
                        <a:rPr sz="16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+ curated external IHC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Staining / reagent confidence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82203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Cancer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132 compatible OncoRef cohort views + HPA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TPM / protein-coding TPM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482203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Developmental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Tyser gastrulation + Petropoulos preimplantation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Stage / lineage mean TPM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4982CC3-BF05-41FF-8FA5-44674AFD7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 u="sng">
                <a:solidFill>
                  <a:srgbClr val="536675"/>
                </a:solidFill>
                <a:latin typeface="Helvetica Neue"/>
                <a:ea typeface="Helvetica Neue"/>
                <a:cs typeface="Helvetica Neue"/>
                <a:hlinkClick xmlns:r="http://schemas.openxmlformats.org/officeDocument/2006/relationships" r:id="R0e659a20c2ef49d3"/>
              </a:rPr>
              <a:t>DICE</a:t>
            </a:r>
            <a:r>
              <a: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 and corneal coverage are optional. Measured counterevidence still contributes.</a:t>
            </a:r>
          </a:p>
        </p:txBody>
      </p:sp>
    </p:spTree>
    <p:extLst>
      <p:ext uri="{BB962C8B-B14F-4D97-AF65-F5344CB8AC3E}">
        <p14:creationId xmlns:p14="http://schemas.microsoft.com/office/powerpoint/2010/main" val="113033096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16FDCAD-21F8-4A7C-8405-075CF23D2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CURRENT POLICY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54CD463-BB67-401A-AB04-AEBFD97AF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RNA cutoffs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4D20254-4649-44BE-A5CE-BC79EF7F0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29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240F23-11C9-4090-BE2D-22EB28ADB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11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B3390AD-D644-4111-B7F1-F327D8958ABC}"/>
              </a:ext>
            </a:extLst>
          </p:cNvPr>
          <p:cNvGraphicFramePr/>
          <p:nvPr/>
        </p:nvGraphicFramePr>
        <p:xfrm>
          <a:off xmlns:a="http://schemas.openxmlformats.org/drawingml/2006/main" x="609600" y="1619250"/>
          <a:ext xmlns:a="http://schemas.openxmlformats.org/drawingml/2006/main" cx="10972800" cy="2714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952750"/>
                <a:gridCol w="2333625"/>
                <a:gridCol w="1895475"/>
                <a:gridCol w="1895475"/>
                <a:gridCol w="1895475"/>
              </a:tblGrid>
              <a:tr h="678656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Ceiling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Missing / unusable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Approved −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Supported −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Enhanced −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</a:tr>
              <a:tr h="678656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Vital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4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8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16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32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78656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Protected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8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16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32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64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678656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Manageable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16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32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64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128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72F556F-6AD0-4162-9FDD-A3973C9EA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7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17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17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17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17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17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17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17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17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17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One boundary: above-cutoff Vital / Protected is Unsafe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6C96CF1-BFF7-4A12-9CF3-489C68657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1020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Manageable excess blocks CTA. Bowel epithelium and identified fibroblasts use Manageable. Equality passes.</a:t>
            </a:r>
          </a:p>
        </p:txBody>
      </p:sp>
    </p:spTree>
    <p:extLst>
      <p:ext uri="{BB962C8B-B14F-4D97-AF65-F5344CB8AC3E}">
        <p14:creationId xmlns:p14="http://schemas.microsoft.com/office/powerpoint/2010/main" val="1395082361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E7A4E6B-7012-4E59-B7F0-22BF10A48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CATEGORY DEFINITIONS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DDCF0A3-0835-4BB7-9CA1-F33A2B8FD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Neither describes a measured profile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40C614C-5E62-44D1-9411-C2FBB2110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29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5FF5CBC-4345-4D36-9A0F-ABCF0B0F7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12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6F76B3D-66D1-4AC0-8706-D657E4C891F5}"/>
              </a:ext>
            </a:extLst>
          </p:cNvPr>
          <p:cNvGraphicFramePr/>
          <p:nvPr/>
        </p:nvGraphicFramePr>
        <p:xfrm>
          <a:off xmlns:a="http://schemas.openxmlformats.org/drawingml/2006/main" x="609600" y="1619250"/>
          <a:ext xmlns:a="http://schemas.openxmlformats.org/drawingml/2006/main" cx="10972800" cy="3429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524125"/>
                <a:gridCol w="7115175"/>
                <a:gridCol w="1333500"/>
              </a:tblGrid>
              <a:tr h="85725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Profile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Required evidence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Proteins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</a:tr>
              <a:tr h="85725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Low expression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RNA below 2 across measured normal / reproductive / embryonic / tumor panels; no detected protein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9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5725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Diffuse Manageable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No association route; RNA ≥2 in at least two Manageable tissue concepts; no Vital / Protected exclusion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10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85725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Diffuse Reproductive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HPA score &gt;10%; no qualifying route left; normal safety passes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A91FB87-FE01-4BE2-B633-EA81719FB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3875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1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1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1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1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1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1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1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1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1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All require complete normal RNA coverage and resolved evidence. Other failures remain unassigned.</a:t>
            </a:r>
          </a:p>
        </p:txBody>
      </p:sp>
    </p:spTree>
    <p:extLst>
      <p:ext uri="{BB962C8B-B14F-4D97-AF65-F5344CB8AC3E}">
        <p14:creationId xmlns:p14="http://schemas.microsoft.com/office/powerpoint/2010/main" val="703636082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30E4354-B401-4AAB-B50F-0B2847131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HUMAN FUNNEL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38AFB21-F8BF-42E5-8955-93A86EE37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Every filtering layer can contribute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EBB185E-A5F0-4722-B235-A4DC6A8A1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29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DA4A5F2-3E26-4B59-997B-AA8C68862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13</a:t>
            </a:r>
          </a:p>
        </p:txBody>
      </p:sp>
      <p:graphicFrame>
        <p:nvGraphicFramePr>
          <p:cNvPr id="5" name="Chart">
            <a:extLst xmlns:a="http://schemas.openxmlformats.org/drawingml/2006/main">
              <a:ext uri="{FF2B5EF4-FFF2-40B4-BE49-F238E27FC236}">
                <a16:creationId xmlns:a16="http://schemas.microsoft.com/office/drawing/2014/main" id="{77FD73DF-F7B1-45A2-B97C-353E3B51D740}"/>
              </a:ext>
            </a:extLst>
          </p:cNvPr>
          <p:cNvGraphicFramePr/>
          <p:nvPr/>
        </p:nvGraphicFramePr>
        <p:xfrm>
          <a:off xmlns:a="http://schemas.openxmlformats.org/drawingml/2006/main" x="609600" y="1504950"/>
          <a:ext xmlns:a="http://schemas.openxmlformats.org/drawingml/2006/main" cx="10972800" cy="4143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5c5067ec9db4eed"/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FAB31CB-B11F-421E-BE74-93ABF0809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1025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Final: 522 CTA / 18,031 Unsafe / 20 Neither / 1,290 unassigned.</a:t>
            </a:r>
          </a:p>
        </p:txBody>
      </p:sp>
    </p:spTree>
    <p:extLst>
      <p:ext uri="{BB962C8B-B14F-4D97-AF65-F5344CB8AC3E}">
        <p14:creationId xmlns:p14="http://schemas.microsoft.com/office/powerpoint/2010/main" val="1742305337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E24BBB2-D9BF-430F-B71D-78589D158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HUMAN FUNNEL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176DF2-4962-433E-8E86-2ADFBB2FC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Removals at each filter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FCE7068-C6F1-4E3D-ACCB-54881CD80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29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0F6B624-1986-4D0E-8E55-38ABB3C5C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14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D13600C-A7DD-423D-BEF1-7423EA2CD671}"/>
              </a:ext>
            </a:extLst>
          </p:cNvPr>
          <p:cNvGraphicFramePr/>
          <p:nvPr/>
        </p:nvGraphicFramePr>
        <p:xfrm>
          <a:off xmlns:a="http://schemas.openxmlformats.org/drawingml/2006/main" x="609600" y="1504950"/>
          <a:ext xmlns:a="http://schemas.openxmlformats.org/drawingml/2006/main" cx="10972800" cy="4095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5476875"/>
                <a:gridCol w="1809750"/>
                <a:gridCol w="1809750"/>
                <a:gridCol w="1876425"/>
              </a:tblGrid>
              <a:tr h="255984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Layer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First removals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Eligible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Unsafe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</a:tr>
              <a:tr h="255984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Association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4,536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15,327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55984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Tumor sample ≥2 TPM/pTPM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13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15,314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255984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HPA normal protein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10,900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4,414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10,094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55984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Required RNA coverage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191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4,223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10,094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255984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Reproductive concentration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211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4,012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10,094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55984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Normal bulk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3,281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731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17,500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255984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HPA tissue clusters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179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552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17,914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55984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HPA immune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7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545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17,944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255984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Monaco immune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3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542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17,961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55984">
                <a:tc>
                  <a:txBody>
                    <a:bodyPr/>
                    <a:lstStyle/>
                    <a:p>
                      <a:r>
                        <a:rPr sz="1350" b="1" u="sng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  <a:hlinkClick xmlns:r="http://schemas.openxmlformats.org/officeDocument/2006/relationships" r:id="R6396112e68244b89"/>
                        </a:rPr>
                        <a:t>DICE</a:t>
                      </a:r>
                      <a:r>
                        <a:rPr sz="13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immune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15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527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18,016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255984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Adult cornea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3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524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18,028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55984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Accepted normal-protein evidence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523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18,030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255984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Clinical safety exclusion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522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18,031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55984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External validated normal protein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522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18,031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255984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Neither expression profiles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522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18,031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127C34-8A6B-401F-BCDD-ABB4C6BB3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Only MTCP1 changes category; other concentration failures also fail other gates.</a:t>
            </a:r>
          </a:p>
        </p:txBody>
      </p:sp>
    </p:spTree>
    <p:extLst>
      <p:ext uri="{BB962C8B-B14F-4D97-AF65-F5344CB8AC3E}">
        <p14:creationId xmlns:p14="http://schemas.microsoft.com/office/powerpoint/2010/main" val="2146022754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4625B8D-ABD4-4AE8-9382-74263845B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ANATOMY AND EVIDENCE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A10EB8C-E6C6-4F46-80DE-9096F03DA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IHC matching to measured RNA compartments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16D0663-2C30-4519-822F-C8EEF4DB1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29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EB70D96-64E5-42F5-A1DF-245DF4C31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15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E8E8F32-998E-4A0E-9054-2C3A86E0DCB4}"/>
              </a:ext>
            </a:extLst>
          </p:cNvPr>
          <p:cNvGraphicFramePr/>
          <p:nvPr/>
        </p:nvGraphicFramePr>
        <p:xfrm>
          <a:off xmlns:a="http://schemas.openxmlformats.org/drawingml/2006/main" x="609600" y="1619250"/>
          <a:ext xmlns:a="http://schemas.openxmlformats.org/drawingml/2006/main" cx="10972800" cy="3333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476625"/>
                <a:gridCol w="7496175"/>
              </a:tblGrid>
              <a:tr h="66675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Context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Evidence and current ceiling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PRAME colon epithelial cells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20.3 nTPM / 96 reads; Enhanced-negative glandular IHC; Manageable 128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PRAME adrenal bulk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3.6 nTPM; incomplete compartment IHC coverage; Vital 4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CTAG2 bronchial basal cells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24.9 nTPM / 58 reads; Enhanced-negative respiratory IHC; Vital 32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Unrelated cells in the same tissue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No negative-IHC credit without exact or declared compartment coverage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1E415AA-29D2-48AF-AAC7-597525E5D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1975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PRAME and CTAG2 pass this policy. Parent-compartment sensitivity and PRAME’s Low adrenal protein remain explicit limitations.</a:t>
            </a:r>
          </a:p>
        </p:txBody>
      </p:sp>
    </p:spTree>
    <p:extLst>
      <p:ext uri="{BB962C8B-B14F-4D97-AF65-F5344CB8AC3E}">
        <p14:creationId xmlns:p14="http://schemas.microsoft.com/office/powerpoint/2010/main" val="448391940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1B7CEA8-A6AA-4937-9D8D-7A9C747B7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EXPRESSION DISTRIBUTIONS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0724DB7-F2AB-431E-877B-86357F1CC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Selected CTA: adult/placental versus embryonic RNA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9B32194-F3C1-46DA-A14C-5D52816E0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29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7C435D-5E82-4FDB-91D8-E06611D33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16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F792EFA-3A96-43CC-A6D2-D543CCE7252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c1679975cc54485"/>
          <a:stretch xmlns:a="http://schemas.openxmlformats.org/drawingml/2006/main"/>
        </p:blipFill>
        <p:spPr>
          <a:xfrm xmlns:a="http://schemas.openxmlformats.org/drawingml/2006/main">
            <a:off x="527538" y="1524000"/>
            <a:ext cx="11136923" cy="4524375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D55D011-E95C-4C73-AD3E-3F8E2904E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86475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Gray: healthy measurement unavailable. The lower band has no embryonic-expression value.</a:t>
            </a:r>
          </a:p>
        </p:txBody>
      </p:sp>
    </p:spTree>
    <p:extLst>
      <p:ext uri="{BB962C8B-B14F-4D97-AF65-F5344CB8AC3E}">
        <p14:creationId xmlns:p14="http://schemas.microsoft.com/office/powerpoint/2010/main" val="236437974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B08F292-8D1F-438B-8281-6FD19E1E6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EXPRESSION DISTRIBUTIONS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7F780FF-8A88-4C5C-BA61-00B9B3CF3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Selected CTA: healthy RNA in TPM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91818A6-1604-49AF-A9DF-38262FE51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29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F3C4538-8A16-4043-97E1-9949B7506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17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BC3B3CB-ADE6-4995-B98E-5417A1B8E10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6cdfa2f72ff4044"/>
          <a:stretch xmlns:a="http://schemas.openxmlformats.org/drawingml/2006/main"/>
        </p:blipFill>
        <p:spPr>
          <a:xfrm xmlns:a="http://schemas.openxmlformats.org/drawingml/2006/main">
            <a:off x="527538" y="1524000"/>
            <a:ext cx="11136923" cy="4524375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D9A3D73-FE18-49D9-A67A-A8616AA5F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86475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Gray: healthy measurement unavailable. The lower band has no embryonic-expression value.</a:t>
            </a:r>
          </a:p>
        </p:txBody>
      </p:sp>
    </p:spTree>
    <p:extLst>
      <p:ext uri="{BB962C8B-B14F-4D97-AF65-F5344CB8AC3E}">
        <p14:creationId xmlns:p14="http://schemas.microsoft.com/office/powerpoint/2010/main" val="161308218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FA45D81-9F90-4FFD-B4EA-44A3FD330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EXPRESSION DISTRIBUTIONS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9B95974-D3E7-4CCB-8DD5-40CBA0ED8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Selected CTA: normal corneal RNA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0617F2D-6E5A-47D6-91FD-FA3C02064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29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9EAFEAB-BCF8-41BD-806F-309E5BE1A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18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6AAAEC7-0ECB-4435-B10F-586894E37F3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0fbff206bb0416c"/>
          <a:stretch xmlns:a="http://schemas.openxmlformats.org/drawingml/2006/main"/>
        </p:blipFill>
        <p:spPr>
          <a:xfrm xmlns:a="http://schemas.openxmlformats.org/drawingml/2006/main">
            <a:off x="527538" y="1524000"/>
            <a:ext cx="11136923" cy="4524375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46F73B0-0820-490A-82E8-A27956958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86475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Gray: healthy measurement unavailable. The lower band has no embryonic-expression value.</a:t>
            </a:r>
          </a:p>
        </p:txBody>
      </p:sp>
    </p:spTree>
    <p:extLst>
      <p:ext uri="{BB962C8B-B14F-4D97-AF65-F5344CB8AC3E}">
        <p14:creationId xmlns:p14="http://schemas.microsoft.com/office/powerpoint/2010/main" val="1478872766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7C0EA86-D9EB-42D4-A75A-8948636C0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SELECTED CTA DETAIL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B10325E-5918-4F80-8C9A-1FD88C1F1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High adult/placental and embryonic RNA: labels 1 of 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5899329-B49A-445F-ABEA-2A1EB9213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29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793036-F3CC-4654-B144-A72064214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19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B33B321-7986-470F-B996-62184610EF1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544101b3d7d4305"/>
          <a:stretch xmlns:a="http://schemas.openxmlformats.org/drawingml/2006/main"/>
        </p:blipFill>
        <p:spPr>
          <a:xfrm xmlns:a="http://schemas.openxmlformats.org/drawingml/2006/main">
            <a:off x="527538" y="1524000"/>
            <a:ext cx="11136923" cy="45243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8362601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04CFABE-CF3F-488F-9B94-DFECF394B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SELECTED CTA DETAIL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8B77CB6-1882-43CB-A819-8A31C2E12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High adult/placental and embryonic RNA: labels 2 of 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E022EA6-8565-4812-AB96-597E5583C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29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E09342-F0D4-4410-8660-A750E7378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20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5B15D27-A321-4AE7-81AB-449821A1450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17f90702c8443ce"/>
          <a:stretch xmlns:a="http://schemas.openxmlformats.org/drawingml/2006/main"/>
        </p:blipFill>
        <p:spPr>
          <a:xfrm xmlns:a="http://schemas.openxmlformats.org/drawingml/2006/main">
            <a:off x="527538" y="1524000"/>
            <a:ext cx="11136923" cy="45243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8822673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84DB84E-EB51-4C94-803D-34952A5AC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SELECTED CTA DETAIL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037E920-EA79-4BF8-938A-658CED846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High adult/placental and embryonic RNA: labels 3 of 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7EADD12-1727-482C-B2C6-99AF68094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29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4DFD7A9-82B1-4EDE-B787-6B3A5B0D2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21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C9DB213-82C6-4E62-92EA-D12EA9A0BE1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31e66ed4b4840e6"/>
          <a:stretch xmlns:a="http://schemas.openxmlformats.org/drawingml/2006/main"/>
        </p:blipFill>
        <p:spPr>
          <a:xfrm xmlns:a="http://schemas.openxmlformats.org/drawingml/2006/main">
            <a:off x="527538" y="1524000"/>
            <a:ext cx="11136923" cy="45243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0421848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C4A8473-577E-449E-B490-FA11F00D6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DEVELOPMENTAL COVERAGE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09D393C-4B27-423A-A8F1-CB41FF4FD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Complementary embryonic measurements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47B3A4F-0933-489C-8AA9-C4DB16C2A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29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ACBA53B-00C2-4950-AE9B-9BE1F139D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22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CA1BA8E-1B1A-47A6-BAD4-91C109675245}"/>
              </a:ext>
            </a:extLst>
          </p:cNvPr>
          <p:cNvGraphicFramePr/>
          <p:nvPr/>
        </p:nvGraphicFramePr>
        <p:xfrm>
          <a:off xmlns:a="http://schemas.openxmlformats.org/drawingml/2006/main" x="609600" y="1619250"/>
          <a:ext xmlns:a="http://schemas.openxmlformats.org/drawingml/2006/main" cx="10972800" cy="3048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429000"/>
                <a:gridCol w="4000500"/>
                <a:gridCol w="3543300"/>
              </a:tblGrid>
              <a:tr h="762000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Source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Measured cells / embryos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Developmental scope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r>
                        <a:rPr sz="1950" b="1" u="sng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  <a:hlinkClick xmlns:r="http://schemas.openxmlformats.org/officeDocument/2006/relationships" r:id="R8bedb5192f7b45c4"/>
                        </a:rPr>
                        <a:t>Tyser et al. (2021)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1,195 cells / 1 embryo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Gastrulation, Carnegie stage 7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r>
                        <a:rPr sz="1950" b="1" u="sng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  <a:hlinkClick xmlns:r="http://schemas.openxmlformats.org/officeDocument/2006/relationships" r:id="R389c20861480466f"/>
                        </a:rPr>
                        <a:t>Petropoulos et al. (2016)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1,519 cells / 88 embryos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Preimplantation, days 3–7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Recovered coverage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683 of 1,006 earlier missing groups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Measured TPM, including familiar CTAs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9FFD903-A4FC-47F9-83A3-6275DA2C7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00625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PRAME, MAGE-A4, CTAG1A/B, XAGE1A/B and CT83 now have TPM rows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1181D61-9452-4DAE-9667-AF8FB7D61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1025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Each source keeps its own stages. Neither atlas covers all fetal or pediatric development.</a:t>
            </a:r>
          </a:p>
        </p:txBody>
      </p:sp>
    </p:spTree>
    <p:extLst>
      <p:ext uri="{BB962C8B-B14F-4D97-AF65-F5344CB8AC3E}">
        <p14:creationId xmlns:p14="http://schemas.microsoft.com/office/powerpoint/2010/main" val="1248845571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7A4F56D-53CA-439B-8814-3CACACC93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CURRENT ASSIGNMENTS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07020DB-5094-4F06-ADB6-3D11D2A89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Widely studied antigens: adult/placental RNA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3BB7B73-1662-4203-A3D5-D70EF5D31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29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E8632FC-AABC-4B3A-932F-6423CC414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23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286C3E-578D-4A0D-99C9-84F064AD8C8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a878382b8614f92"/>
          <a:stretch xmlns:a="http://schemas.openxmlformats.org/drawingml/2006/main"/>
        </p:blipFill>
        <p:spPr>
          <a:xfrm xmlns:a="http://schemas.openxmlformats.org/drawingml/2006/main">
            <a:off x="527538" y="1524000"/>
            <a:ext cx="11136923" cy="45243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5713986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971E260-E0B3-43F0-AEA4-E73000958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CURRENT ASSIGNMENTS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594820D-5DC9-4F1D-9472-C28E29F62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Widely studied antigens: embryonic RNA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5382960-9027-4460-87C3-83CEF5785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29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7445A16-BA57-466E-81C4-1644B9C1F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24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E088B9E-463D-4E2E-B7B5-F96EA7F9238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51fd90971d64c96"/>
          <a:stretch xmlns:a="http://schemas.openxmlformats.org/drawingml/2006/main"/>
        </p:blipFill>
        <p:spPr>
          <a:xfrm xmlns:a="http://schemas.openxmlformats.org/drawingml/2006/main">
            <a:off x="527538" y="1524000"/>
            <a:ext cx="11136923" cy="45243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2141261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B1A71C2-63FC-439E-94E5-2F0D1527D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READING THE RESULTS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A86F76C-E63C-4BD2-B5A2-F5B9152C8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Assessment status is separate from category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BE2E520-A654-422E-824C-2AF7EBA6A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29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AC95807-053A-49E0-937E-9B77FCD63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25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880BAC8-4558-4EFC-B0EB-11727CAA1B72}"/>
              </a:ext>
            </a:extLst>
          </p:cNvPr>
          <p:cNvGraphicFramePr/>
          <p:nvPr/>
        </p:nvGraphicFramePr>
        <p:xfrm>
          <a:off xmlns:a="http://schemas.openxmlformats.org/drawingml/2006/main" x="609600" y="1619250"/>
          <a:ext xmlns:a="http://schemas.openxmlformats.org/drawingml/2006/main" cx="10972800" cy="31908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429000"/>
                <a:gridCol w="5924550"/>
                <a:gridCol w="1619250"/>
              </a:tblGrid>
              <a:tr h="63817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API status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Meaning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Human proteins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</a:tr>
              <a:tr h="63817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screened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CTA, Unsafe or Neither assigned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18,573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3817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incomplete_evidence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Unassigned with missing coverage or unresolved evidence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694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63817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outside_category_definitions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Tracked coverage checks pass; no definition fits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596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3817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unassessed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No species-specific selection policy applied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AD7BE4E-26B6-4120-AB34-ED90657BD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72125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Neither requires a measured biological profile. Unassigned does not mean Unsafe or low expression.</a:t>
            </a:r>
          </a:p>
        </p:txBody>
      </p:sp>
    </p:spTree>
    <p:extLst>
      <p:ext uri="{BB962C8B-B14F-4D97-AF65-F5344CB8AC3E}">
        <p14:creationId xmlns:p14="http://schemas.microsoft.com/office/powerpoint/2010/main" val="1728562838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03B742F-37DA-461A-857C-1329E5DAC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COVERAGE AUDIT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CA0679E-CF0B-48C2-8352-8D1F1FB40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Which sources have incomplete evidence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3184464-8E55-49B7-8C77-E0322BCC3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29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AEBDD62-4E67-43DA-A4CD-3872541CA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26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4BA697A-7FA0-4493-AD42-6081D56CBA62}"/>
              </a:ext>
            </a:extLst>
          </p:cNvPr>
          <p:cNvGraphicFramePr/>
          <p:nvPr/>
        </p:nvGraphicFramePr>
        <p:xfrm>
          <a:off xmlns:a="http://schemas.openxmlformats.org/drawingml/2006/main" x="609600" y="1619250"/>
          <a:ext xmlns:a="http://schemas.openxmlformats.org/drawingml/2006/main" cx="10972800" cy="37623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9239250"/>
                <a:gridCol w="1733550"/>
              </a:tblGrid>
              <a:tr h="342034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Source or unresolved evidence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Proteins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</a:tr>
              <a:tr h="342034">
                <a:tc>
                  <a:txBody>
                    <a:bodyPr/>
                    <a:lstStyle/>
                    <a:p>
                      <a:r>
                        <a:rPr sz="1650" b="1" u="sng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  <a:hlinkClick xmlns:r="http://schemas.openxmlformats.org/officeDocument/2006/relationships" r:id="Ra507caa54b8742dd"/>
                        </a:rPr>
                        <a:t>HPA v23</a:t>
                      </a:r>
                      <a:r>
                        <a:rPr sz="16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consensus bulk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414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42034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Combined normal bulk: HPA consensus + HPA brain + direct GTEx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366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342034">
                <a:tc>
                  <a:txBody>
                    <a:bodyPr/>
                    <a:lstStyle/>
                    <a:p>
                      <a:r>
                        <a:rPr sz="1650" b="1" u="sng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  <a:hlinkClick xmlns:r="http://schemas.openxmlformats.org/officeDocument/2006/relationships" r:id="Rc162badb45144d10"/>
                        </a:rPr>
                        <a:t>HPA v23</a:t>
                      </a:r>
                      <a:r>
                        <a:rPr sz="16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tissue-cell clusters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335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42034">
                <a:tc>
                  <a:txBody>
                    <a:bodyPr/>
                    <a:lstStyle/>
                    <a:p>
                      <a:r>
                        <a:rPr sz="1650" b="1" u="sng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  <a:hlinkClick xmlns:r="http://schemas.openxmlformats.org/officeDocument/2006/relationships" r:id="R1322799ce9374ea1"/>
                        </a:rPr>
                        <a:t>HPA v23</a:t>
                      </a:r>
                      <a:r>
                        <a:rPr sz="16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immune cells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304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342034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Monaco immune cells via </a:t>
                      </a:r>
                      <a:r>
                        <a:rPr sz="1650" b="1" u="sng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  <a:hlinkClick xmlns:r="http://schemas.openxmlformats.org/officeDocument/2006/relationships" r:id="R727a66bde6de437c"/>
                        </a:rPr>
                        <a:t>HPA v23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304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42034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Required </a:t>
                      </a:r>
                      <a:r>
                        <a:rPr sz="1650" b="1" u="sng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  <a:hlinkClick xmlns:r="http://schemas.openxmlformats.org/officeDocument/2006/relationships" r:id="R9ba3e4de246c4b62"/>
                        </a:rPr>
                        <a:t>GTEx v11</a:t>
                      </a:r>
                      <a:r>
                        <a:rPr sz="16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bulk panel (52 contexts)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413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342034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Combined Tyser + Petropoulos TPM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297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42034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No tumor measurement: OncoRef + HPA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34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342034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Measured tumor, incomplete group profile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17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42034">
                <a:tc>
                  <a:txBody>
                    <a:bodyPr/>
                    <a:lstStyle/>
                    <a:p>
                      <a:r>
                        <a:rPr sz="1650" b="1" u="sng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  <a:hlinkClick xmlns:r="http://schemas.openxmlformats.org/officeDocument/2006/relationships" r:id="R6e4780761c404d3a"/>
                        </a:rPr>
                        <a:t>HPA v23</a:t>
                      </a:r>
                      <a:r>
                        <a:rPr sz="16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Uncertain normal-tissue IHC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28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CD49A6D-DE6E-40E9-BA89-AFA691959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Overlapping gaps within 694 unassigned proteins. </a:t>
            </a:r>
            <a:r>
              <a:rPr sz="1800" b="0" u="sng">
                <a:solidFill>
                  <a:srgbClr val="536675"/>
                </a:solidFill>
                <a:latin typeface="Helvetica Neue"/>
                <a:ea typeface="Helvetica Neue"/>
                <a:cs typeface="Helvetica Neue"/>
                <a:hlinkClick xmlns:r="http://schemas.openxmlformats.org/officeDocument/2006/relationships" r:id="Rd3a62c386be84250"/>
              </a:rPr>
              <a:t>DICE</a:t>
            </a:r>
            <a:r>
              <a: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 and corneal coverage are optional.</a:t>
            </a:r>
          </a:p>
        </p:txBody>
      </p:sp>
    </p:spTree>
    <p:extLst>
      <p:ext uri="{BB962C8B-B14F-4D97-AF65-F5344CB8AC3E}">
        <p14:creationId xmlns:p14="http://schemas.microsoft.com/office/powerpoint/2010/main" val="1311251366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E852D45-A789-4CCD-9618-1FB716F73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SPECIES-SPECIFIC EVIDENCE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D5F54CC-34AF-4CD6-8CEA-B54C60481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Dog evidence and integration gaps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0FF35B8-48D5-4FFD-8CC2-C909120DC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29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4EAE61-A640-423C-A2E6-3EB62C568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27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89DDE74-C4DB-47A9-9897-250BE54F692D}"/>
              </a:ext>
            </a:extLst>
          </p:cNvPr>
          <p:cNvGraphicFramePr/>
          <p:nvPr/>
        </p:nvGraphicFramePr>
        <p:xfrm>
          <a:off xmlns:a="http://schemas.openxmlformats.org/drawingml/2006/main" x="609600" y="1619250"/>
          <a:ext xmlns:a="http://schemas.openxmlformats.org/drawingml/2006/main" cx="10972800" cy="3714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762250"/>
                <a:gridCol w="8210550"/>
              </a:tblGrid>
              <a:tr h="530679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Layer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Available evidence / remaining gap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</a:tr>
              <a:tr h="530679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Nominations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5 + 10 − 1 shared = 14 native nominations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679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Identity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13 unique mappings; one ambiguous MAGE-family assay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530679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Normal / developmental RNA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Bgee TPM and BarkBase TMM-CPM need reference reconciliation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679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Tumor RNA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GSE304066 count/FPKM and reference conflicts remain unresolved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530679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Normal protein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Limited study IHC; Pfizer pooled iBAQ is not cell-resolved IHC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679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Selection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All 14 unassigned / unassessed; no canine quantitative policy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7C02C9C-8C31-4304-8644-1982B5665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62625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Human thresholds, antibody grades and normal-tissue absence never transfer by orthology.</a:t>
            </a:r>
          </a:p>
        </p:txBody>
      </p:sp>
    </p:spTree>
    <p:extLst>
      <p:ext uri="{BB962C8B-B14F-4D97-AF65-F5344CB8AC3E}">
        <p14:creationId xmlns:p14="http://schemas.microsoft.com/office/powerpoint/2010/main" val="1040329261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17820FB-AEEA-46A9-9B48-4E7485B01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DEVELOPMENTAL NOMINATIONS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50B585C-7DB0-4DD4-883E-49105FE70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Curated oncofetal sources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3924F8E-5BAD-4095-A605-310F6F387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29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AEA35EA-C53F-4594-B67E-5013B74DE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28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355BCB3-C3CA-4481-8B9E-2348EB68D011}"/>
              </a:ext>
            </a:extLst>
          </p:cNvPr>
          <p:cNvGraphicFramePr/>
          <p:nvPr/>
        </p:nvGraphicFramePr>
        <p:xfrm>
          <a:off xmlns:a="http://schemas.openxmlformats.org/drawingml/2006/main" x="609600" y="1619250"/>
          <a:ext xmlns:a="http://schemas.openxmlformats.org/drawingml/2006/main" cx="10972800" cy="3333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619500"/>
                <a:gridCol w="7353300"/>
              </a:tblGrid>
              <a:tr h="66675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Source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Scope and integration status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Tyser + Petropoulos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Current gastrulation and preimplantation TPM sources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875" b="1" u="sng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  <a:hlinkClick xmlns:r="http://schemas.openxmlformats.org/officeDocument/2006/relationships" r:id="Rc75c172864f84bbb"/>
                        </a:rPr>
                        <a:t>Shaw et al. (2024)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157 cancer-specific targets; six oncofetal annotations. Exon-specific scope retained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875" b="1" u="sng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  <a:hlinkClick xmlns:r="http://schemas.openxmlformats.org/officeDocument/2006/relationships" r:id="R5965a669570d4874"/>
                        </a:rPr>
                        <a:t>TRIM71 liver study (2024)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Liver oncofetal signature; requires identity and measurement ingestion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875" b="1" u="sng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  <a:hlinkClick xmlns:r="http://schemas.openxmlformats.org/officeDocument/2006/relationships" r:id="R29432e0061864aef"/>
                        </a:rPr>
                        <a:t>Cardoso-Moreira et al. (2019)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Developmental organ trajectories with child/adult comparisons; not integrated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2F89725-B006-4DBC-B4AE-AA4D97201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1975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Published nominations need independent normal/tumor filtering and postnatal coverage.</a:t>
            </a:r>
          </a:p>
        </p:txBody>
      </p:sp>
    </p:spTree>
    <p:extLst>
      <p:ext uri="{BB962C8B-B14F-4D97-AF65-F5344CB8AC3E}">
        <p14:creationId xmlns:p14="http://schemas.microsoft.com/office/powerpoint/2010/main" val="891816073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C4770A2-AD6E-4D22-B8A6-71F6C35A7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API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D11F9A5-189F-41E8-975C-28F0D1A98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Common API with native evidence underneath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63C05CC-A6B4-4D03-951F-C7508A1BE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29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CAA4A76-B333-4476-B02B-364635F14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29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3805C08-4384-4007-A3F2-1CF15393E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14500"/>
            <a:ext cx="1097280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32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32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32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32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32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32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32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32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32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32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32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232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results = cta_selection.results(species="human")</a:t>
            </a:r>
          </a:p>
          <a:p xmlns:a="http://schemas.openxmlformats.org/drawingml/2006/main">
            <a:pPr>
              <a:defRPr sz="232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232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audit = cta_selection.audit(species="human")</a:t>
            </a:r>
          </a:p>
          <a:p xmlns:a="http://schemas.openxmlformats.org/drawingml/2006/main">
            <a:pPr>
              <a:defRPr sz="232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232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audit.sources    audit.overlaps    audit.funnel</a:t>
            </a:r>
          </a:p>
          <a:p xmlns:a="http://schemas.openxmlformats.org/drawingml/2006/main">
            <a:pPr>
              <a:defRPr sz="232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232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audit.explain("PRAME")</a:t>
            </a:r>
          </a:p>
        </p:txBody>
      </p:sp>
      <p:graphicFrame>
        <p:nvGraphicFrame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6540AF7-76BD-46A8-8247-521137855F26}"/>
              </a:ext>
            </a:extLst>
          </p:cNvPr>
          <p:cNvGraphicFramePr/>
          <p:nvPr/>
        </p:nvGraphicFramePr>
        <p:xfrm>
          <a:off xmlns:a="http://schemas.openxmlformats.org/drawingml/2006/main" x="609600" y="3810000"/>
          <a:ext xmlns:a="http://schemas.openxmlformats.org/drawingml/2006/main" cx="10972800" cy="1809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190875"/>
                <a:gridCol w="7781925"/>
              </a:tblGrid>
              <a:tr h="452438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Field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Meaning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</a:tr>
              <a:tr h="452438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category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CTA / Unsafe / Neither, or null when unassigned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2438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assessment_status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Screened, incomplete evidence, outside definitions, or unassessed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452438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gene_ids / gene_identities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All member loci, stable IDs, history and curated synonyms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5B186B2-7305-4F0A-AA9E-6C8AF556D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1025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Source-specific native units, tissue/cell context, confidence and coverage remain inspectable.</a:t>
            </a:r>
          </a:p>
        </p:txBody>
      </p:sp>
    </p:spTree>
    <p:extLst>
      <p:ext uri="{BB962C8B-B14F-4D97-AF65-F5344CB8AC3E}">
        <p14:creationId xmlns:p14="http://schemas.microsoft.com/office/powerpoint/2010/main" val="1554492334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833C6C0-12AF-43DD-AC38-12FC2AA33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DATA API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45C849B-E39F-4402-AF95-CF2AD73A0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Every source resolves to a concrete version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4B13023-9241-4FE0-9755-31688FF2D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29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97C5328-6AAB-4454-ABC3-0D885F108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30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3FF42A6-0ECE-4012-B134-98363D311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47825"/>
            <a:ext cx="109728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catalog.ensure("gtex_tissue_rna")               # v11</a:t>
            </a:r>
          </a:p>
          <a:p xmlns:a="http://schemas.openxmlformats.org/drawingml/2006/main">
            <a:pPr>
              <a:def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catalog.ensure("gtex_tissue_rna", version="v10")</a:t>
            </a:r>
          </a:p>
          <a:p xmlns:a="http://schemas.openxmlformats.org/drawingml/2006/main">
            <a:pPr>
              <a:def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catalog.provenance("gtex_tissue_rna", "v11")</a:t>
            </a:r>
          </a:p>
        </p:txBody>
      </p:sp>
      <p:graphicFrame>
        <p:nvGraphicFrame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298E6D6-1DD3-49CF-BC02-C42CF1037F66}"/>
              </a:ext>
            </a:extLst>
          </p:cNvPr>
          <p:cNvGraphicFramePr/>
          <p:nvPr/>
        </p:nvGraphicFramePr>
        <p:xfrm>
          <a:off xmlns:a="http://schemas.openxmlformats.org/drawingml/2006/main" x="609600" y="3238500"/>
          <a:ext xmlns:a="http://schemas.openxmlformats.org/drawingml/2006/main" cx="10972800" cy="22383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952750"/>
                <a:gridCol w="8020050"/>
              </a:tblGrid>
              <a:tr h="44767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Shared choice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Source-specific meaning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</a:tr>
              <a:tr h="44767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Default / latest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Newest registered release; saved runs keep explicit pins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4767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Concrete version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 u="sng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  <a:hlinkClick xmlns:r="http://schemas.openxmlformats.org/officeDocument/2006/relationships" r:id="Rcb27bd1042e64d48"/>
                        </a:rPr>
                        <a:t>GTEx v11</a:t>
                      </a:r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; </a:t>
                      </a:r>
                      <a:r>
                        <a:rPr sz="1800" b="0" u="sng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  <a:hlinkClick xmlns:r="http://schemas.openxmlformats.org/officeDocument/2006/relationships" r:id="R8bc59eef152c44bc"/>
                        </a:rPr>
                        <a:t>HPA v25.1</a:t>
                      </a:r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; a study snapshot or OncoRef build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44767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Provenance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Version, content checksum, native unit, annotation and pipeline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4767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Species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The same selector applies to native dog and mouse assets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D025B36-BDF6-4129-9DE7-19170E4E9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62625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This analysis pins </a:t>
            </a:r>
            <a:r>
              <a:rPr sz="1725" b="0" u="sng">
                <a:solidFill>
                  <a:srgbClr val="536675"/>
                </a:solidFill>
                <a:latin typeface="Helvetica Neue"/>
                <a:ea typeface="Helvetica Neue"/>
                <a:cs typeface="Helvetica Neue"/>
                <a:hlinkClick xmlns:r="http://schemas.openxmlformats.org/officeDocument/2006/relationships" r:id="Rb61ed8cbf1304b03"/>
              </a:rPr>
              <a:t>GTEx v11</a:t>
            </a:r>
            <a:r>
              <a: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 and </a:t>
            </a:r>
            <a:r>
              <a:rPr sz="1725" b="0" u="sng">
                <a:solidFill>
                  <a:srgbClr val="536675"/>
                </a:solidFill>
                <a:latin typeface="Helvetica Neue"/>
                <a:ea typeface="Helvetica Neue"/>
                <a:cs typeface="Helvetica Neue"/>
                <a:hlinkClick xmlns:r="http://schemas.openxmlformats.org/officeDocument/2006/relationships" r:id="R2de5472b5f1b43c3"/>
              </a:rPr>
              <a:t>HPA v23</a:t>
            </a:r>
            <a:r>
              <a: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 normal panels. A newer public default does not rewrite it.</a:t>
            </a:r>
          </a:p>
        </p:txBody>
      </p:sp>
    </p:spTree>
    <p:extLst>
      <p:ext uri="{BB962C8B-B14F-4D97-AF65-F5344CB8AC3E}">
        <p14:creationId xmlns:p14="http://schemas.microsoft.com/office/powerpoint/2010/main" val="140485080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2026-10-29T19:47:32.4060000Z</dcterms:created>
  <dcterms:modified xsi:type="dcterms:W3CDTF">2026-10-29T19:47:32.4060000Z</dcterms:modified>
</coreProperties>
</file>