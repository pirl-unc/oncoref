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b1685f5e9e4641" /><Relationship Type="http://schemas.openxmlformats.org/officeDocument/2006/relationships/extended-properties" Target="/docProps/app.xml" Id="Rf97e4f99f98b40cb" /><Relationship Type="http://schemas.openxmlformats.org/officeDocument/2006/relationships/officeDocument" Target="/ppt/presentation.xml" Id="R3d7f2791ae9e46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c99d2948f440f4"/>
  </p:sldMasterIdLst>
  <p:notesMasterIdLst>
    <p:notesMasterId xmlns:r="http://schemas.openxmlformats.org/officeDocument/2006/relationships" r:id="R27e96030716d4c89"/>
  </p:notesMasterIdLst>
  <p:sldIdLst>
    <p:sldId xmlns:r="http://schemas.openxmlformats.org/officeDocument/2006/relationships" id="256" r:id="R2c51d5f9494c48f1"/>
    <p:sldId xmlns:r="http://schemas.openxmlformats.org/officeDocument/2006/relationships" id="257" r:id="R8694d32a916944b4"/>
    <p:sldId xmlns:r="http://schemas.openxmlformats.org/officeDocument/2006/relationships" id="258" r:id="R257fc47004db4a60"/>
    <p:sldId xmlns:r="http://schemas.openxmlformats.org/officeDocument/2006/relationships" id="259" r:id="Re744797d175a4faa"/>
    <p:sldId xmlns:r="http://schemas.openxmlformats.org/officeDocument/2006/relationships" id="260" r:id="R8f027cb2329249fc"/>
    <p:sldId xmlns:r="http://schemas.openxmlformats.org/officeDocument/2006/relationships" id="261" r:id="Raefa27a0cff541f0"/>
    <p:sldId xmlns:r="http://schemas.openxmlformats.org/officeDocument/2006/relationships" id="262" r:id="R351fa40fa0d44b77"/>
    <p:sldId xmlns:r="http://schemas.openxmlformats.org/officeDocument/2006/relationships" id="263" r:id="Rac68f450ec454e5d"/>
    <p:sldId xmlns:r="http://schemas.openxmlformats.org/officeDocument/2006/relationships" id="264" r:id="Rb9193e5e4c214b11"/>
    <p:sldId xmlns:r="http://schemas.openxmlformats.org/officeDocument/2006/relationships" id="265" r:id="R85b250bab5bb46a1"/>
    <p:sldId xmlns:r="http://schemas.openxmlformats.org/officeDocument/2006/relationships" id="266" r:id="Rd2ff9bfcfc264ffb"/>
    <p:sldId xmlns:r="http://schemas.openxmlformats.org/officeDocument/2006/relationships" id="267" r:id="R63527142b05447f7"/>
    <p:sldId xmlns:r="http://schemas.openxmlformats.org/officeDocument/2006/relationships" id="268" r:id="R19d4a2c3cdb6480e"/>
    <p:sldId xmlns:r="http://schemas.openxmlformats.org/officeDocument/2006/relationships" id="269" r:id="Rbd41a1a40c8647fe"/>
    <p:sldId xmlns:r="http://schemas.openxmlformats.org/officeDocument/2006/relationships" id="270" r:id="R61292e6b377b436b"/>
    <p:sldId xmlns:r="http://schemas.openxmlformats.org/officeDocument/2006/relationships" id="271" r:id="Ra6264c16d56c477d"/>
    <p:sldId xmlns:r="http://schemas.openxmlformats.org/officeDocument/2006/relationships" id="272" r:id="R0956c0e5052a44be"/>
    <p:sldId xmlns:r="http://schemas.openxmlformats.org/officeDocument/2006/relationships" id="273" r:id="Rd57382da7bac4185"/>
    <p:sldId xmlns:r="http://schemas.openxmlformats.org/officeDocument/2006/relationships" id="274" r:id="Rc3dde455a6724e5d"/>
    <p:sldId xmlns:r="http://schemas.openxmlformats.org/officeDocument/2006/relationships" id="275" r:id="R045d61dc80204aa6"/>
    <p:sldId xmlns:r="http://schemas.openxmlformats.org/officeDocument/2006/relationships" id="276" r:id="R5f8b826f77d54f64"/>
    <p:sldId xmlns:r="http://schemas.openxmlformats.org/officeDocument/2006/relationships" id="277" r:id="R512f08522cc6406b"/>
    <p:sldId xmlns:r="http://schemas.openxmlformats.org/officeDocument/2006/relationships" id="278" r:id="R954f0f497d334f3e"/>
    <p:sldId xmlns:r="http://schemas.openxmlformats.org/officeDocument/2006/relationships" id="279" r:id="Rd03e19671e874b05"/>
    <p:sldId xmlns:r="http://schemas.openxmlformats.org/officeDocument/2006/relationships" id="280" r:id="R2968fe9d8ca44987"/>
    <p:sldId xmlns:r="http://schemas.openxmlformats.org/officeDocument/2006/relationships" id="281" r:id="Rf0924397b3234ac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6653bbabbd430e" /><Relationship Type="http://schemas.openxmlformats.org/officeDocument/2006/relationships/slideMaster" Target="/ppt/slideMasters/slideMaster1.xml" Id="Raac99d2948f440f4" /><Relationship Type="http://schemas.openxmlformats.org/officeDocument/2006/relationships/notesMaster" Target="/ppt/notesMasters/notesMaster1.xml" Id="R27e96030716d4c89" /><Relationship Type="http://schemas.openxmlformats.org/officeDocument/2006/relationships/presProps" Target="/ppt/presProps.xml" Id="R69b1ea7a02284238" /><Relationship Type="http://schemas.openxmlformats.org/officeDocument/2006/relationships/tableStyles" Target="/ppt/tableStyles.xml" Id="Re2b91c7ad7a94bca" /><Relationship Type="http://schemas.openxmlformats.org/officeDocument/2006/relationships/slide" Target="/ppt/slides/slide1.xml" Id="R2c51d5f9494c48f1" /><Relationship Type="http://schemas.openxmlformats.org/officeDocument/2006/relationships/slide" Target="/ppt/slides/slide2.xml" Id="R8694d32a916944b4" /><Relationship Type="http://schemas.openxmlformats.org/officeDocument/2006/relationships/slide" Target="/ppt/slides/slide3.xml" Id="R257fc47004db4a60" /><Relationship Type="http://schemas.openxmlformats.org/officeDocument/2006/relationships/slide" Target="/ppt/slides/slide4.xml" Id="Re744797d175a4faa" /><Relationship Type="http://schemas.openxmlformats.org/officeDocument/2006/relationships/slide" Target="/ppt/slides/slide5.xml" Id="R8f027cb2329249fc" /><Relationship Type="http://schemas.openxmlformats.org/officeDocument/2006/relationships/slide" Target="/ppt/slides/slide6.xml" Id="Raefa27a0cff541f0" /><Relationship Type="http://schemas.openxmlformats.org/officeDocument/2006/relationships/slide" Target="/ppt/slides/slide7.xml" Id="R351fa40fa0d44b77" /><Relationship Type="http://schemas.openxmlformats.org/officeDocument/2006/relationships/slide" Target="/ppt/slides/slide8.xml" Id="Rac68f450ec454e5d" /><Relationship Type="http://schemas.openxmlformats.org/officeDocument/2006/relationships/slide" Target="/ppt/slides/slide9.xml" Id="Rb9193e5e4c214b11" /><Relationship Type="http://schemas.openxmlformats.org/officeDocument/2006/relationships/slide" Target="/ppt/slides/slide10.xml" Id="R85b250bab5bb46a1" /><Relationship Type="http://schemas.openxmlformats.org/officeDocument/2006/relationships/slide" Target="/ppt/slides/slide11.xml" Id="Rd2ff9bfcfc264ffb" /><Relationship Type="http://schemas.openxmlformats.org/officeDocument/2006/relationships/slide" Target="/ppt/slides/slide12.xml" Id="R63527142b05447f7" /><Relationship Type="http://schemas.openxmlformats.org/officeDocument/2006/relationships/slide" Target="/ppt/slides/slide13.xml" Id="R19d4a2c3cdb6480e" /><Relationship Type="http://schemas.openxmlformats.org/officeDocument/2006/relationships/slide" Target="/ppt/slides/slide14.xml" Id="Rbd41a1a40c8647fe" /><Relationship Type="http://schemas.openxmlformats.org/officeDocument/2006/relationships/slide" Target="/ppt/slides/slide15.xml" Id="R61292e6b377b436b" /><Relationship Type="http://schemas.openxmlformats.org/officeDocument/2006/relationships/slide" Target="/ppt/slides/slide16.xml" Id="Ra6264c16d56c477d" /><Relationship Type="http://schemas.openxmlformats.org/officeDocument/2006/relationships/slide" Target="/ppt/slides/slide17.xml" Id="R0956c0e5052a44be" /><Relationship Type="http://schemas.openxmlformats.org/officeDocument/2006/relationships/slide" Target="/ppt/slides/slide18.xml" Id="Rd57382da7bac4185" /><Relationship Type="http://schemas.openxmlformats.org/officeDocument/2006/relationships/slide" Target="/ppt/slides/slide19.xml" Id="Rc3dde455a6724e5d" /><Relationship Type="http://schemas.openxmlformats.org/officeDocument/2006/relationships/slide" Target="/ppt/slides/slide20.xml" Id="R045d61dc80204aa6" /><Relationship Type="http://schemas.openxmlformats.org/officeDocument/2006/relationships/slide" Target="/ppt/slides/slide21.xml" Id="R5f8b826f77d54f64" /><Relationship Type="http://schemas.openxmlformats.org/officeDocument/2006/relationships/slide" Target="/ppt/slides/slide22.xml" Id="R512f08522cc6406b" /><Relationship Type="http://schemas.openxmlformats.org/officeDocument/2006/relationships/slide" Target="/ppt/slides/slide23.xml" Id="R954f0f497d334f3e" /><Relationship Type="http://schemas.openxmlformats.org/officeDocument/2006/relationships/slide" Target="/ppt/slides/slide24.xml" Id="Rd03e19671e874b05" /><Relationship Type="http://schemas.openxmlformats.org/officeDocument/2006/relationships/slide" Target="/ppt/slides/slide25.xml" Id="R2968fe9d8ca44987" /><Relationship Type="http://schemas.openxmlformats.org/officeDocument/2006/relationships/slide" Target="/ppt/slides/slide26.xml" Id="Rf0924397b3234a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6f75e508b645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26824b88284adb" /><Relationship Type="http://schemas.openxmlformats.org/officeDocument/2006/relationships/notesMaster" Target="/ppt/notesMasters/notesMaster1.xml" Id="R2e209a16a2b1400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48e762b87ca4541" /><Relationship Type="http://schemas.openxmlformats.org/officeDocument/2006/relationships/notesMaster" Target="/ppt/notesMasters/notesMaster1.xml" Id="Re6837addb13a44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0d5118e9ee46c8" /><Relationship Type="http://schemas.openxmlformats.org/officeDocument/2006/relationships/notesMaster" Target="/ppt/notesMasters/notesMaster1.xml" Id="R919d472d6b53401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c2988b592741d7" /><Relationship Type="http://schemas.openxmlformats.org/officeDocument/2006/relationships/notesMaster" Target="/ppt/notesMasters/notesMaster1.xml" Id="R9dd3359c9ca742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b83324195bc4b69" /><Relationship Type="http://schemas.openxmlformats.org/officeDocument/2006/relationships/notesMaster" Target="/ppt/notesMasters/notesMaster1.xml" Id="R3024465ad9e640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7efe243a6dc4cc1" /><Relationship Type="http://schemas.openxmlformats.org/officeDocument/2006/relationships/notesMaster" Target="/ppt/notesMasters/notesMaster1.xml" Id="R2e417964bbf5442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19a678dc224042" /><Relationship Type="http://schemas.openxmlformats.org/officeDocument/2006/relationships/notesMaster" Target="/ppt/notesMasters/notesMaster1.xml" Id="Rf60ff0283f694dd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a5b77b7b1c64498" /><Relationship Type="http://schemas.openxmlformats.org/officeDocument/2006/relationships/notesMaster" Target="/ppt/notesMasters/notesMaster1.xml" Id="R2ec730d0045944d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512bbdfa7764571" /><Relationship Type="http://schemas.openxmlformats.org/officeDocument/2006/relationships/notesMaster" Target="/ppt/notesMasters/notesMaster1.xml" Id="R40e1418a04ef45e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dcd8f1ac4fb475a" /><Relationship Type="http://schemas.openxmlformats.org/officeDocument/2006/relationships/notesMaster" Target="/ppt/notesMasters/notesMaster1.xml" Id="R45fe478b97d94f1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25859cae3604c44" /><Relationship Type="http://schemas.openxmlformats.org/officeDocument/2006/relationships/notesMaster" Target="/ppt/notesMasters/notesMaster1.xml" Id="Rfbc9582acd3a473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4cd4a0710014f9e" /><Relationship Type="http://schemas.openxmlformats.org/officeDocument/2006/relationships/notesMaster" Target="/ppt/notesMasters/notesMaster1.xml" Id="R05c00dcdb92647a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dbbed3b88d145f3" /><Relationship Type="http://schemas.openxmlformats.org/officeDocument/2006/relationships/notesMaster" Target="/ppt/notesMasters/notesMaster1.xml" Id="Rd71d9c4fd44444c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fd53b187f9d45f2" /><Relationship Type="http://schemas.openxmlformats.org/officeDocument/2006/relationships/notesMaster" Target="/ppt/notesMasters/notesMaster1.xml" Id="R6a5bdd7207de4d7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c8bdedf1e764a52" /><Relationship Type="http://schemas.openxmlformats.org/officeDocument/2006/relationships/notesMaster" Target="/ppt/notesMasters/notesMaster1.xml" Id="R49399db6c2704f1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96f4e05078f4c9e" /><Relationship Type="http://schemas.openxmlformats.org/officeDocument/2006/relationships/notesMaster" Target="/ppt/notesMasters/notesMaster1.xml" Id="R32c7a4c60993407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a86ee24d65c48a4" /><Relationship Type="http://schemas.openxmlformats.org/officeDocument/2006/relationships/notesMaster" Target="/ppt/notesMasters/notesMaster1.xml" Id="Re1cddb34a26a432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34c7d9a8f0e41e5" /><Relationship Type="http://schemas.openxmlformats.org/officeDocument/2006/relationships/notesMaster" Target="/ppt/notesMasters/notesMaster1.xml" Id="R1ae05e3a4d5d4dd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c2b645564f84438" /><Relationship Type="http://schemas.openxmlformats.org/officeDocument/2006/relationships/notesMaster" Target="/ppt/notesMasters/notesMaster1.xml" Id="R629caf450cbb495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c8dacc75a7040f8" /><Relationship Type="http://schemas.openxmlformats.org/officeDocument/2006/relationships/notesMaster" Target="/ppt/notesMasters/notesMaster1.xml" Id="Rdd2f86c02a73486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a10a3a324524192" /><Relationship Type="http://schemas.openxmlformats.org/officeDocument/2006/relationships/notesMaster" Target="/ppt/notesMasters/notesMaster1.xml" Id="Redbec3b3f83243a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6139a7329c8419a" /><Relationship Type="http://schemas.openxmlformats.org/officeDocument/2006/relationships/notesMaster" Target="/ppt/notesMasters/notesMaster1.xml" Id="R9ae6688aa3e54b5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3435343b7f946e0" /><Relationship Type="http://schemas.openxmlformats.org/officeDocument/2006/relationships/notesMaster" Target="/ppt/notesMasters/notesMaster1.xml" Id="R5db63d1fa56c408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5637ba350624292" /><Relationship Type="http://schemas.openxmlformats.org/officeDocument/2006/relationships/notesMaster" Target="/ppt/notesMasters/notesMaster1.xml" Id="R462fe7ea6e04402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9c15b9e58c54515" /><Relationship Type="http://schemas.openxmlformats.org/officeDocument/2006/relationships/notesMaster" Target="/ppt/notesMasters/notesMaster1.xml" Id="Refd2bd28d332471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3d948fa5e15484b" /><Relationship Type="http://schemas.openxmlformats.org/officeDocument/2006/relationships/notesMaster" Target="/ppt/notesMasters/notesMaster1.xml" Id="R57ffee934ac447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Human and dog CTA evidence</a:t>
            </a:r>
          </a:p>
          <a:p xmlns:a="http://schemas.openxmlformats.org/drawingml/2006/main">
            <a:r>
              <a:t>One RNA ceiling. Neither requires an affirmative expression profile. Unassigned is an assessment status, not a biological category.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oncoref.cta-selection.2026-10-28</a:t>
            </a:r>
          </a:p>
          <a:p xmlns:a="http://schemas.openxmlformats.org/drawingml/2006/main">
            <a:r>
              <a:t>Decision snapshot SHA256: 7ef01de6115fb0cbe7220f8ebeea9ed457214731b637b2672399f87376e9f3a0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Published candidate lists</a:t>
            </a:r>
          </a:p>
          <a:p xmlns:a="http://schemas.openxmlformats.org/drawingml/2006/main">
            <a:r>
              <a:t>da Silva et al. (2017): https://doi.org/10.18632/oncotarget.21715</a:t>
            </a:r>
          </a:p>
          <a:p xmlns:a="http://schemas.openxmlformats.org/drawingml/2006/main">
            <a:r>
              <a:t>Wang et al. (2016): https://doi.org/10.1038/ncomms10499</a:t>
            </a:r>
          </a:p>
          <a:p xmlns:a="http://schemas.openxmlformats.org/drawingml/2006/main">
            <a:r>
              <a:t>Chang et al. (2019): https://doi.org/10.1002/cam4.2223</a:t>
            </a:r>
          </a:p>
          <a:p xmlns:a="http://schemas.openxmlformats.org/drawingml/2006/main">
            <a:r>
              <a:t>Gong et al. (2021): https://doi.org/10.1038/s41467-021-22695-y</a:t>
            </a:r>
          </a:p>
          <a:p xmlns:a="http://schemas.openxmlformats.org/drawingml/2006/main">
            <a:r>
              <a:t>Bruggeman et al. (2018): https://doi.org/10.1038/s41388-018-0357-2</a:t>
            </a:r>
          </a:p>
          <a:p xmlns:a="http://schemas.openxmlformats.org/drawingml/2006/main">
            <a:r>
              <a:t>Jamin et al. (2021): https://doi.org/10.1002/1878-0261.12900</a:t>
            </a:r>
          </a:p>
          <a:p xmlns:a="http://schemas.openxmlformats.org/drawingml/2006/main">
            <a:r>
              <a:t>Loriot et al. (2025): https://doi.org/10.1371/journal.pgen.1011734</a:t>
            </a:r>
          </a:p>
          <a:p xmlns:a="http://schemas.openxmlformats.org/drawingml/2006/main">
            <a:r>
              <a:t>Carter et al. (2023): https://doi.org/10.1136/jitc-2023-007935</a:t>
            </a:r>
          </a:p>
          <a:p xmlns:a="http://schemas.openxmlformats.org/drawingml/2006/main">
            <a:r>
              <a:t>Hirbo et al. (2015): https://doi.org/10.1371/journal.pone.0144155</a:t>
            </a:r>
          </a:p>
          <a:p xmlns:a="http://schemas.openxmlformats.org/drawingml/2006/main">
            <a:r>
              <a:t>Seager et al. (2024): https://doi.org/10.1186/s12967-024-04918-0</a:t>
            </a:r>
          </a:p>
          <a:p xmlns:a="http://schemas.openxmlformats.org/drawingml/2006/main">
            <a:r>
              <a:t>Sasaroli et al. (2011): https://doi.org/10.4161/cbt.12.3.16260</a:t>
            </a:r>
          </a:p>
          <a:p xmlns:a="http://schemas.openxmlformats.org/drawingml/2006/main">
            <a:r>
              <a:t>Garg et al. (2007): https://doi.org/10.1158/1078-0432.CCR-06-2340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oncoref.cta-selection.2026-10-28</a:t>
            </a:r>
          </a:p>
          <a:p xmlns:a="http://schemas.openxmlformats.org/drawingml/2006/main">
            <a:r>
              <a:t>Decision snapshot SHA256: 7ef01de6115fb0cbe7220f8ebeea9ed457214731b637b2672399f87376e9f3a0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Broader published nominations</a:t>
            </a:r>
          </a:p>
          <a:p xmlns:a="http://schemas.openxmlformats.org/drawingml/2006/main">
            <a:r>
              <a:t>Sasaroli et al. (2011) https://doi.org/10.4161/cbt.12.3.16260 . Hirbo et al. (2015) https://doi.org/10.1371/journal.pone.0144155 . Exact extracted rows and matching receipts accompany the report.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oncoref.cta-selection.2026-10-28</a:t>
            </a:r>
          </a:p>
          <a:p xmlns:a="http://schemas.openxmlformats.org/drawingml/2006/main">
            <a:r>
              <a:t>Decision snapshot SHA256: 7ef01de6115fb0cbe7220f8ebeea9ed457214731b637b2672399f87376e9f3a0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Overlap between published lists</a:t>
            </a:r>
          </a:p>
          <a:p xmlns:a="http://schemas.openxmlformats.org/drawingml/2006/main">
            <a:r>
              <a:t>Tables and author-recognized prior antigens within the same paper are unioned. Evidence roles, source IDs and pairwise counts accompany the report.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oncoref.cta-selection.2026-10-28</a:t>
            </a:r>
          </a:p>
          <a:p xmlns:a="http://schemas.openxmlformats.org/drawingml/2006/main">
            <a:r>
              <a:t>Decision snapshot SHA256: 7ef01de6115fb0cbe7220f8ebeea9ed457214731b637b2672399f87376e9f3a0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Reproductive and developmental association</a:t>
            </a:r>
          </a:p>
          <a:p xmlns:a="http://schemas.openxmlformats.org/drawingml/2006/main">
            <a:r>
              <a:t>Tyser et al. (2021): https://doi.org/10.1038/s41586-021-04158-y . HPA v23 https://v23.proteinatlas.org/about/download 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oncoref.cta-selection.2026-10-28</a:t>
            </a:r>
          </a:p>
          <a:p xmlns:a="http://schemas.openxmlformats.org/drawingml/2006/main">
            <a:r>
              <a:t>Decision snapshot SHA256: 7ef01de6115fb0cbe7220f8ebeea9ed457214731b637b2672399f87376e9f3a0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Normal and cancer measurement sources</a:t>
            </a:r>
          </a:p>
          <a:p xmlns:a="http://schemas.openxmlformats.org/drawingml/2006/main">
            <a:r>
              <a:t>HPA https://v23.proteinatlas.org/about/download ; DICE https://dice-database.org/ ; cornea https://www.ncbi.nlm.nih.gov/geo/query/acc.cgi?acc=GSE155683 ; Tyser https://doi.org/10.1038/s41586-021-04158-y . Full URLs and sample lineage accompany the report.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oncoref.cta-selection.2026-10-28</a:t>
            </a:r>
          </a:p>
          <a:p xmlns:a="http://schemas.openxmlformats.org/drawingml/2006/main">
            <a:r>
              <a:t>Decision snapshot SHA256: 7ef01de6115fb0cbe7220f8ebeea9ed457214731b637b2672399f87376e9f3a0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RNA cutoffs</a:t>
            </a:r>
          </a:p>
          <a:p xmlns:a="http://schemas.openxmlformats.org/drawingml/2006/main">
            <a:r>
              <a:t>The same nominal values apply across native TPM/nTPM assays. CP10K uses nominal /100, not a TPM conversion. Values are screening-policy choices, not measured toxicity limits.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oncoref.cta-selection.2026-10-28</a:t>
            </a:r>
          </a:p>
          <a:p xmlns:a="http://schemas.openxmlformats.org/drawingml/2006/main">
            <a:r>
              <a:t>Decision snapshot SHA256: 7ef01de6115fb0cbe7220f8ebeea9ed457214731b637b2672399f87376e9f3a0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Neither requires a measured expression profile</a:t>
            </a:r>
          </a:p>
          <a:p xmlns:a="http://schemas.openxmlformats.org/drawingml/2006/main">
            <a:r>
              <a:t>Low means below the common 2-unit expression floor in every measured source, with required normal panels and tumor/developmental measurements. Missing optional DICE/cornea is disclosed. No detected protein is not proof of absence in every unmeasured tissue.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oncoref.cta-selection.2026-10-28</a:t>
            </a:r>
          </a:p>
          <a:p xmlns:a="http://schemas.openxmlformats.org/drawingml/2006/main">
            <a:r>
              <a:t>Decision snapshot SHA256: 7ef01de6115fb0cbe7220f8ebeea9ed457214731b637b2672399f87376e9f3a0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Every filtering layer can contribute</a:t>
            </a:r>
          </a:p>
          <a:p xmlns:a="http://schemas.openxmlformats.org/drawingml/2006/main">
            <a:r>
              <a:t>The gray segment is held/unassigned evidence, not Neither. The final profile check assigns Neither. All layers evaluate every group; final categories are independent of display order.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oncoref.cta-selection.2026-10-28</a:t>
            </a:r>
          </a:p>
          <a:p xmlns:a="http://schemas.openxmlformats.org/drawingml/2006/main">
            <a:r>
              <a:t>Decision snapshot SHA256: 7ef01de6115fb0cbe7220f8ebeea9ed457214731b637b2672399f87376e9f3a0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Removals at each filter</a:t>
            </a:r>
          </a:p>
          <a:p xmlns:a="http://schemas.openxmlformats.org/drawingml/2006/main">
            <a:r>
              <a:t>Sequential first removals depend on the displayed order; the independent-layer table reports overlaps.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oncoref.cta-selection.2026-10-28</a:t>
            </a:r>
          </a:p>
          <a:p xmlns:a="http://schemas.openxmlformats.org/drawingml/2006/main">
            <a:r>
              <a:t>Decision snapshot SHA256: 7ef01de6115fb0cbe7220f8ebeea9ed457214731b637b2672399f87376e9f3a0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IHC matching to measured RNA compartments</a:t>
            </a:r>
          </a:p>
          <a:p xmlns:a="http://schemas.openxmlformats.org/drawingml/2006/main">
            <a:r>
              <a:t>HPA colon https://www.proteinatlas.org/learn/dictionary/normal/colon ; bronchus https://www.proteinatlas.org/learn/dictionary/normal/bronchus . Parent-compartment credit is a declared anatomical interpretation, not proof that all rare cells were sampled.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oncoref.cta-selection.2026-10-28</a:t>
            </a:r>
          </a:p>
          <a:p xmlns:a="http://schemas.openxmlformats.org/drawingml/2006/main">
            <a:r>
              <a:t>Decision snapshot SHA256: 7ef01de6115fb0cbe7220f8ebeea9ed457214731b637b2672399f87376e9f3a0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Selected CTA: reproductive versus embryonic RNA</a:t>
            </a:r>
          </a:p>
          <a:p xmlns:a="http://schemas.openxmlformats.org/drawingml/2006/main">
            <a:r>
              <a:t>Color uses the highest supported non-disposable healthy expression within the stated native unit. There is no mixed-unit maximum. Labels include widely studied antigens with mapped values. Companion panels label all selected groups ≥5 on both axes. Missing embryonic measurements appear in a separate categorical band; every selected group is represented without zero filling.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oncoref.cta-selection.2026-10-28</a:t>
            </a:r>
          </a:p>
          <a:p xmlns:a="http://schemas.openxmlformats.org/drawingml/2006/main">
            <a:r>
              <a:t>Decision snapshot SHA256: 7ef01de6115fb0cbe7220f8ebeea9ed457214731b637b2672399f87376e9f3a0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Selected CTA: healthy RNA in TPM</a:t>
            </a:r>
          </a:p>
          <a:p xmlns:a="http://schemas.openxmlformats.org/drawingml/2006/main">
            <a:r>
              <a:t>Color uses the highest supported non-disposable healthy expression within the stated native unit. There is no mixed-unit maximum. Labels include widely studied antigens with mapped values. Companion panels label all selected groups ≥5 on both axes. Missing embryonic measurements appear in a separate categorical band; every selected group is represented without zero filling.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oncoref.cta-selection.2026-10-28</a:t>
            </a:r>
          </a:p>
          <a:p xmlns:a="http://schemas.openxmlformats.org/drawingml/2006/main">
            <a:r>
              <a:t>Decision snapshot SHA256: 7ef01de6115fb0cbe7220f8ebeea9ed457214731b637b2672399f87376e9f3a0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Selected CTA: normal corneal RNA</a:t>
            </a:r>
          </a:p>
          <a:p xmlns:a="http://schemas.openxmlformats.org/drawingml/2006/main">
            <a:r>
              <a:t>Color uses the highest supported non-disposable healthy expression within the stated native unit. There is no mixed-unit maximum. Labels include widely studied antigens with mapped values. Companion panels label all selected groups ≥5 on both axes. Missing embryonic measurements appear in a separate categorical band; every selected group is represented without zero filling.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oncoref.cta-selection.2026-10-28</a:t>
            </a:r>
          </a:p>
          <a:p xmlns:a="http://schemas.openxmlformats.org/drawingml/2006/main">
            <a:r>
              <a:t>Decision snapshot SHA256: 7ef01de6115fb0cbe7220f8ebeea9ed457214731b637b2672399f87376e9f3a0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High reproductive and embryonic RNA: labels 1 of 3</a:t>
            </a:r>
          </a:p>
          <a:p xmlns:a="http://schemas.openxmlformats.org/drawingml/2006/main">
            <a:r>
              <a:t>The three panels use identical axes and together label all selected groups with reproductive nTPM ≥5 and measured embryonic lineage-mean TPM ≥5. This descriptive threshold does not replace developmental cell-support requirements. Color is the highest non-disposable healthy nTPM.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oncoref.cta-selection.2026-10-28</a:t>
            </a:r>
          </a:p>
          <a:p xmlns:a="http://schemas.openxmlformats.org/drawingml/2006/main">
            <a:r>
              <a:t>Decision snapshot SHA256: 7ef01de6115fb0cbe7220f8ebeea9ed457214731b637b2672399f87376e9f3a0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High reproductive and embryonic RNA: labels 2 of 3</a:t>
            </a:r>
          </a:p>
          <a:p xmlns:a="http://schemas.openxmlformats.org/drawingml/2006/main">
            <a:r>
              <a:t>The three panels use identical axes and together label all selected groups with reproductive nTPM ≥5 and measured embryonic lineage-mean TPM ≥5. This descriptive threshold does not replace developmental cell-support requirements. Color is the highest non-disposable healthy nTPM.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oncoref.cta-selection.2026-10-28</a:t>
            </a:r>
          </a:p>
          <a:p xmlns:a="http://schemas.openxmlformats.org/drawingml/2006/main">
            <a:r>
              <a:t>Decision snapshot SHA256: 7ef01de6115fb0cbe7220f8ebeea9ed457214731b637b2672399f87376e9f3a0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High reproductive and embryonic RNA: labels 3 of 3</a:t>
            </a:r>
          </a:p>
          <a:p xmlns:a="http://schemas.openxmlformats.org/drawingml/2006/main">
            <a:r>
              <a:t>The three panels use identical axes and together label all selected groups with reproductive nTPM ≥5 and measured embryonic lineage-mean TPM ≥5. This descriptive threshold does not replace developmental cell-support requirements. Color is the highest non-disposable healthy nTPM.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oncoref.cta-selection.2026-10-28</a:t>
            </a:r>
          </a:p>
          <a:p xmlns:a="http://schemas.openxmlformats.org/drawingml/2006/main">
            <a:r>
              <a:t>Decision snapshot SHA256: 7ef01de6115fb0cbe7220f8ebeea9ed457214731b637b2672399f87376e9f3a0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Complementary embryonic measurements</a:t>
            </a:r>
          </a:p>
          <a:p xmlns:a="http://schemas.openxmlformats.org/drawingml/2006/main">
            <a:r>
              <a:t>Tyser E-MTAB-9388 https://doi.org/10.1038/s41586-021-04158-y . Petropoulos E-MTAB-3929 https://www.ebi.ac.uk/gxa/sc/experiments/E-MTAB-3929/Results . Sources retain their own stage, cell support and donor counts.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oncoref.cta-selection.2026-10-28</a:t>
            </a:r>
          </a:p>
          <a:p xmlns:a="http://schemas.openxmlformats.org/drawingml/2006/main">
            <a:r>
              <a:t>Decision snapshot SHA256: 7ef01de6115fb0cbe7220f8ebeea9ed457214731b637b2672399f87376e9f3a0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Widely studied antigens: reproductive RNA</a:t>
            </a:r>
          </a:p>
          <a:p xmlns:a="http://schemas.openxmlformats.org/drawingml/2006/main">
            <a:r>
              <a:t>MAGE-A1 and MAGE-A3 are comparators, not admission controls. Full-width figures highlight PRAME, NY-ESO-1 (CTAG1A/B), XAGE1A/B, MAGE-A4, CT83, SSX2/B and TBXT. Missing embryonic measurements are in a separate band.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oncoref.cta-selection.2026-10-28</a:t>
            </a:r>
          </a:p>
          <a:p xmlns:a="http://schemas.openxmlformats.org/drawingml/2006/main">
            <a:r>
              <a:t>Decision snapshot SHA256: 7ef01de6115fb0cbe7220f8ebeea9ed457214731b637b2672399f87376e9f3a0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Widely studied antigens: embryonic RNA</a:t>
            </a:r>
          </a:p>
          <a:p xmlns:a="http://schemas.openxmlformats.org/drawingml/2006/main">
            <a:r>
              <a:t>MAGE-A1 and MAGE-A3 are comparators, not admission controls. Full-width figures highlight PRAME, NY-ESO-1 (CTAG1A/B), XAGE1A/B, MAGE-A4, CT83, SSX2/B and TBXT. Missing embryonic measurements are in a separate band.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oncoref.cta-selection.2026-10-28</a:t>
            </a:r>
          </a:p>
          <a:p xmlns:a="http://schemas.openxmlformats.org/drawingml/2006/main">
            <a:r>
              <a:t>Decision snapshot SHA256: 7ef01de6115fb0cbe7220f8ebeea9ed457214731b637b2672399f87376e9f3a0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Assessment status is separate from category</a:t>
            </a:r>
          </a:p>
          <a:p xmlns:a="http://schemas.openxmlformats.org/drawingml/2006/main">
            <a:r>
              <a:t>A category can be assigned despite gaps in optional or irrelevant sources. Screened does not mean clinically safe or fully measured. MAGE-A3 has measured colon counterevidence. An independent developmental measurement cannot erase it.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oncoref.cta-selection.2026-10-28</a:t>
            </a:r>
          </a:p>
          <a:p xmlns:a="http://schemas.openxmlformats.org/drawingml/2006/main">
            <a:r>
              <a:t>Decision snapshot SHA256: 7ef01de6115fb0cbe7220f8ebeea9ed457214731b637b2672399f87376e9f3a0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Which sources have incomplete evidence</a:t>
            </a:r>
          </a:p>
          <a:p xmlns:a="http://schemas.openxmlformats.org/drawingml/2006/main">
            <a:r>
              <a:t>Source versions, complete missing tissue/cell contexts, member ENSG IDs, historical IDs, synonyms and tumor cohort coverage: https://pirl-unc.github.io/oncoref/audits/cta-source-walkthrough-20261028/coverage/ . Counts overlap and do not sum to a total.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oncoref.cta-selection.2026-10-28</a:t>
            </a:r>
          </a:p>
          <a:p xmlns:a="http://schemas.openxmlformats.org/drawingml/2006/main">
            <a:r>
              <a:t>Decision snapshot SHA256: 7ef01de6115fb0cbe7220f8ebeea9ed457214731b637b2672399f87376e9f3a0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Dog evidence and integration gaps</a:t>
            </a:r>
          </a:p>
          <a:p xmlns:a="http://schemas.openxmlformats.org/drawingml/2006/main">
            <a:r>
              <a:t>Nemec et al. (2019) https://doi.org/10.1111/vco.12475 ; Hindriks et al. (2025) https://doi.org/10.1016/j.vetimm.2025.110946 . Issues https://github.com/pirl-unc/oncoref/issues/574 and https://github.com/pirl-unc/oncoref/issues/585 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oncoref.cta-selection.2026-10-28</a:t>
            </a:r>
          </a:p>
          <a:p xmlns:a="http://schemas.openxmlformats.org/drawingml/2006/main">
            <a:r>
              <a:t>Decision snapshot SHA256: 7ef01de6115fb0cbe7220f8ebeea9ed457214731b637b2672399f87376e9f3a0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Curated oncofetal sources</a:t>
            </a:r>
          </a:p>
          <a:p xmlns:a="http://schemas.openxmlformats.org/drawingml/2006/main">
            <a:r>
              <a:t>Shaw et al. (2024) https://doi.org/10.1038/s41467-024-47649-y ; TRIM71 liver study https://pmc.ncbi.nlm.nih.gov/articles/PMC11388079/ ; Cardoso-Moreira et al. (2019) https://pmc.ncbi.nlm.nih.gov/articles/PMC6658352/ . Newly identified sources are not in current selection counts.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oncoref.cta-selection.2026-10-28</a:t>
            </a:r>
          </a:p>
          <a:p xmlns:a="http://schemas.openxmlformats.org/drawingml/2006/main">
            <a:r>
              <a:t>Decision snapshot SHA256: 7ef01de6115fb0cbe7220f8ebeea9ed457214731b637b2672399f87376e9f3a0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Common API with native evidence underneath</a:t>
            </a:r>
          </a:p>
          <a:p xmlns:a="http://schemas.openxmlformats.org/drawingml/2006/main">
            <a:r>
              <a:t>Human, dog and mouse share schema and explicit unavailable states. Data are offline and checksum-verified. Frozen release reports remain unchanged.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oncoref.cta-selection.2026-10-28</a:t>
            </a:r>
          </a:p>
          <a:p xmlns:a="http://schemas.openxmlformats.org/drawingml/2006/main">
            <a:r>
              <a:t>Decision snapshot SHA256: 7ef01de6115fb0cbe7220f8ebeea9ed457214731b637b2672399f87376e9f3a0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Every source resolves to a concrete version</a:t>
            </a:r>
          </a:p>
          <a:p xmlns:a="http://schemas.openxmlformats.org/drawingml/2006/main">
            <a:r>
              <a:t>Data version API: https://pirl-unc.github.io/oncoref/data-versions/ . GTEx versions and pipelines: https://github.com/broadinstitute/gtex-pipeline/blob/master/rnaseq/README.md . HPA current RNA snapshot: https://github.com/pirl-unc/oncoref/releases/tag/reference-hpa-v25.1-20261028 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oncoref.cta-selection.2026-10-28</a:t>
            </a:r>
          </a:p>
          <a:p xmlns:a="http://schemas.openxmlformats.org/drawingml/2006/main">
            <a:r>
              <a:t>Decision snapshot SHA256: 7ef01de6115fb0cbe7220f8ebeea9ed457214731b637b2672399f87376e9f3a0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de3e1f4713479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ebcf77d9364e2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16092de0504da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08e03f84ae43b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8085aa26444bd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7a0ac8eb5d47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9F61079-3F9E-444F-B27C-F488D51AF9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31959CC-A882-411E-BE30-1DD2FDA2FAD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42D6465-F717-47BA-BE9D-11C7815D97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D11BFB-2F70-464A-B54C-EA45C6C601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0F28D46-1AA7-4651-9D88-DAD149419A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438FB53-A16D-4F13-9873-2312427557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60C91DE-F56E-45F9-8CDF-48725A1D45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13AE8F8-9715-479A-AB60-3E371D1BBDE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49C40A3-D000-48B9-AD98-824B28E07C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33BC9FB-5C95-4291-9376-9708B33F91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47add6ae564944" /><Relationship Type="http://schemas.openxmlformats.org/officeDocument/2006/relationships/slideLayout" Target="/ppt/slideLayouts/slideLayout1.xml" Id="R28e08d69296945a6" /><Relationship Type="http://schemas.openxmlformats.org/officeDocument/2006/relationships/slideLayout" Target="/ppt/slideLayouts/slideLayout2.xml" Id="R57227d491400446d" /><Relationship Type="http://schemas.openxmlformats.org/officeDocument/2006/relationships/slideLayout" Target="/ppt/slideLayouts/slideLayout3.xml" Id="R50de021b1cf64c62" /><Relationship Type="http://schemas.openxmlformats.org/officeDocument/2006/relationships/slideLayout" Target="/ppt/slideLayouts/slideLayout4.xml" Id="R3a3647da832240bd" /><Relationship Type="http://schemas.openxmlformats.org/officeDocument/2006/relationships/slideLayout" Target="/ppt/slideLayouts/slideLayout5.xml" Id="R7379b9730fbc4367" /><Relationship Type="http://schemas.openxmlformats.org/officeDocument/2006/relationships/slideLayout" Target="/ppt/slideLayouts/slideLayout6.xml" Id="R8059e6fd26d947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e08d69296945a6"/>
    <p:sldLayoutId xmlns:r="http://schemas.openxmlformats.org/officeDocument/2006/relationships" id="2147483650" r:id="R57227d491400446d"/>
    <p:sldLayoutId xmlns:r="http://schemas.openxmlformats.org/officeDocument/2006/relationships" id="2147483651" r:id="R50de021b1cf64c62"/>
    <p:sldLayoutId xmlns:r="http://schemas.openxmlformats.org/officeDocument/2006/relationships" id="2147483652" r:id="R3a3647da832240bd"/>
    <p:sldLayoutId xmlns:r="http://schemas.openxmlformats.org/officeDocument/2006/relationships" id="2147483653" r:id="R7379b9730fbc4367"/>
    <p:sldLayoutId xmlns:r="http://schemas.openxmlformats.org/officeDocument/2006/relationships" id="2147483654" r:id="R8059e6fd26d947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c0f752f5514983" /><Relationship Type="http://schemas.openxmlformats.org/officeDocument/2006/relationships/notesSlide" Target="/ppt/notesSlides/notesSlide1.xml" Id="R93b6410d3eb244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25ec14cf984f50" /><Relationship Type="http://schemas.openxmlformats.org/officeDocument/2006/relationships/notesSlide" Target="/ppt/notesSlides/notesSlide2.xml" Id="R169c7dd826d34c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493c0e18004454" /><Relationship Type="http://schemas.openxmlformats.org/officeDocument/2006/relationships/notesSlide" Target="/ppt/notesSlides/notesSlide3.xml" Id="R28765b0bb0c2439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324f24ed2947af" /><Relationship Type="http://schemas.openxmlformats.org/officeDocument/2006/relationships/image" Target="/ppt/media/image.png" Id="R044779769e2a461f" /><Relationship Type="http://schemas.openxmlformats.org/officeDocument/2006/relationships/notesSlide" Target="/ppt/notesSlides/notesSlide4.xml" Id="Rf0d136f263974c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5963184844479f" /><Relationship Type="http://schemas.openxmlformats.org/officeDocument/2006/relationships/notesSlide" Target="/ppt/notesSlides/notesSlide5.xml" Id="Rc141f4573584422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68002b52a84681" /><Relationship Type="http://schemas.openxmlformats.org/officeDocument/2006/relationships/notesSlide" Target="/ppt/notesSlides/notesSlide6.xml" Id="R71f6f4ed3c1648c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993c01f3284b55" /><Relationship Type="http://schemas.openxmlformats.org/officeDocument/2006/relationships/notesSlide" Target="/ppt/notesSlides/notesSlide7.xml" Id="R8ba69906375349c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7ed6b9410e40ec" /><Relationship Type="http://schemas.openxmlformats.org/officeDocument/2006/relationships/notesSlide" Target="/ppt/notesSlides/notesSlide8.xml" Id="R80d99c387ddd43e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c34a5c20824183" /><Relationship Type="http://schemas.openxmlformats.org/officeDocument/2006/relationships/chart" Target="/ppt/slides/charts/chart1.xml" Id="Rdf371f6981434981" /><Relationship Type="http://schemas.openxmlformats.org/officeDocument/2006/relationships/notesSlide" Target="/ppt/notesSlides/notesSlide9.xml" Id="R9944e218ef0c4ca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09306c9ef24ebb" /><Relationship Type="http://schemas.openxmlformats.org/officeDocument/2006/relationships/notesSlide" Target="/ppt/notesSlides/notesSlide10.xml" Id="R33d916d80e184ac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0ff621740e4730" /><Relationship Type="http://schemas.openxmlformats.org/officeDocument/2006/relationships/notesSlide" Target="/ppt/notesSlides/notesSlide11.xml" Id="R3e26e354a21d4a0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9c438795d64eb9" /><Relationship Type="http://schemas.openxmlformats.org/officeDocument/2006/relationships/image" Target="/ppt/media/image2.png" Id="Rdbbacc11c9404184" /><Relationship Type="http://schemas.openxmlformats.org/officeDocument/2006/relationships/notesSlide" Target="/ppt/notesSlides/notesSlide12.xml" Id="Rbeafa018a2df464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3b976e77224161" /><Relationship Type="http://schemas.openxmlformats.org/officeDocument/2006/relationships/image" Target="/ppt/media/image3.png" Id="R2d1d80f0f00f4ea7" /><Relationship Type="http://schemas.openxmlformats.org/officeDocument/2006/relationships/notesSlide" Target="/ppt/notesSlides/notesSlide13.xml" Id="Rfa4874238ccd415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a94c8483ee4389" /><Relationship Type="http://schemas.openxmlformats.org/officeDocument/2006/relationships/image" Target="/ppt/media/image4.png" Id="Ra842d29d50654ed1" /><Relationship Type="http://schemas.openxmlformats.org/officeDocument/2006/relationships/notesSlide" Target="/ppt/notesSlides/notesSlide14.xml" Id="R8461def4d5c94ea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7fbfd776884ba9" /><Relationship Type="http://schemas.openxmlformats.org/officeDocument/2006/relationships/image" Target="/ppt/media/image5.png" Id="Ra87a1aae01484177" /><Relationship Type="http://schemas.openxmlformats.org/officeDocument/2006/relationships/notesSlide" Target="/ppt/notesSlides/notesSlide15.xml" Id="R4112bb6b2dfe44d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74e272e37540dc" /><Relationship Type="http://schemas.openxmlformats.org/officeDocument/2006/relationships/image" Target="/ppt/media/image6.png" Id="R46eb7bde706e489a" /><Relationship Type="http://schemas.openxmlformats.org/officeDocument/2006/relationships/notesSlide" Target="/ppt/notesSlides/notesSlide16.xml" Id="Raf352ba8b26a411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bccfe7d9534603" /><Relationship Type="http://schemas.openxmlformats.org/officeDocument/2006/relationships/image" Target="/ppt/media/image7.png" Id="R681fb7d230cd469d" /><Relationship Type="http://schemas.openxmlformats.org/officeDocument/2006/relationships/notesSlide" Target="/ppt/notesSlides/notesSlide17.xml" Id="R5df79b31673b44c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dccaf3932844c3" /><Relationship Type="http://schemas.openxmlformats.org/officeDocument/2006/relationships/notesSlide" Target="/ppt/notesSlides/notesSlide18.xml" Id="Rf3dc6792b28444b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050748327f4092" /><Relationship Type="http://schemas.openxmlformats.org/officeDocument/2006/relationships/image" Target="/ppt/media/image8.png" Id="R2e38eab6f3c64ae5" /><Relationship Type="http://schemas.openxmlformats.org/officeDocument/2006/relationships/notesSlide" Target="/ppt/notesSlides/notesSlide19.xml" Id="R0edeca9f08804a9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bfdb55d6a14e35" /><Relationship Type="http://schemas.openxmlformats.org/officeDocument/2006/relationships/image" Target="/ppt/media/image9.png" Id="Re3004afe4f1a452f" /><Relationship Type="http://schemas.openxmlformats.org/officeDocument/2006/relationships/notesSlide" Target="/ppt/notesSlides/notesSlide20.xml" Id="R2e30add0f043480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41fb553bac4cfe" /><Relationship Type="http://schemas.openxmlformats.org/officeDocument/2006/relationships/notesSlide" Target="/ppt/notesSlides/notesSlide21.xml" Id="R97274d3d92fb4db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0f571c763b40b0" /><Relationship Type="http://schemas.openxmlformats.org/officeDocument/2006/relationships/notesSlide" Target="/ppt/notesSlides/notesSlide22.xml" Id="R844f135d3e9f471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8ab4af0bd44af8" /><Relationship Type="http://schemas.openxmlformats.org/officeDocument/2006/relationships/notesSlide" Target="/ppt/notesSlides/notesSlide23.xml" Id="R4dee9a2f9c2d45b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72f2d0fd824404" /><Relationship Type="http://schemas.openxmlformats.org/officeDocument/2006/relationships/notesSlide" Target="/ppt/notesSlides/notesSlide24.xml" Id="R4120604dae7147c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b83e088674452a" /><Relationship Type="http://schemas.openxmlformats.org/officeDocument/2006/relationships/notesSlide" Target="/ppt/notesSlides/notesSlide25.xml" Id="R9dc0a373801d416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fb5519329542d8" /><Relationship Type="http://schemas.openxmlformats.org/officeDocument/2006/relationships/notesSlide" Target="/ppt/notesSlides/notesSlide26.xml" Id="Rc874a4829a214f3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stacked"/>
        <c:varyColors val="0"/>
        <c:ser>
          <c:idx val="0"/>
          <c:order val="0"/>
          <c:tx>
            <c:v>Eligible so far</c:v>
          </c:tx>
          <c:spPr>
            <a:solidFill xmlns:a="http://schemas.openxmlformats.org/drawingml/2006/main">
              <a:srgbClr val="087E8B"/>
            </a:solidFill>
          </c:spPr>
          <c:invertIfNegative val="0"/>
          <c:cat>
            <c:strRef>
              <c:f>'Chart Data'!$A$2:$A$15</c:f>
              <c:strCache>
                <c:ptCount val="14"/>
                <c:pt idx="0">
                  <c:v>Neither profiles</c:v>
                </c:pt>
                <c:pt idx="1">
                  <c:v>External IHC</c:v>
                </c:pt>
                <c:pt idx="2">
                  <c:v>Clinical safety</c:v>
                </c:pt>
                <c:pt idx="3">
                  <c:v>Curated protein</c:v>
                </c:pt>
                <c:pt idx="4">
                  <c:v>Cornea</c:v>
                </c:pt>
                <c:pt idx="5">
                  <c:v>DICE</c:v>
                </c:pt>
                <c:pt idx="6">
                  <c:v>Monaco</c:v>
                </c:pt>
                <c:pt idx="7">
                  <c:v>HPA immune</c:v>
                </c:pt>
                <c:pt idx="8">
                  <c:v>Tissue clusters</c:v>
                </c:pt>
                <c:pt idx="9">
                  <c:v>Bulk RNA</c:v>
                </c:pt>
                <c:pt idx="10">
                  <c:v>Coverage</c:v>
                </c:pt>
                <c:pt idx="11">
                  <c:v>HPA protein</c:v>
                </c:pt>
                <c:pt idx="12">
                  <c:v>Tumor</c:v>
                </c:pt>
                <c:pt idx="13">
                  <c:v>Association</c:v>
                </c:pt>
              </c:strCache>
            </c:strRef>
          </c:cat>
          <c:val>
            <c:numRef>
              <c:f>'Chart Data'!$B$2:$B$15</c:f>
              <c:numCache>
                <c:formatCode>General</c:formatCode>
                <c:ptCount val="14"/>
                <c:pt idx="0">
                  <c:v>548</c:v>
                </c:pt>
                <c:pt idx="1">
                  <c:v>548</c:v>
                </c:pt>
                <c:pt idx="2">
                  <c:v>548</c:v>
                </c:pt>
                <c:pt idx="3">
                  <c:v>549</c:v>
                </c:pt>
                <c:pt idx="4">
                  <c:v>550</c:v>
                </c:pt>
                <c:pt idx="5">
                  <c:v>553</c:v>
                </c:pt>
                <c:pt idx="6">
                  <c:v>569</c:v>
                </c:pt>
                <c:pt idx="7">
                  <c:v>572</c:v>
                </c:pt>
                <c:pt idx="8">
                  <c:v>581</c:v>
                </c:pt>
                <c:pt idx="9">
                  <c:v>766</c:v>
                </c:pt>
                <c:pt idx="10">
                  <c:v>3820</c:v>
                </c:pt>
                <c:pt idx="11">
                  <c:v>3916</c:v>
                </c:pt>
                <c:pt idx="12">
                  <c:v>13754</c:v>
                </c:pt>
                <c:pt idx="13">
                  <c:v>13764</c:v>
                </c:pt>
              </c:numCache>
            </c:numRef>
          </c:val>
        </c:ser>
        <c:ser>
          <c:idx val="1"/>
          <c:order val="1"/>
          <c:tx>
            <c:v>Unsafe</c:v>
          </c:tx>
          <c:spPr>
            <a:solidFill xmlns:a="http://schemas.openxmlformats.org/drawingml/2006/main">
              <a:srgbClr val="AC493B"/>
            </a:solidFill>
          </c:spPr>
          <c:invertIfNegative val="0"/>
          <c:cat>
            <c:strRef>
              <c:f>'Chart Data'!$C$2:$C$15</c:f>
              <c:strCache>
                <c:ptCount val="14"/>
                <c:pt idx="0">
                  <c:v>Neither profiles</c:v>
                </c:pt>
                <c:pt idx="1">
                  <c:v>External IHC</c:v>
                </c:pt>
                <c:pt idx="2">
                  <c:v>Clinical safety</c:v>
                </c:pt>
                <c:pt idx="3">
                  <c:v>Curated protein</c:v>
                </c:pt>
                <c:pt idx="4">
                  <c:v>Cornea</c:v>
                </c:pt>
                <c:pt idx="5">
                  <c:v>DICE</c:v>
                </c:pt>
                <c:pt idx="6">
                  <c:v>Monaco</c:v>
                </c:pt>
                <c:pt idx="7">
                  <c:v>HPA immune</c:v>
                </c:pt>
                <c:pt idx="8">
                  <c:v>Tissue clusters</c:v>
                </c:pt>
                <c:pt idx="9">
                  <c:v>Bulk RNA</c:v>
                </c:pt>
                <c:pt idx="10">
                  <c:v>Coverage</c:v>
                </c:pt>
                <c:pt idx="11">
                  <c:v>HPA protein</c:v>
                </c:pt>
                <c:pt idx="12">
                  <c:v>Tumor</c:v>
                </c:pt>
                <c:pt idx="13">
                  <c:v>Association</c:v>
                </c:pt>
              </c:strCache>
            </c:strRef>
          </c:cat>
          <c:val>
            <c:numRef>
              <c:f>'Chart Data'!$D$2:$D$15</c:f>
              <c:numCache>
                <c:formatCode>General</c:formatCode>
                <c:ptCount val="14"/>
                <c:pt idx="0">
                  <c:v>18031</c:v>
                </c:pt>
                <c:pt idx="1">
                  <c:v>18031</c:v>
                </c:pt>
                <c:pt idx="2">
                  <c:v>18031</c:v>
                </c:pt>
                <c:pt idx="3">
                  <c:v>18030</c:v>
                </c:pt>
                <c:pt idx="4">
                  <c:v>18028</c:v>
                </c:pt>
                <c:pt idx="5">
                  <c:v>18016</c:v>
                </c:pt>
                <c:pt idx="6">
                  <c:v>17961</c:v>
                </c:pt>
                <c:pt idx="7">
                  <c:v>17944</c:v>
                </c:pt>
                <c:pt idx="8">
                  <c:v>17914</c:v>
                </c:pt>
                <c:pt idx="9">
                  <c:v>17500</c:v>
                </c:pt>
                <c:pt idx="10">
                  <c:v>10094</c:v>
                </c:pt>
                <c:pt idx="11">
                  <c:v>10094</c:v>
                </c:pt>
                <c:pt idx="12">
                  <c:v>0</c:v>
                </c:pt>
                <c:pt idx="13">
                  <c:v>0</c:v>
                </c:pt>
              </c:numCache>
            </c:numRef>
          </c:val>
        </c:ser>
        <c:ser>
          <c:idx val="2"/>
          <c:order val="2"/>
          <c:tx>
            <c:v>Neither</c:v>
          </c:tx>
          <c:spPr>
            <a:solidFill xmlns:a="http://schemas.openxmlformats.org/drawingml/2006/main">
              <a:srgbClr val="A28C68"/>
            </a:solidFill>
          </c:spPr>
          <c:invertIfNegative val="0"/>
          <c:cat>
            <c:strRef>
              <c:f>'Chart Data'!$E$2:$E$15</c:f>
              <c:strCache>
                <c:ptCount val="14"/>
                <c:pt idx="0">
                  <c:v>Neither profiles</c:v>
                </c:pt>
                <c:pt idx="1">
                  <c:v>External IHC</c:v>
                </c:pt>
                <c:pt idx="2">
                  <c:v>Clinical safety</c:v>
                </c:pt>
                <c:pt idx="3">
                  <c:v>Curated protein</c:v>
                </c:pt>
                <c:pt idx="4">
                  <c:v>Cornea</c:v>
                </c:pt>
                <c:pt idx="5">
                  <c:v>DICE</c:v>
                </c:pt>
                <c:pt idx="6">
                  <c:v>Monaco</c:v>
                </c:pt>
                <c:pt idx="7">
                  <c:v>HPA immune</c:v>
                </c:pt>
                <c:pt idx="8">
                  <c:v>Tissue clusters</c:v>
                </c:pt>
                <c:pt idx="9">
                  <c:v>Bulk RNA</c:v>
                </c:pt>
                <c:pt idx="10">
                  <c:v>Coverage</c:v>
                </c:pt>
                <c:pt idx="11">
                  <c:v>HPA protein</c:v>
                </c:pt>
                <c:pt idx="12">
                  <c:v>Tumor</c:v>
                </c:pt>
                <c:pt idx="13">
                  <c:v>Association</c:v>
                </c:pt>
              </c:strCache>
            </c:strRef>
          </c:cat>
          <c:val>
            <c:numRef>
              <c:f>'Chart Data'!$F$2:$F$15</c:f>
              <c:numCache>
                <c:formatCode>General</c:formatCode>
                <c:ptCount val="14"/>
                <c:pt idx="0">
                  <c:v>20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</c:numCache>
            </c:numRef>
          </c:val>
        </c:ser>
        <c:ser>
          <c:idx val="3"/>
          <c:order val="3"/>
          <c:tx>
            <c:v>Unassigned</c:v>
          </c:tx>
          <c:spPr>
            <a:solidFill xmlns:a="http://schemas.openxmlformats.org/drawingml/2006/main">
              <a:srgbClr val="B9C3CD"/>
            </a:solidFill>
          </c:spPr>
          <c:invertIfNegative val="0"/>
          <c:cat>
            <c:strRef>
              <c:f>'Chart Data'!$G$2:$G$15</c:f>
              <c:strCache>
                <c:ptCount val="14"/>
                <c:pt idx="0">
                  <c:v>Neither profiles</c:v>
                </c:pt>
                <c:pt idx="1">
                  <c:v>External IHC</c:v>
                </c:pt>
                <c:pt idx="2">
                  <c:v>Clinical safety</c:v>
                </c:pt>
                <c:pt idx="3">
                  <c:v>Curated protein</c:v>
                </c:pt>
                <c:pt idx="4">
                  <c:v>Cornea</c:v>
                </c:pt>
                <c:pt idx="5">
                  <c:v>DICE</c:v>
                </c:pt>
                <c:pt idx="6">
                  <c:v>Monaco</c:v>
                </c:pt>
                <c:pt idx="7">
                  <c:v>HPA immune</c:v>
                </c:pt>
                <c:pt idx="8">
                  <c:v>Tissue clusters</c:v>
                </c:pt>
                <c:pt idx="9">
                  <c:v>Bulk RNA</c:v>
                </c:pt>
                <c:pt idx="10">
                  <c:v>Coverage</c:v>
                </c:pt>
                <c:pt idx="11">
                  <c:v>HPA protein</c:v>
                </c:pt>
                <c:pt idx="12">
                  <c:v>Tumor</c:v>
                </c:pt>
                <c:pt idx="13">
                  <c:v>Association</c:v>
                </c:pt>
              </c:strCache>
            </c:strRef>
          </c:cat>
          <c:val>
            <c:numRef>
              <c:f>'Chart Data'!$H$2:$H$15</c:f>
              <c:numCache>
                <c:formatCode>General</c:formatCode>
                <c:ptCount val="14"/>
                <c:pt idx="0">
                  <c:v>1264</c:v>
                </c:pt>
                <c:pt idx="1">
                  <c:v>1284</c:v>
                </c:pt>
                <c:pt idx="2">
                  <c:v>1284</c:v>
                </c:pt>
                <c:pt idx="3">
                  <c:v>1284</c:v>
                </c:pt>
                <c:pt idx="4">
                  <c:v>1285</c:v>
                </c:pt>
                <c:pt idx="5">
                  <c:v>1294</c:v>
                </c:pt>
                <c:pt idx="6">
                  <c:v>1333</c:v>
                </c:pt>
                <c:pt idx="7">
                  <c:v>1347</c:v>
                </c:pt>
                <c:pt idx="8">
                  <c:v>1368</c:v>
                </c:pt>
                <c:pt idx="9">
                  <c:v>1597</c:v>
                </c:pt>
                <c:pt idx="10">
                  <c:v>5949</c:v>
                </c:pt>
                <c:pt idx="11">
                  <c:v>5853</c:v>
                </c:pt>
                <c:pt idx="12">
                  <c:v>6109</c:v>
                </c:pt>
                <c:pt idx="13">
                  <c:v>6099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B55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in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173B55"/>
              </a:solidFill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D316CB-E7AA-45AA-BE9D-1DBC3628E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CURRENT SELECTION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46CD17-281D-4330-9FAA-0BB09A15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Human and dog CTA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F69BA0-8E65-4D03-AC04-1A6DB525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28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FC9FAC-0E3D-45D4-907B-C863612F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E91F02-4E91-416A-8974-5EA66669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4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4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4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4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4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4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4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4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4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4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548 human CTA groups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CDACC8-2911-4A67-B6C4-2F59D68B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584 loci   /   18,031 Unsafe   /   20 Neither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25A415-7909-4C8B-AD88-33DDC3D0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1,264 unassigned; dog selection remains unassessed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4D4202-5E8F-4ED3-B65B-35EE4CE2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Sources, expression profiles, single-cutoff filtering and measured tissue evidence.</a:t>
            </a:r>
          </a:p>
        </p:txBody>
      </p:sp>
    </p:spTree>
    <p:extLst>
      <p:ext uri="{BB962C8B-B14F-4D97-AF65-F5344CB8AC3E}">
        <p14:creationId xmlns:p14="http://schemas.microsoft.com/office/powerpoint/2010/main" val="6608621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48A2DA-0264-48B6-950D-21AAC16C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HUMAN ANNOTATIONS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8E3CB6-6CD4-4D19-BEC1-2DCEAAC1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Published candidate lists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14D339-EC43-4999-B50B-E4C0FFF3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28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525680-7CB5-4C78-B61D-A4BABC49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3E5B49-1981-47EE-8082-19DA57B14C83}"/>
              </a:ext>
            </a:extLst>
          </p:cNvPr>
          <p:cNvGraphicFramePr/>
          <p:nvPr/>
        </p:nvGraphicFramePr>
        <p:xfrm>
          <a:off xmlns:a="http://schemas.openxmlformats.org/drawingml/2006/main" x="609600" y="150495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1428750"/>
                <a:gridCol w="1333500"/>
                <a:gridCol w="1524000"/>
                <a:gridCol w="1428750"/>
                <a:gridCol w="1543050"/>
              </a:tblGrid>
              <a:tr h="307731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Paper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Groups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CTA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Unsafe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Neither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Unassigned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</a:tr>
              <a:tr h="307731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 Silva et al. (2017)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1,017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376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401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239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7731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Wang et al. (2016)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988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264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640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83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307731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Chang et al. (2019)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985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285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639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61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7731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Gong et al. (2021)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729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337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306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86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307731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Bruggeman et al. (2018)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692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23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663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7731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Jamin et al. (2021)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469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34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427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307731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Loriot et al. (2025)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81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101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7731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Carter et al. (2023)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103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57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37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307731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Hirbo et al. (2015)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78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64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7731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Seager et al. (2024)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15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307731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Sasaroli et al. (2011)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13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13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7731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Garg et al. (2007)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FB32A0-BB63-4871-AC86-82561BF3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Union: 2,514 groups / 2,570 loci. 438 selected groups have an annotation; 110 do not.</a:t>
            </a:r>
          </a:p>
        </p:txBody>
      </p:sp>
    </p:spTree>
    <p:extLst>
      <p:ext uri="{BB962C8B-B14F-4D97-AF65-F5344CB8AC3E}">
        <p14:creationId xmlns:p14="http://schemas.microsoft.com/office/powerpoint/2010/main" val="16625099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CE335D-8A2A-4EA6-8AD9-18C19ECE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PUBLICATION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C2C4C0-E67A-4FD6-B38B-2610CC37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Broader published nominations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E2B6A0-443B-4237-BE94-46D5EFF26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28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1A5731-2730-483F-B79E-516E5FB38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F7549-3254-44C3-9248-9C01CADFAB1B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5429250"/>
                <a:gridCol w="2781300"/>
              </a:tblGrid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Paper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Published scope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Identity accounting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Sasaroli et al. (2011)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13 detailed tumor-vascular candidates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13 matched genes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Hirbo et al. (2015)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86 placenta-enriched genes, including 30 fast-evolving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82 matched, 4 unresolved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Compact source view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Bai, Boël and Bradley covered by larger sets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All memberships retained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Garg et al. (2007)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Still uniquely contributes SPAG9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Retained in main view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35F053-5EB5-499A-A888-0D3D92BA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Vascular and placental nominations retain their scope. Paper membership never bypasses the quantitative funnel.</a:t>
            </a:r>
          </a:p>
        </p:txBody>
      </p:sp>
    </p:spTree>
    <p:extLst>
      <p:ext uri="{BB962C8B-B14F-4D97-AF65-F5344CB8AC3E}">
        <p14:creationId xmlns:p14="http://schemas.microsoft.com/office/powerpoint/2010/main" val="11419018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0B3895-B822-403A-A55E-1D975BA09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HUMAN ANNOTATIONS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70BDA0-0CC8-40E0-9AB7-51E75FC9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Overlap between published lists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8C7488-BB00-45F0-BE69-BBDC0A37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28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D58837-B82A-43B7-9856-08105F98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2964BC-7DC2-4363-9662-528793B71C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4779769e2a461f"/>
          <a:stretch xmlns:a="http://schemas.openxmlformats.org/drawingml/2006/main"/>
        </p:blipFill>
        <p:spPr>
          <a:xfrm xmlns:a="http://schemas.openxmlformats.org/drawingml/2006/main">
            <a:off x="1333500" y="1447800"/>
            <a:ext cx="9525000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7587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BFCA95-4D83-47C2-BD52-D8BCBB7AE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POSITIVE EXPRESSION CONTEXTS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A7BC43-BCC7-48AC-A6AC-2A0CBB01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Reproductive and developmental association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C91497-797E-403D-84D1-C025F52A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28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A58503-C55D-464C-8258-504F1E6B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097512-82BA-4088-A950-980D3C490236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905500"/>
                <a:gridCol w="2533650"/>
                <a:gridCol w="2533650"/>
              </a:tblGrid>
              <a:tr h="6667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Qualifying route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Entrants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Final CTA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Reproductive only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759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298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Developmental only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11,717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172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Both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1,288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78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D27A80-5CD3-4F1B-AB6E-A0B8C497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Whole-reference RNA measurements create this set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5C81E2-2DBD-4335-917C-2F3AA02E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This is not a 12,000-gene literature list. Embryonic presence does not establish developmental restriction.</a:t>
            </a:r>
          </a:p>
        </p:txBody>
      </p:sp>
    </p:spTree>
    <p:extLst>
      <p:ext uri="{BB962C8B-B14F-4D97-AF65-F5344CB8AC3E}">
        <p14:creationId xmlns:p14="http://schemas.microsoft.com/office/powerpoint/2010/main" val="19066564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96F168-7F3B-43C4-B0C5-68384DD19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HUMAN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3991FC-2F70-49D7-9153-4A93976E2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Normal and cancer measurement sources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A549BF-FD70-4224-908D-4700F6BE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28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8F5844-19BB-4040-86B7-6B8199F5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A93AD1-BB9D-42E0-BBAA-D247462E14E7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5429250"/>
                <a:gridCol w="2590800"/>
              </a:tblGrid>
              <a:tr h="48220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Evidence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Source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Quantity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</a:tr>
              <a:tr h="48220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Normal / reproductive bulk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HPA consensus + HPA brain + direct GTEx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nTPM / TPM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220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Normal tissue cells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HPA clusters, at least 20 reads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nTPM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48220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Immune cells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HPA / Monaco / original DICE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Native nTPM / TPM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220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Adult cornea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Collin et al., GSE155683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CP10K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48220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Normal protein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HPA + curated external IHC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Staining / reagent confidence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220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Cancer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132 compatible OncoRef cohort views + HPA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TPM / protein-coding TPM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48220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Developmental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Tyser gastrulation + Petropoulos preimplantation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Stage / lineage mean TPM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7D97DF-EEFB-49E2-A7D6-9457A224B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DICE and corneal coverage are optional. Measured counterevidence still contributes.</a:t>
            </a:r>
          </a:p>
        </p:txBody>
      </p:sp>
    </p:spTree>
    <p:extLst>
      <p:ext uri="{BB962C8B-B14F-4D97-AF65-F5344CB8AC3E}">
        <p14:creationId xmlns:p14="http://schemas.microsoft.com/office/powerpoint/2010/main" val="7641253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4ECA50-4E5E-48D8-8544-B3253650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CURRENT POLICY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11B36C-654B-4377-8C2F-C14127737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RNA cutoffs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EA2716-89B2-464B-966E-DB68C410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28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94073E-17DB-41C2-8B18-6841D457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4F52DD-2AD5-491F-9803-6E1E15F9D39E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2333625"/>
                <a:gridCol w="1895475"/>
                <a:gridCol w="1895475"/>
                <a:gridCol w="1895475"/>
              </a:tblGrid>
              <a:tr h="678656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Ceiling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Missing / unusable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Approved −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Supported −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Enhanced −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Vital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16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Protected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16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64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Manageable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16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64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128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C253B2-A672-4EE5-A4F7-0D621458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One boundary: above-cutoff Vital / Protected is Unsafe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94EF96-D042-4616-8FCB-947B1073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Manageable excess blocks CTA. Bowel epithelium and identified fibroblasts use Manageable. Equality passes.</a:t>
            </a:r>
          </a:p>
        </p:txBody>
      </p:sp>
    </p:spTree>
    <p:extLst>
      <p:ext uri="{BB962C8B-B14F-4D97-AF65-F5344CB8AC3E}">
        <p14:creationId xmlns:p14="http://schemas.microsoft.com/office/powerpoint/2010/main" val="1909303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0C3CE4-47BD-4104-9AA4-8B657B95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CATEGORY DEFINITIONS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96515B-3240-4DC4-8B41-368769B6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Neither requires a measured expression profile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2ABA48-377F-40EC-841D-2B6BCE27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28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5DE191-FFEA-4E27-8206-FB7683F1F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48364E-81D3-4C91-9F9F-19E6C840792A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7115175"/>
                <a:gridCol w="1333500"/>
              </a:tblGrid>
              <a:tr h="952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Profile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Required evidence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Groups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Low expression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RNA below 2 across measured normal / reproductive / embryonic / tumor panels; no detected protein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Diffuse Manageable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association route; RNA ≥2 in at least two Manageable tissue concepts; no Vital / Protected exclusion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CC9077-D563-4F23-B87B-313AA3AD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Both require complete normal RNA coverage and resolved evidence. Other failures remain unassigned.</a:t>
            </a:r>
          </a:p>
        </p:txBody>
      </p:sp>
    </p:spTree>
    <p:extLst>
      <p:ext uri="{BB962C8B-B14F-4D97-AF65-F5344CB8AC3E}">
        <p14:creationId xmlns:p14="http://schemas.microsoft.com/office/powerpoint/2010/main" val="20158552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62A1DD-55DB-49A1-B281-345BE8AE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HUMAN FUNNEL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4F3E6B-0E98-4686-BFEF-6609DFCA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Every filtering layer can contribute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012CCC-0FB5-4230-8F4D-CD61F2C4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28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0EE5F2-6013-4214-93F1-BD95F4C0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87AECA55-180D-4EE0-A8DF-7308B55216A1}"/>
              </a:ext>
            </a:extLst>
          </p:cNvPr>
          <p:cNvGraphicFramePr/>
          <p:nvPr/>
        </p:nvGraphicFramePr>
        <p:xfrm>
          <a:off xmlns:a="http://schemas.openxmlformats.org/drawingml/2006/main" x="609600" y="1504950"/>
          <a:ext xmlns:a="http://schemas.openxmlformats.org/drawingml/2006/main" cx="1097280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f371f6981434981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EC1EA2-F027-4056-A9F7-FDA97415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Final: 548 CTA / 18,031 Unsafe / 20 Neither / 1,264 unassigned.</a:t>
            </a:r>
          </a:p>
        </p:txBody>
      </p:sp>
    </p:spTree>
    <p:extLst>
      <p:ext uri="{BB962C8B-B14F-4D97-AF65-F5344CB8AC3E}">
        <p14:creationId xmlns:p14="http://schemas.microsoft.com/office/powerpoint/2010/main" val="20887731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384625-B82B-4C4A-A537-C624E727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HUMAN FUNNEL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974D0D-B9C0-41E9-95F6-E0431180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Removals at each filter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BDBBD8-C3E4-41D3-BBE1-8C36DB7D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28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9033D1-DBE8-4586-AA09-E9835AA1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B3A673-678A-4C7B-ADF9-BBFDA3B0DB64}"/>
              </a:ext>
            </a:extLst>
          </p:cNvPr>
          <p:cNvGraphicFramePr/>
          <p:nvPr/>
        </p:nvGraphicFramePr>
        <p:xfrm>
          <a:off xmlns:a="http://schemas.openxmlformats.org/drawingml/2006/main" x="609600" y="150495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76875"/>
                <a:gridCol w="1809750"/>
                <a:gridCol w="1809750"/>
                <a:gridCol w="1876425"/>
              </a:tblGrid>
              <a:tr h="2730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Layer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First removals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Eligible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Unsafe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Association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6,099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13,764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Tumor sample ≥2 TPM/pTPM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13,754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HPA normal protein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9,838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3,916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10,094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Required RNA coverage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96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3,820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10,094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Normal bulk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3,054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766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17,500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HPA tissue clusters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185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581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17,914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HPA immune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572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17,944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Monaco immune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569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17,961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DICE immune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16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553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18,016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Adult cornea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550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18,028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Accepted normal-protein evidence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549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18,030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Clinical safety exclusion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548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18,031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External validated normal protein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548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18,031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Neither expression profiles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548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18,031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C3C8D4-16C6-46CA-9C98-18B7C3EC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Every group remains available to every later evidence layer.</a:t>
            </a:r>
          </a:p>
        </p:txBody>
      </p:sp>
    </p:spTree>
    <p:extLst>
      <p:ext uri="{BB962C8B-B14F-4D97-AF65-F5344CB8AC3E}">
        <p14:creationId xmlns:p14="http://schemas.microsoft.com/office/powerpoint/2010/main" val="4414477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2985ED-F545-40B8-95DA-3ADBAEB42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ANATOMY AND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7D537F-FB22-4D13-B7DF-CA4AE3A5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IHC matching to measured RNA compartments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96C4BE-93D4-4D4C-81FE-9A2A1AC4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28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719244-D59F-4769-8660-1283CFCF4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889316-0E88-426A-9257-4653941E29B8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76625"/>
                <a:gridCol w="7496175"/>
              </a:tblGrid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Context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Evidence and current ceiling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PRAME colon epithelial cells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20.3 nTPM / 96 reads; Enhanced-negative glandular IHC; Manageable 128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PRAME adrenal bulk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3.6 nTPM; incomplete compartment IHC coverage; Vital 4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CTAG2 bronchial basal cells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24.9 nTPM / 58 reads; Enhanced-negative respiratory IHC; Vital 32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Unrelated cells in the same tissue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negative-IHC credit without exact or declared compartment coverage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0E7E87-D89D-42EF-B838-0428BD13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PRAME and CTAG2 pass this policy. Parent-compartment sensitivity and PRAME’s Low adrenal protein remain explicit limitations.</a:t>
            </a:r>
          </a:p>
        </p:txBody>
      </p:sp>
    </p:spTree>
    <p:extLst>
      <p:ext uri="{BB962C8B-B14F-4D97-AF65-F5344CB8AC3E}">
        <p14:creationId xmlns:p14="http://schemas.microsoft.com/office/powerpoint/2010/main" val="111057236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72A5C1-7AC6-409B-8FE0-5384D193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EXPRESSION DISTRIBUTIONS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04B88F-46C7-4BDF-A432-E802CBF1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Selected CTA: reproductive versus embryonic RNA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5D4CD5-E809-4730-8E5F-1FD783F4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28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E28107-5DB8-490B-A7DD-29B12482D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B7189F-E030-4FE6-8F35-7E1E5475AA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bacc11c9404184"/>
          <a:stretch xmlns:a="http://schemas.openxmlformats.org/drawingml/2006/main"/>
        </p:blipFill>
        <p:spPr>
          <a:xfrm xmlns:a="http://schemas.openxmlformats.org/drawingml/2006/main">
            <a:off x="527538" y="1524000"/>
            <a:ext cx="11136923" cy="45243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EC4EC8-F5A3-4F95-A987-CE83DFFC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Gray: healthy measurement unavailable. The lower band has no embryonic-expression value.</a:t>
            </a:r>
          </a:p>
        </p:txBody>
      </p:sp>
    </p:spTree>
    <p:extLst>
      <p:ext uri="{BB962C8B-B14F-4D97-AF65-F5344CB8AC3E}">
        <p14:creationId xmlns:p14="http://schemas.microsoft.com/office/powerpoint/2010/main" val="99996563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1235CA-A25E-454A-BC3A-0FD9219E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EXPRESSION DISTRIBUTIONS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255D94-732D-44C9-A470-A24FA759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Selected CTA: healthy RNA in TPM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1F3668-351F-4562-94F0-9D4D0C70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28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D74BE0-2279-4020-893A-D74923D8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F75473-6FFD-4A7C-AEBA-5AB830C4F0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1d80f0f00f4ea7"/>
          <a:stretch xmlns:a="http://schemas.openxmlformats.org/drawingml/2006/main"/>
        </p:blipFill>
        <p:spPr>
          <a:xfrm xmlns:a="http://schemas.openxmlformats.org/drawingml/2006/main">
            <a:off x="527538" y="1524000"/>
            <a:ext cx="11136923" cy="45243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8FBE63-EADC-48D4-A9AB-6C06E25B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Gray: healthy measurement unavailable. The lower band has no embryonic-expression value.</a:t>
            </a:r>
          </a:p>
        </p:txBody>
      </p:sp>
    </p:spTree>
    <p:extLst>
      <p:ext uri="{BB962C8B-B14F-4D97-AF65-F5344CB8AC3E}">
        <p14:creationId xmlns:p14="http://schemas.microsoft.com/office/powerpoint/2010/main" val="10768537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3B2E12-B83B-49A8-946B-0F3CCE0FE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EXPRESSION DISTRIBUTIONS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03C4BE-D00C-4F1B-B53F-4E739920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Selected CTA: normal corneal RNA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4396E0-A6CF-4E61-B700-DD08AF8F0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28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14BE39-6095-4062-9731-9D316701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95FE1D-A146-4DF3-9C2D-7DE045185F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42d29d50654ed1"/>
          <a:stretch xmlns:a="http://schemas.openxmlformats.org/drawingml/2006/main"/>
        </p:blipFill>
        <p:spPr>
          <a:xfrm xmlns:a="http://schemas.openxmlformats.org/drawingml/2006/main">
            <a:off x="527538" y="1524000"/>
            <a:ext cx="11136923" cy="45243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0871F5-6CDE-43A7-84AE-E87335CF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Gray: healthy measurement unavailable. The lower band has no embryonic-expression value.</a:t>
            </a:r>
          </a:p>
        </p:txBody>
      </p:sp>
    </p:spTree>
    <p:extLst>
      <p:ext uri="{BB962C8B-B14F-4D97-AF65-F5344CB8AC3E}">
        <p14:creationId xmlns:p14="http://schemas.microsoft.com/office/powerpoint/2010/main" val="87554766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7BBA26-0117-40AF-9E6C-CB56489C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SELECTED CTA DETAIL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BB1F4F-9BBD-4072-A2F8-7CA9C6D4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High reproductive and embryonic RNA: labels 1 of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5D91D6-CF2D-4761-8424-6CCDA74B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28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4EF0A0-9A79-48B8-A550-48268B47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1BECA5-992B-4337-96FB-CC94A24EE5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7a1aae01484177"/>
          <a:stretch xmlns:a="http://schemas.openxmlformats.org/drawingml/2006/main"/>
        </p:blipFill>
        <p:spPr>
          <a:xfrm xmlns:a="http://schemas.openxmlformats.org/drawingml/2006/main">
            <a:off x="527538" y="1524000"/>
            <a:ext cx="11136923" cy="4524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11901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E02648-4CBB-472A-8C09-F3976FBE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SELECTED CTA DETAIL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258CB1-9C28-4956-AE9E-6FB20BBE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High reproductive and embryonic RNA: labels 2 of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34E9DB-C6F2-471E-B63C-46250052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28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DC652F-7D55-484D-A254-952B29D3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A4B8F6-9DE9-4D8C-92FC-B489035CE0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eb7bde706e489a"/>
          <a:stretch xmlns:a="http://schemas.openxmlformats.org/drawingml/2006/main"/>
        </p:blipFill>
        <p:spPr>
          <a:xfrm xmlns:a="http://schemas.openxmlformats.org/drawingml/2006/main">
            <a:off x="527538" y="1524000"/>
            <a:ext cx="11136923" cy="4524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69569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2362B7-74D7-4F2C-86D5-6DD8C6676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SELECTED CTA DETAIL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D62854-34F9-47C9-A978-F26BAD5E7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High reproductive and embryonic RNA: labels 3 of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4BC273-FB8D-4429-82A1-CF7C5C3C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28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2CC84A-56EE-4B35-9665-DBE3ED3E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74A6EA-837A-46D2-ACAF-7AA3DCE08E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1fb7d230cd469d"/>
          <a:stretch xmlns:a="http://schemas.openxmlformats.org/drawingml/2006/main"/>
        </p:blipFill>
        <p:spPr>
          <a:xfrm xmlns:a="http://schemas.openxmlformats.org/drawingml/2006/main">
            <a:off x="527538" y="1524000"/>
            <a:ext cx="11136923" cy="4524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3213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223A4C-FF66-4F62-B3C3-D8BF6E76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DEVELOPMENTAL COVERAGE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04E0F5-D234-471C-AD79-1A1F51E6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Complementary embryonic measurements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244DBE-B394-4917-941B-4E33FB85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28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470246-57A2-4EAF-ADA0-722F81DA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2E40A6-CC32-430F-A713-270EDE304CFB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4000500"/>
                <a:gridCol w="3543300"/>
              </a:tblGrid>
              <a:tr h="7620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Source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Measured cells / embryos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Developmental scope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Tyser et al. (2021)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1,195 cells / 1 embryo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Gastrulation, Carnegie stage 7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Petropoulos et al. (2016)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1,519 cells / 88 embryos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Preimplantation, days 3–7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Recovered coverage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683 of 1,006 earlier missing groups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Measured TPM, including familiar CTAs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2B9CD0-6926-4613-9F5A-40C028C3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PRAME, MAGE-A4, CTAG1A/B, XAGE1A/B and CT83 now have TPM rows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AB6C63-F121-4C35-866F-63311D02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Each source keeps its own stages. Neither atlas covers all fetal or pediatric development.</a:t>
            </a:r>
          </a:p>
        </p:txBody>
      </p:sp>
    </p:spTree>
    <p:extLst>
      <p:ext uri="{BB962C8B-B14F-4D97-AF65-F5344CB8AC3E}">
        <p14:creationId xmlns:p14="http://schemas.microsoft.com/office/powerpoint/2010/main" val="555677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148973-0BA2-4830-A86B-45312D41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CURRENT ASSIGNMENTS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640352-E73E-426A-94EB-47CDE9EA7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Widely studied antigens: reproductive RNA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1862F4-5D6F-4DDF-8B12-C57246C2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28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97D064-DD92-4479-A5FC-195475962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F1E5C8-E867-41D9-8B4D-5B9F0BFCAC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38eab6f3c64ae5"/>
          <a:stretch xmlns:a="http://schemas.openxmlformats.org/drawingml/2006/main"/>
        </p:blipFill>
        <p:spPr>
          <a:xfrm xmlns:a="http://schemas.openxmlformats.org/drawingml/2006/main">
            <a:off x="527538" y="1524000"/>
            <a:ext cx="11136923" cy="4524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43599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547D08-49EB-45FE-80CB-0009FE34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CURRENT ASSIGNMENTS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84D382-6AB1-4120-9655-82AA2291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Widely studied antigens: embryonic RNA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01CEBC-F42A-4E7D-BE52-7790B73F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28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550039-15CD-4B16-8C84-6B504424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B2FAC6-EA0F-4046-B197-B0F25F94A7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004afe4f1a452f"/>
          <a:stretch xmlns:a="http://schemas.openxmlformats.org/drawingml/2006/main"/>
        </p:blipFill>
        <p:spPr>
          <a:xfrm xmlns:a="http://schemas.openxmlformats.org/drawingml/2006/main">
            <a:off x="527538" y="1524000"/>
            <a:ext cx="11136923" cy="4524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8548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252CE6-2828-4BA7-ABE9-A7DCEAFC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READING THE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D8935D-391A-4030-B625-8D128A712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Assessment status is separate from category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526D59-8C19-4BBA-B67C-69A0BC33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28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702103-4CFF-49BC-AE84-B7CCC4A03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21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B9E199-1EE6-469E-BF1D-F4A0E4FA9D53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190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5924550"/>
                <a:gridCol w="1619250"/>
              </a:tblGrid>
              <a:tr h="6381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API status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Meaning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Human groups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screened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CTA, Unsafe or Neither assigned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18,599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incomplete_evidence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Unassigned with missing coverage or unresolved evidence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617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outside_category_definitions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Tracked coverage checks pass; no definition fits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647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unassessed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species-specific selection policy applied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77B62C-E951-4D4C-878A-E4664898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Neither requires a measured biological profile. Unassigned does not mean Unsafe or low expression.</a:t>
            </a:r>
          </a:p>
        </p:txBody>
      </p:sp>
    </p:spTree>
    <p:extLst>
      <p:ext uri="{BB962C8B-B14F-4D97-AF65-F5344CB8AC3E}">
        <p14:creationId xmlns:p14="http://schemas.microsoft.com/office/powerpoint/2010/main" val="56239902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565F8C-D692-4548-912E-28ADDC16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COVERAGE AUDIT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A436F7-6BA5-470A-9931-AD99F150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Which sources have incomplete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8F0695-A9FF-4551-A5E2-AB70512B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28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523583-E28B-469C-99EB-E80BD352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22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3FED14-0D0D-49DD-8493-1F0E7C6D05DA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239250"/>
                <a:gridCol w="1733550"/>
              </a:tblGrid>
              <a:tr h="37623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Source or unresolved evidence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Groups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</a:tr>
              <a:tr h="37623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HPA v23 consensus bulk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414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7623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Combined normal bulk: HPA consensus + HPA brain + direct GTEx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366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37623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HPA v23 tissue-cell clusters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335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7623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HPA v23 immune cells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304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37623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Monaco immune cells via HPA v23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304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7623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Combined Tyser + Petropoulos TPM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296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37623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tumor measurement: OncoRef + HPA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34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7623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Measured tumor, incomplete group profile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17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37623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HPA v23 Uncertain normal-tissue IHC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28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4A57EE-6928-4C0E-B0D2-3B2FF179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Overlapping gaps within 617 unassigned groups. DICE and corneal coverage are optional.</a:t>
            </a:r>
          </a:p>
        </p:txBody>
      </p:sp>
    </p:spTree>
    <p:extLst>
      <p:ext uri="{BB962C8B-B14F-4D97-AF65-F5344CB8AC3E}">
        <p14:creationId xmlns:p14="http://schemas.microsoft.com/office/powerpoint/2010/main" val="87325159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F6ACFE-F8F9-48A9-B1CA-E9510E6B3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SPECIES-SPECIFIC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A93C74-89C2-4F83-ADD7-531B54BF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Dog evidence and integration gaps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2D9F40-DA4F-447F-BC2D-DC185081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28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0A5DD5-ED42-4158-B3D7-4F2F88DB1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23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A06F91-3FD6-471D-89D4-A7E0FD954790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8210550"/>
              </a:tblGrid>
              <a:tr h="530679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Layer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Available evidence / remaining gap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Nominations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 + 10 − 1 shared = 14 native nominations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Identity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13 unique mappings; one ambiguous MAGE-family assay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Normal / developmental RNA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Bgee TPM and BarkBase TMM-CPM need reference reconciliation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Tumor RNA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GSE304066 count/FPKM and reference conflicts remain unresolved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Normal protein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Limited study IHC; Pfizer pooled iBAQ is not cell-resolved IHC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Selection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All 14 unassigned / unassessed; no canine quantitative policy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4BF999-1FE6-43EC-9888-E88E6588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Human thresholds, antibody grades and normal-tissue absence never transfer by orthology.</a:t>
            </a:r>
          </a:p>
        </p:txBody>
      </p:sp>
    </p:spTree>
    <p:extLst>
      <p:ext uri="{BB962C8B-B14F-4D97-AF65-F5344CB8AC3E}">
        <p14:creationId xmlns:p14="http://schemas.microsoft.com/office/powerpoint/2010/main" val="71751462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769C64-6FFE-465E-97FB-11C849E2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DEVELOPMENTAL NOMINATIONS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84082C-5798-4521-820C-E5395F95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Curated oncofetal sources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C45EA5-E787-48FE-A0C7-863906D43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28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E8EE4C-D658-4A13-BA8E-DC6E28F6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24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606218-3C53-40DE-85F7-93296DF6DDA9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7353300"/>
              </a:tblGrid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Source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Scope and integration status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Tyser + Petropoulos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Current gastrulation and preimplantation TPM sources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Shaw et al. (2024)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157 cancer-specific targets; six oncofetal annotations. Exon-specific scope retained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TRIM71 liver study (2024)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Liver oncofetal signature; requires identity and measurement ingestion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Cardoso-Moreira et al. (2019)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Developmental organ trajectories with child/adult comparisons; not integrated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0D4BC1-620C-4D3F-8D21-0EDCA453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Published nominations need independent normal/tumor filtering and postnatal coverage.</a:t>
            </a:r>
          </a:p>
        </p:txBody>
      </p:sp>
    </p:spTree>
    <p:extLst>
      <p:ext uri="{BB962C8B-B14F-4D97-AF65-F5344CB8AC3E}">
        <p14:creationId xmlns:p14="http://schemas.microsoft.com/office/powerpoint/2010/main" val="5166162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04C267-DF83-4FF9-9CB3-0F175C2E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C71833-3CA0-4A33-B0EE-7AEF7698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Common API with native evidence underneath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FA3C24-5C49-4AE1-847B-B5359679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28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ABAC99-25AC-4D44-B642-706EEDBA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A00A4D-F7FE-4C4E-A0FE-9E788786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results = cta_selection.results(species="human")</a:t>
            </a:r>
          </a:p>
          <a:p xmlns:a="http://schemas.openxmlformats.org/drawingml/2006/main">
            <a:pPr>
              <a:def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audit = cta_selection.audit(species="human")</a:t>
            </a:r>
          </a:p>
          <a:p xmlns:a="http://schemas.openxmlformats.org/drawingml/2006/main">
            <a:pPr>
              <a:def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audit.sources    audit.overlaps    audit.funnel</a:t>
            </a:r>
          </a:p>
          <a:p xmlns:a="http://schemas.openxmlformats.org/drawingml/2006/main">
            <a:pPr>
              <a:def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audit.explain("PRAME")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B20877-BDFC-4318-9E4E-01F653CC5CB5}"/>
              </a:ext>
            </a:extLst>
          </p:cNvPr>
          <p:cNvGraphicFramePr/>
          <p:nvPr/>
        </p:nvGraphicFramePr>
        <p:xfrm>
          <a:off xmlns:a="http://schemas.openxmlformats.org/drawingml/2006/main" x="609600" y="3810000"/>
          <a:ext xmlns:a="http://schemas.openxmlformats.org/drawingml/2006/main" cx="10972800" cy="1809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90875"/>
                <a:gridCol w="7781925"/>
              </a:tblGrid>
              <a:tr h="4524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Field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Meaning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category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CTA / Unsafe / Neither, or null when unassigned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assessment_status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Screened, incomplete evidence, outside definitions, or unassessed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gene_ids / gene_identities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All group members, stable IDs, history and curated synonyms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463E95-7CEF-4880-B499-D675DF73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Source-specific native units, tissue/cell context, confidence and coverage remain inspectable.</a:t>
            </a:r>
          </a:p>
        </p:txBody>
      </p:sp>
    </p:spTree>
    <p:extLst>
      <p:ext uri="{BB962C8B-B14F-4D97-AF65-F5344CB8AC3E}">
        <p14:creationId xmlns:p14="http://schemas.microsoft.com/office/powerpoint/2010/main" val="72175283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2F6E72-311C-4BC5-8B9E-5F3B75CF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DATA 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4C84AF-7844-4187-9FC5-C818E595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Every source resolves to a concrete version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34C1B5-38A2-4FF7-835D-53811A3D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28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FA1F48-2B71-4D34-82FB-C6155F4A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8D80C6-2BDC-45BE-B318-A5B8CA53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728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catalog.ensure("gtex_tissue_rna")               # v11</a:t>
            </a:r>
          </a:p>
          <a:p xmlns:a="http://schemas.openxmlformats.org/drawingml/2006/main">
            <a: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catalog.ensure("gtex_tissue_rna", version="v10")</a:t>
            </a:r>
          </a:p>
          <a:p xmlns:a="http://schemas.openxmlformats.org/drawingml/2006/main">
            <a: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catalog.provenance("gtex_tissue_rna", "v11")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86ECB5-AB4F-49D1-9034-992152BC9CF7}"/>
              </a:ext>
            </a:extLst>
          </p:cNvPr>
          <p:cNvGraphicFramePr/>
          <p:nvPr/>
        </p:nvGraphicFramePr>
        <p:xfrm>
          <a:off xmlns:a="http://schemas.openxmlformats.org/drawingml/2006/main" x="609600" y="3238500"/>
          <a:ext xmlns:a="http://schemas.openxmlformats.org/drawingml/2006/main" cx="10972800" cy="2238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8020050"/>
              </a:tblGrid>
              <a:tr h="4476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Shared choice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Source-specific meaning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Default / latest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Newest registered release; saved runs keep explicit pins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Concrete version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GTEx v11; HPA v25.1; a study snapshot or OncoRef build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Provenance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Version, content checksum, native unit, annotation and pipeline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Species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The same selector applies to native dog and mouse assets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1FC3B8-FA17-413A-8337-CF35DFD0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This analysis pins GTEx v11 and HPA v23 normal panels. A newer public default does not rewrite it.</a:t>
            </a:r>
          </a:p>
        </p:txBody>
      </p:sp>
    </p:spTree>
    <p:extLst>
      <p:ext uri="{BB962C8B-B14F-4D97-AF65-F5344CB8AC3E}">
        <p14:creationId xmlns:p14="http://schemas.microsoft.com/office/powerpoint/2010/main" val="13261073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2026-10-29T04:13:49.0780000Z</dcterms:created>
  <dcterms:modified xsi:type="dcterms:W3CDTF">2026-10-29T04:13:49.0790000Z</dcterms:modified>
</coreProperties>
</file>