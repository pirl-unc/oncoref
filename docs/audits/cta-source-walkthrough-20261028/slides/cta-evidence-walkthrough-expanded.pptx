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5e9b0eb00a40cf" /><Relationship Type="http://schemas.openxmlformats.org/officeDocument/2006/relationships/extended-properties" Target="/docProps/app.xml" Id="R513bb46f5ba54883" /><Relationship Type="http://schemas.openxmlformats.org/officeDocument/2006/relationships/officeDocument" Target="/ppt/presentation.xml" Id="R1d0ec9581d0248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473c4b1bd74b27"/>
  </p:sldMasterIdLst>
  <p:notesMasterIdLst>
    <p:notesMasterId xmlns:r="http://schemas.openxmlformats.org/officeDocument/2006/relationships" r:id="Rb2ec5469d9fa446c"/>
  </p:notesMasterIdLst>
  <p:sldIdLst>
    <p:sldId xmlns:r="http://schemas.openxmlformats.org/officeDocument/2006/relationships" id="256" r:id="Rabec717ea97243e5"/>
    <p:sldId xmlns:r="http://schemas.openxmlformats.org/officeDocument/2006/relationships" id="257" r:id="R082219745e004c73"/>
    <p:sldId xmlns:r="http://schemas.openxmlformats.org/officeDocument/2006/relationships" id="258" r:id="Rdff4d1386b564bf7"/>
    <p:sldId xmlns:r="http://schemas.openxmlformats.org/officeDocument/2006/relationships" id="259" r:id="Ra578d6a42d8d4181"/>
    <p:sldId xmlns:r="http://schemas.openxmlformats.org/officeDocument/2006/relationships" id="260" r:id="Rf850d08871bd4047"/>
    <p:sldId xmlns:r="http://schemas.openxmlformats.org/officeDocument/2006/relationships" id="261" r:id="R274764ea4c094073"/>
    <p:sldId xmlns:r="http://schemas.openxmlformats.org/officeDocument/2006/relationships" id="262" r:id="R470b80071bf449eb"/>
    <p:sldId xmlns:r="http://schemas.openxmlformats.org/officeDocument/2006/relationships" id="263" r:id="R49e78a83a98a40fc"/>
    <p:sldId xmlns:r="http://schemas.openxmlformats.org/officeDocument/2006/relationships" id="264" r:id="R488e5c77e33d4f91"/>
    <p:sldId xmlns:r="http://schemas.openxmlformats.org/officeDocument/2006/relationships" id="265" r:id="R97341441e2754c2e"/>
    <p:sldId xmlns:r="http://schemas.openxmlformats.org/officeDocument/2006/relationships" id="266" r:id="R2395ec0c466443ab"/>
    <p:sldId xmlns:r="http://schemas.openxmlformats.org/officeDocument/2006/relationships" id="267" r:id="R254f675291314c92"/>
    <p:sldId xmlns:r="http://schemas.openxmlformats.org/officeDocument/2006/relationships" id="268" r:id="R75b8dd11eda94b5a"/>
    <p:sldId xmlns:r="http://schemas.openxmlformats.org/officeDocument/2006/relationships" id="269" r:id="Rc6edd2a722e94f03"/>
    <p:sldId xmlns:r="http://schemas.openxmlformats.org/officeDocument/2006/relationships" id="270" r:id="Rba97818ac31a4b9b"/>
    <p:sldId xmlns:r="http://schemas.openxmlformats.org/officeDocument/2006/relationships" id="271" r:id="R1e017b4b2c534603"/>
    <p:sldId xmlns:r="http://schemas.openxmlformats.org/officeDocument/2006/relationships" id="272" r:id="Rb64a4b7c2a0d4393"/>
    <p:sldId xmlns:r="http://schemas.openxmlformats.org/officeDocument/2006/relationships" id="273" r:id="R32a3dc5573d14eb7"/>
    <p:sldId xmlns:r="http://schemas.openxmlformats.org/officeDocument/2006/relationships" id="274" r:id="Rdcb31b119d2e48da"/>
    <p:sldId xmlns:r="http://schemas.openxmlformats.org/officeDocument/2006/relationships" id="275" r:id="R0c281c6f0d20492a"/>
    <p:sldId xmlns:r="http://schemas.openxmlformats.org/officeDocument/2006/relationships" id="276" r:id="R5a48c153110940b3"/>
    <p:sldId xmlns:r="http://schemas.openxmlformats.org/officeDocument/2006/relationships" id="277" r:id="Ra2008e1fc9274fc1"/>
    <p:sldId xmlns:r="http://schemas.openxmlformats.org/officeDocument/2006/relationships" id="278" r:id="R3c936e7a0b604aae"/>
    <p:sldId xmlns:r="http://schemas.openxmlformats.org/officeDocument/2006/relationships" id="279" r:id="R6f2483c733ec4045"/>
    <p:sldId xmlns:r="http://schemas.openxmlformats.org/officeDocument/2006/relationships" id="280" r:id="Re59c608804864ccf"/>
    <p:sldId xmlns:r="http://schemas.openxmlformats.org/officeDocument/2006/relationships" id="281" r:id="R557c0394a4c043e6"/>
    <p:sldId xmlns:r="http://schemas.openxmlformats.org/officeDocument/2006/relationships" id="282" r:id="R0c34c4296a884658"/>
    <p:sldId xmlns:r="http://schemas.openxmlformats.org/officeDocument/2006/relationships" id="283" r:id="Rdef423c87ef6438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dcadb9d51a47bc" /><Relationship Type="http://schemas.openxmlformats.org/officeDocument/2006/relationships/slideMaster" Target="/ppt/slideMasters/slideMaster1.xml" Id="Rf6473c4b1bd74b27" /><Relationship Type="http://schemas.openxmlformats.org/officeDocument/2006/relationships/notesMaster" Target="/ppt/notesMasters/notesMaster1.xml" Id="Rb2ec5469d9fa446c" /><Relationship Type="http://schemas.openxmlformats.org/officeDocument/2006/relationships/presProps" Target="/ppt/presProps.xml" Id="R2857115a40f84ef3" /><Relationship Type="http://schemas.openxmlformats.org/officeDocument/2006/relationships/tableStyles" Target="/ppt/tableStyles.xml" Id="R5d3a083801854862" /><Relationship Type="http://schemas.openxmlformats.org/officeDocument/2006/relationships/slide" Target="/ppt/slides/slide1.xml" Id="Rabec717ea97243e5" /><Relationship Type="http://schemas.openxmlformats.org/officeDocument/2006/relationships/slide" Target="/ppt/slides/slide2.xml" Id="R082219745e004c73" /><Relationship Type="http://schemas.openxmlformats.org/officeDocument/2006/relationships/slide" Target="/ppt/slides/slide3.xml" Id="Rdff4d1386b564bf7" /><Relationship Type="http://schemas.openxmlformats.org/officeDocument/2006/relationships/slide" Target="/ppt/slides/slide4.xml" Id="Ra578d6a42d8d4181" /><Relationship Type="http://schemas.openxmlformats.org/officeDocument/2006/relationships/slide" Target="/ppt/slides/slide5.xml" Id="Rf850d08871bd4047" /><Relationship Type="http://schemas.openxmlformats.org/officeDocument/2006/relationships/slide" Target="/ppt/slides/slide6.xml" Id="R274764ea4c094073" /><Relationship Type="http://schemas.openxmlformats.org/officeDocument/2006/relationships/slide" Target="/ppt/slides/slide7.xml" Id="R470b80071bf449eb" /><Relationship Type="http://schemas.openxmlformats.org/officeDocument/2006/relationships/slide" Target="/ppt/slides/slide8.xml" Id="R49e78a83a98a40fc" /><Relationship Type="http://schemas.openxmlformats.org/officeDocument/2006/relationships/slide" Target="/ppt/slides/slide9.xml" Id="R488e5c77e33d4f91" /><Relationship Type="http://schemas.openxmlformats.org/officeDocument/2006/relationships/slide" Target="/ppt/slides/slide10.xml" Id="R97341441e2754c2e" /><Relationship Type="http://schemas.openxmlformats.org/officeDocument/2006/relationships/slide" Target="/ppt/slides/slide11.xml" Id="R2395ec0c466443ab" /><Relationship Type="http://schemas.openxmlformats.org/officeDocument/2006/relationships/slide" Target="/ppt/slides/slide12.xml" Id="R254f675291314c92" /><Relationship Type="http://schemas.openxmlformats.org/officeDocument/2006/relationships/slide" Target="/ppt/slides/slide13.xml" Id="R75b8dd11eda94b5a" /><Relationship Type="http://schemas.openxmlformats.org/officeDocument/2006/relationships/slide" Target="/ppt/slides/slide14.xml" Id="Rc6edd2a722e94f03" /><Relationship Type="http://schemas.openxmlformats.org/officeDocument/2006/relationships/slide" Target="/ppt/slides/slide15.xml" Id="Rba97818ac31a4b9b" /><Relationship Type="http://schemas.openxmlformats.org/officeDocument/2006/relationships/slide" Target="/ppt/slides/slide16.xml" Id="R1e017b4b2c534603" /><Relationship Type="http://schemas.openxmlformats.org/officeDocument/2006/relationships/slide" Target="/ppt/slides/slide17.xml" Id="Rb64a4b7c2a0d4393" /><Relationship Type="http://schemas.openxmlformats.org/officeDocument/2006/relationships/slide" Target="/ppt/slides/slide18.xml" Id="R32a3dc5573d14eb7" /><Relationship Type="http://schemas.openxmlformats.org/officeDocument/2006/relationships/slide" Target="/ppt/slides/slide19.xml" Id="Rdcb31b119d2e48da" /><Relationship Type="http://schemas.openxmlformats.org/officeDocument/2006/relationships/slide" Target="/ppt/slides/slide20.xml" Id="R0c281c6f0d20492a" /><Relationship Type="http://schemas.openxmlformats.org/officeDocument/2006/relationships/slide" Target="/ppt/slides/slide21.xml" Id="R5a48c153110940b3" /><Relationship Type="http://schemas.openxmlformats.org/officeDocument/2006/relationships/slide" Target="/ppt/slides/slide22.xml" Id="Ra2008e1fc9274fc1" /><Relationship Type="http://schemas.openxmlformats.org/officeDocument/2006/relationships/slide" Target="/ppt/slides/slide23.xml" Id="R3c936e7a0b604aae" /><Relationship Type="http://schemas.openxmlformats.org/officeDocument/2006/relationships/slide" Target="/ppt/slides/slide24.xml" Id="R6f2483c733ec4045" /><Relationship Type="http://schemas.openxmlformats.org/officeDocument/2006/relationships/slide" Target="/ppt/slides/slide25.xml" Id="Re59c608804864ccf" /><Relationship Type="http://schemas.openxmlformats.org/officeDocument/2006/relationships/slide" Target="/ppt/slides/slide26.xml" Id="R557c0394a4c043e6" /><Relationship Type="http://schemas.openxmlformats.org/officeDocument/2006/relationships/slide" Target="/ppt/slides/slide27.xml" Id="R0c34c4296a884658" /><Relationship Type="http://schemas.openxmlformats.org/officeDocument/2006/relationships/slide" Target="/ppt/slides/slide28.xml" Id="Rdef423c87ef643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10e421dd804d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43771c0b234ae1" /><Relationship Type="http://schemas.openxmlformats.org/officeDocument/2006/relationships/notesMaster" Target="/ppt/notesMasters/notesMaster1.xml" Id="R154f14eb212f4b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bf081df58446e6" /><Relationship Type="http://schemas.openxmlformats.org/officeDocument/2006/relationships/notesMaster" Target="/ppt/notesMasters/notesMaster1.xml" Id="R06c474e1fa9445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060fc390f44d6a" /><Relationship Type="http://schemas.openxmlformats.org/officeDocument/2006/relationships/notesMaster" Target="/ppt/notesMasters/notesMaster1.xml" Id="Raf642a91fd854f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e3713fda174a26" /><Relationship Type="http://schemas.openxmlformats.org/officeDocument/2006/relationships/notesMaster" Target="/ppt/notesMasters/notesMaster1.xml" Id="R1aa5d9abb7aa48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6005b72b2d4844" /><Relationship Type="http://schemas.openxmlformats.org/officeDocument/2006/relationships/notesMaster" Target="/ppt/notesMasters/notesMaster1.xml" Id="Rf5136cea15b649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b5fbc243324032" /><Relationship Type="http://schemas.openxmlformats.org/officeDocument/2006/relationships/notesMaster" Target="/ppt/notesMasters/notesMaster1.xml" Id="R6d8042b362d640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98be4e4dd247fa" /><Relationship Type="http://schemas.openxmlformats.org/officeDocument/2006/relationships/notesMaster" Target="/ppt/notesMasters/notesMaster1.xml" Id="Ra6e9f75e117b4b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51ad1765c84e79" /><Relationship Type="http://schemas.openxmlformats.org/officeDocument/2006/relationships/notesMaster" Target="/ppt/notesMasters/notesMaster1.xml" Id="R70e251ed822540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d3833d727c4c91" /><Relationship Type="http://schemas.openxmlformats.org/officeDocument/2006/relationships/notesMaster" Target="/ppt/notesMasters/notesMaster1.xml" Id="Rb6cbfab454e74ca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dddc2ca2d74e3f" /><Relationship Type="http://schemas.openxmlformats.org/officeDocument/2006/relationships/notesMaster" Target="/ppt/notesMasters/notesMaster1.xml" Id="R86bd4f9f879740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cf3de78aac44fa" /><Relationship Type="http://schemas.openxmlformats.org/officeDocument/2006/relationships/notesMaster" Target="/ppt/notesMasters/notesMaster1.xml" Id="R97b0feee341945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58e59f85e340fd" /><Relationship Type="http://schemas.openxmlformats.org/officeDocument/2006/relationships/notesMaster" Target="/ppt/notesMasters/notesMaster1.xml" Id="R7fedf2adb07241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77e018639ea4dce" /><Relationship Type="http://schemas.openxmlformats.org/officeDocument/2006/relationships/notesMaster" Target="/ppt/notesMasters/notesMaster1.xml" Id="Rce96ca4d25a849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f5d0db94904517" /><Relationship Type="http://schemas.openxmlformats.org/officeDocument/2006/relationships/notesMaster" Target="/ppt/notesMasters/notesMaster1.xml" Id="Re175796e53b74ff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e0622bca2274ada" /><Relationship Type="http://schemas.openxmlformats.org/officeDocument/2006/relationships/notesMaster" Target="/ppt/notesMasters/notesMaster1.xml" Id="R9918fa67b36f43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0ef6f25992241f1" /><Relationship Type="http://schemas.openxmlformats.org/officeDocument/2006/relationships/notesMaster" Target="/ppt/notesMasters/notesMaster1.xml" Id="Rd49cddbc8ec646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953e75532e4579" /><Relationship Type="http://schemas.openxmlformats.org/officeDocument/2006/relationships/notesMaster" Target="/ppt/notesMasters/notesMaster1.xml" Id="R84c6cb59ab664fd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8df9ccc032944f4" /><Relationship Type="http://schemas.openxmlformats.org/officeDocument/2006/relationships/notesMaster" Target="/ppt/notesMasters/notesMaster1.xml" Id="Rf5d7b7268e734cb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b74ad888c8342e3" /><Relationship Type="http://schemas.openxmlformats.org/officeDocument/2006/relationships/notesMaster" Target="/ppt/notesMasters/notesMaster1.xml" Id="R6a5c491c1d30474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6f13cb8cd234311" /><Relationship Type="http://schemas.openxmlformats.org/officeDocument/2006/relationships/notesMaster" Target="/ppt/notesMasters/notesMaster1.xml" Id="Rab9d8c8fc4ca410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678ea7979264417" /><Relationship Type="http://schemas.openxmlformats.org/officeDocument/2006/relationships/notesMaster" Target="/ppt/notesMasters/notesMaster1.xml" Id="Rabb6a9a8069f41b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8b069b0d099456f" /><Relationship Type="http://schemas.openxmlformats.org/officeDocument/2006/relationships/notesMaster" Target="/ppt/notesMasters/notesMaster1.xml" Id="R2b219e1fe4da459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a931b3ead4e48a1" /><Relationship Type="http://schemas.openxmlformats.org/officeDocument/2006/relationships/notesMaster" Target="/ppt/notesMasters/notesMaster1.xml" Id="R5203c00821a5483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aaa1e334ca04665" /><Relationship Type="http://schemas.openxmlformats.org/officeDocument/2006/relationships/notesMaster" Target="/ppt/notesMasters/notesMaster1.xml" Id="Rf735a9c5d6ca47e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7ffc614ee124e08" /><Relationship Type="http://schemas.openxmlformats.org/officeDocument/2006/relationships/notesMaster" Target="/ppt/notesMasters/notesMaster1.xml" Id="R3b74273a51014a0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a64de161012407a" /><Relationship Type="http://schemas.openxmlformats.org/officeDocument/2006/relationships/notesMaster" Target="/ppt/notesMasters/notesMaster1.xml" Id="R88a4457d59984a0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6636367ab034607" /><Relationship Type="http://schemas.openxmlformats.org/officeDocument/2006/relationships/notesMaster" Target="/ppt/notesMasters/notesMaster1.xml" Id="R7fc7c95c7eee4a4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6fb6b4ab28e4784" /><Relationship Type="http://schemas.openxmlformats.org/officeDocument/2006/relationships/notesMaster" Target="/ppt/notesMasters/notesMaster1.xml" Id="R4260275ee5474a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Human and dog CTA evidence</a:t>
            </a:r>
          </a:p>
          <a:p xmlns:a="http://schemas.openxmlformats.org/drawingml/2006/main">
            <a:r>
              <a:t>One RNA ceiling. Neither requires an affirmative expression profile. Unassigned is an assessment status, not a biological category.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Safety and CTA identity</a:t>
            </a:r>
          </a:p>
          <a:p xmlns:a="http://schemas.openxmlformats.org/drawingml/2006/main">
            <a:r>
              <a:t>CTA requires acceptable safety, cancer expression, adult restriction and reproductive/developmental association. Only safety evidence can establish Unsafe. Cancer expression requires one sample without a normal comparison. See docs/cta-evidence-axes.md.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Adult restriction and cancer presence</a:t>
            </a:r>
          </a:p>
          <a:p xmlns:a="http://schemas.openxmlformats.org/drawingml/2006/main">
            <a:r>
              <a:t>Restriction compares reproductive nTPM with supported adult nTPM or developmental TPM with supported adult TPM. Vital/Protected/Manageable form the adverse comparator. Reproductive/Disposable are excluded. CP10K stays in the separate safety screen. Nominal cross-assay comparisons are not calibrated fold changes.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candidate lists</a:t>
            </a:r>
          </a:p>
          <a:p xmlns:a="http://schemas.openxmlformats.org/drawingml/2006/main">
            <a:r>
              <a:t>da Silva et al. (2017): https://doi.org/10.18632/oncotarget.21715</a:t>
            </a:r>
          </a:p>
          <a:p xmlns:a="http://schemas.openxmlformats.org/drawingml/2006/main">
            <a:r>
              <a:t>Wang et al. (2016): https://doi.org/10.1038/ncomms10499</a:t>
            </a:r>
          </a:p>
          <a:p xmlns:a="http://schemas.openxmlformats.org/drawingml/2006/main">
            <a:r>
              <a:t>Chang et al. (2019): https://doi.org/10.1002/cam4.2223</a:t>
            </a:r>
          </a:p>
          <a:p xmlns:a="http://schemas.openxmlformats.org/drawingml/2006/main">
            <a:r>
              <a:t>Gong et al. (2021): https://doi.org/10.1038/s41467-021-22695-y</a:t>
            </a:r>
          </a:p>
          <a:p xmlns:a="http://schemas.openxmlformats.org/drawingml/2006/main">
            <a:r>
              <a:t>Bruggeman et al. (2018): https://doi.org/10.1038/s41388-018-0357-2</a:t>
            </a:r>
          </a:p>
          <a:p xmlns:a="http://schemas.openxmlformats.org/drawingml/2006/main">
            <a:r>
              <a:t>Jamin et al. (2021): https://doi.org/10.1002/1878-0261.12900</a:t>
            </a:r>
          </a:p>
          <a:p xmlns:a="http://schemas.openxmlformats.org/drawingml/2006/main">
            <a:r>
              <a:t>Loriot et al. (2025): https://doi.org/10.1371/journal.pgen.1011734</a:t>
            </a:r>
          </a:p>
          <a:p xmlns:a="http://schemas.openxmlformats.org/drawingml/2006/main">
            <a:r>
              <a:t>Carter et al. (2023): https://doi.org/10.1136/jitc-2023-007935</a:t>
            </a:r>
          </a:p>
          <a:p xmlns:a="http://schemas.openxmlformats.org/drawingml/2006/main">
            <a:r>
              <a:t>Hirbo et al. (2015): https://doi.org/10.1371/journal.pone.0144155</a:t>
            </a:r>
          </a:p>
          <a:p xmlns:a="http://schemas.openxmlformats.org/drawingml/2006/main">
            <a:r>
              <a:t>Seager et al. (2024): https://doi.org/10.1186/s12967-024-04918-0</a:t>
            </a:r>
          </a:p>
          <a:p xmlns:a="http://schemas.openxmlformats.org/drawingml/2006/main">
            <a:r>
              <a:t>Sasaroli et al. (2011): https://doi.org/10.4161/cbt.12.3.16260</a:t>
            </a:r>
          </a:p>
          <a:p xmlns:a="http://schemas.openxmlformats.org/drawingml/2006/main">
            <a:r>
              <a:t>Garg et al. (2007): https://doi.org/10.1158/1078-0432.CCR-06-2340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Broader published nominations</a:t>
            </a:r>
          </a:p>
          <a:p xmlns:a="http://schemas.openxmlformats.org/drawingml/2006/main">
            <a:r>
              <a:t>Sasaroli et al. (2011) https://doi.org/10.4161/cbt.12.3.16260 . Hirbo et al. (2015) https://doi.org/10.1371/journal.pone.0144155 . Exact extracted rows and matching receipts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between published lists</a:t>
            </a:r>
          </a:p>
          <a:p xmlns:a="http://schemas.openxmlformats.org/drawingml/2006/main">
            <a:r>
              <a:t>Tables and author-recognized prior antigens within the same paper are unioned. Evidence roles, source IDs and pairwise counts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and developmental association</a:t>
            </a:r>
          </a:p>
          <a:p xmlns:a="http://schemas.openxmlformats.org/drawingml/2006/main">
            <a:r>
              <a:t>Tyser et al. (2021): https://doi.org/10.1038/s41586-021-04158-y . HPA v23 https://v23.proteinatlas.org/about/download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and cancer measurement sources</a:t>
            </a:r>
          </a:p>
          <a:p xmlns:a="http://schemas.openxmlformats.org/drawingml/2006/main">
            <a:r>
              <a:t>HPA https://v23.proteinatlas.org/about/download ; DICE https://dice-database.org/ ; cornea https://www.ncbi.nlm.nih.gov/geo/query/acc.cgi?acc=GSE155683 ; Tyser https://doi.org/10.1038/s41586-021-04158-y . Full URLs and sample lineage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RNA cutoffs</a:t>
            </a:r>
          </a:p>
          <a:p xmlns:a="http://schemas.openxmlformats.org/drawingml/2006/main">
            <a:r>
              <a:t>The same nominal values apply across native TPM/nTPM assays. CP10K uses nominal /100, not a TPM conversion. Values are screening-policy choices, not measured toxicity limits.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Neither requires a measured expression profile</a:t>
            </a:r>
          </a:p>
          <a:p xmlns:a="http://schemas.openxmlformats.org/drawingml/2006/main">
            <a:r>
              <a:t>Low means below the common 2-unit expression floor in every measured source, with required normal panels and tumor/developmental measurements. Missing optional DICE/cornea is disclosed. No detected protein is not proof of absence in every unmeasured tissue.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filtering layer can contribute</a:t>
            </a:r>
          </a:p>
          <a:p xmlns:a="http://schemas.openxmlformats.org/drawingml/2006/main">
            <a:r>
              <a:t>The gray segment is held/unassigned evidence, not Neither. The final profile check assigns Neither. All layers evaluate every group; final categories are independent of display order.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Removals at each filter</a:t>
            </a:r>
          </a:p>
          <a:p xmlns:a="http://schemas.openxmlformats.org/drawingml/2006/main">
            <a:r>
              <a:t>Sequential first removals depend on the displayed order; the independent-layer table reports overlaps.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IHC matching to measured RNA compartments</a:t>
            </a:r>
          </a:p>
          <a:p xmlns:a="http://schemas.openxmlformats.org/drawingml/2006/main">
            <a:r>
              <a:t>HPA colon https://www.proteinatlas.org/learn/dictionary/normal/colon ; bronchus https://www.proteinatlas.org/learn/dictionary/normal/bronchus . Parent-compartment credit is a declared anatomical interpretation, not proof that all rare cells were sampled.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reproductive versus embryonic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groups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healthy RNA in TPM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groups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corneal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groups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reproductive and embryonic RNA: labels 1 of 3</a:t>
            </a:r>
          </a:p>
          <a:p xmlns:a="http://schemas.openxmlformats.org/drawingml/2006/main">
            <a:r>
              <a:t>The three panels use identical axes and together label all selected groups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reproductive and embryonic RNA: labels 2 of 3</a:t>
            </a:r>
          </a:p>
          <a:p xmlns:a="http://schemas.openxmlformats.org/drawingml/2006/main">
            <a:r>
              <a:t>The three panels use identical axes and together label all selected groups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reproductive and embryonic RNA: labels 3 of 3</a:t>
            </a:r>
          </a:p>
          <a:p xmlns:a="http://schemas.openxmlformats.org/drawingml/2006/main">
            <a:r>
              <a:t>The three panels use identical axes and together label all selected groups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Complementary embryonic measurements</a:t>
            </a:r>
          </a:p>
          <a:p xmlns:a="http://schemas.openxmlformats.org/drawingml/2006/main">
            <a:r>
              <a:t>Tyser E-MTAB-9388 https://doi.org/10.1038/s41586-021-04158-y . Petropoulos E-MTAB-3929 https://www.ebi.ac.uk/gxa/sc/experiments/E-MTAB-3929/Results . Sources retain their own stage, cell support and donor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reproductive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embryonic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status is separate from category</a:t>
            </a:r>
          </a:p>
          <a:p xmlns:a="http://schemas.openxmlformats.org/drawingml/2006/main">
            <a:r>
              <a:t>A category can be assigned despite gaps in optional or irrelevant sources. Screened does not mean clinically safe or fully measured. MAGE-A3 has measured colon counterevidence. An independent developmental measurement cannot erase it.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Which sources have incomplete evidence</a:t>
            </a:r>
          </a:p>
          <a:p xmlns:a="http://schemas.openxmlformats.org/drawingml/2006/main">
            <a:r>
              <a:t>Source versions, complete missing tissue/cell contexts, member ENSG IDs, historical IDs, synonyms and tumor cohort coverage: https://pirl-unc.github.io/oncoref/audits/cta-source-walkthrough-20261028/coverage/ . Counts overlap and do not sum to a total.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Dog evidence and integration gaps</a:t>
            </a:r>
          </a:p>
          <a:p xmlns:a="http://schemas.openxmlformats.org/drawingml/2006/main">
            <a:r>
              <a:t>Nemec et al. (2019) https://doi.org/10.1111/vco.12475 ; Hindriks et al. (2025) https://doi.org/10.1016/j.vetimm.2025.110946 . Issues https://github.com/pirl-unc/oncoref/issues/574 and https://github.com/pirl-unc/oncoref/issues/585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Curated oncofetal sources</a:t>
            </a:r>
          </a:p>
          <a:p xmlns:a="http://schemas.openxmlformats.org/drawingml/2006/main">
            <a:r>
              <a:t>Shaw et al. (2024) https://doi.org/10.1038/s41467-024-47649-y ; TRIM71 liver study https://pmc.ncbi.nlm.nih.gov/articles/PMC11388079/ ; Cardoso-Moreira et al. (2019) https://pmc.ncbi.nlm.nih.gov/articles/PMC6658352/ . Newly identified sources are not in current selection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API with native evidence underneath</a:t>
            </a:r>
          </a:p>
          <a:p xmlns:a="http://schemas.openxmlformats.org/drawingml/2006/main">
            <a:r>
              <a:t>Human, dog and mouse share schema and explicit unavailable states. Data are offline and checksum-verified. Frozen release reports remain unchanged.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source resolves to a concrete version</a:t>
            </a:r>
          </a:p>
          <a:p xmlns:a="http://schemas.openxmlformats.org/drawingml/2006/main">
            <a:r>
              <a:t>Data version API: https://pirl-unc.github.io/oncoref/data-versions/ . GTEx versions and pipelines: https://github.com/broadinstitute/gtex-pipeline/blob/master/rnaseq/README.md . HPA current RNA snapshot: https://github.com/pirl-unc/oncoref/releases/tag/reference-hpa-v25.1-20261028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9bb5ddcfac42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350a3d7c1c4a9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c3375fa0284fe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eb76a2eee5438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bc81958be04c6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39c74de81f44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3675BA-ED3F-41E6-9ADF-4734686B60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53DD48-5F89-46A2-9D62-575CC051D4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A93C000-0475-4EFF-B332-C1215C6B9D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776D0D-C8DB-481D-8BD5-82FDDDFF18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16647EC-CFE0-4613-898C-1C431CDF82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5B462FB-8F1C-43A2-9B55-D0382E64A0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7E2960-887F-4FCE-87DE-37B7251E6B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EE1BFA-68DF-4A82-A375-404B71ADB88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B7651C-CA3F-4FC2-AE7C-36FC410CC5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D0E24A2-6DF9-4B2B-BAF9-50A7D9E923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0e4df8a62442b0" /><Relationship Type="http://schemas.openxmlformats.org/officeDocument/2006/relationships/slideLayout" Target="/ppt/slideLayouts/slideLayout1.xml" Id="R7f5c18e54be94e46" /><Relationship Type="http://schemas.openxmlformats.org/officeDocument/2006/relationships/slideLayout" Target="/ppt/slideLayouts/slideLayout2.xml" Id="R432195baa9204e8f" /><Relationship Type="http://schemas.openxmlformats.org/officeDocument/2006/relationships/slideLayout" Target="/ppt/slideLayouts/slideLayout3.xml" Id="R16db7098f5464ed8" /><Relationship Type="http://schemas.openxmlformats.org/officeDocument/2006/relationships/slideLayout" Target="/ppt/slideLayouts/slideLayout4.xml" Id="Rd0a71d3c46724d31" /><Relationship Type="http://schemas.openxmlformats.org/officeDocument/2006/relationships/slideLayout" Target="/ppt/slideLayouts/slideLayout5.xml" Id="R3c1fe6c615a74b76" /><Relationship Type="http://schemas.openxmlformats.org/officeDocument/2006/relationships/slideLayout" Target="/ppt/slideLayouts/slideLayout6.xml" Id="R7871c7afdbc04c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5c18e54be94e46"/>
    <p:sldLayoutId xmlns:r="http://schemas.openxmlformats.org/officeDocument/2006/relationships" id="2147483650" r:id="R432195baa9204e8f"/>
    <p:sldLayoutId xmlns:r="http://schemas.openxmlformats.org/officeDocument/2006/relationships" id="2147483651" r:id="R16db7098f5464ed8"/>
    <p:sldLayoutId xmlns:r="http://schemas.openxmlformats.org/officeDocument/2006/relationships" id="2147483652" r:id="Rd0a71d3c46724d31"/>
    <p:sldLayoutId xmlns:r="http://schemas.openxmlformats.org/officeDocument/2006/relationships" id="2147483653" r:id="R3c1fe6c615a74b76"/>
    <p:sldLayoutId xmlns:r="http://schemas.openxmlformats.org/officeDocument/2006/relationships" id="2147483654" r:id="R7871c7afdbc04c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50e35ccccb4f4e" /><Relationship Type="http://schemas.openxmlformats.org/officeDocument/2006/relationships/notesSlide" Target="/ppt/notesSlides/notesSlide1.xml" Id="R63ba10ff947c4d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2450346ed34a43" /><Relationship Type="http://schemas.openxmlformats.org/officeDocument/2006/relationships/notesSlide" Target="/ppt/notesSlides/notesSlide2.xml" Id="Rb13c73063ee945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f3c8683bfc4c12" /><Relationship Type="http://schemas.openxmlformats.org/officeDocument/2006/relationships/notesSlide" Target="/ppt/notesSlides/notesSlide3.xml" Id="R9755c05dce014b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c36d32aa3c45c2" /><Relationship Type="http://schemas.openxmlformats.org/officeDocument/2006/relationships/notesSlide" Target="/ppt/notesSlides/notesSlide4.xml" Id="Re6347246d94b42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33f2268f88435f" /><Relationship Type="http://schemas.openxmlformats.org/officeDocument/2006/relationships/notesSlide" Target="/ppt/notesSlides/notesSlide5.xml" Id="R54fd4686a7184a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2d4d9a28dc4e6c" /><Relationship Type="http://schemas.openxmlformats.org/officeDocument/2006/relationships/image" Target="/ppt/media/image.png" Id="R08392467eaf14c93" /><Relationship Type="http://schemas.openxmlformats.org/officeDocument/2006/relationships/notesSlide" Target="/ppt/notesSlides/notesSlide6.xml" Id="R628b70902fb049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87fa39d0d446dc" /><Relationship Type="http://schemas.openxmlformats.org/officeDocument/2006/relationships/notesSlide" Target="/ppt/notesSlides/notesSlide7.xml" Id="R07b9315a1abb4f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d89afdad4a4480" /><Relationship Type="http://schemas.openxmlformats.org/officeDocument/2006/relationships/notesSlide" Target="/ppt/notesSlides/notesSlide8.xml" Id="R5a0f8c137adf47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d4bbf318d24fdf" /><Relationship Type="http://schemas.openxmlformats.org/officeDocument/2006/relationships/notesSlide" Target="/ppt/notesSlides/notesSlide9.xml" Id="R9fd253d933754d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947403f5fe4024" /><Relationship Type="http://schemas.openxmlformats.org/officeDocument/2006/relationships/notesSlide" Target="/ppt/notesSlides/notesSlide10.xml" Id="R88357f8b12244a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98caa9561342a5" /><Relationship Type="http://schemas.openxmlformats.org/officeDocument/2006/relationships/chart" Target="/ppt/slides/charts/chart1.xml" Id="R694a56f02236485b" /><Relationship Type="http://schemas.openxmlformats.org/officeDocument/2006/relationships/notesSlide" Target="/ppt/notesSlides/notesSlide11.xml" Id="Rb093d57bcd2a43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9efbb9d8f2402e" /><Relationship Type="http://schemas.openxmlformats.org/officeDocument/2006/relationships/notesSlide" Target="/ppt/notesSlides/notesSlide12.xml" Id="R46dad82b9a4a4c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4de058399f464e" /><Relationship Type="http://schemas.openxmlformats.org/officeDocument/2006/relationships/notesSlide" Target="/ppt/notesSlides/notesSlide13.xml" Id="R15c9c24cc73e410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0ca084e0224ac8" /><Relationship Type="http://schemas.openxmlformats.org/officeDocument/2006/relationships/image" Target="/ppt/media/image2.png" Id="R1332f1eb607e4dfd" /><Relationship Type="http://schemas.openxmlformats.org/officeDocument/2006/relationships/notesSlide" Target="/ppt/notesSlides/notesSlide14.xml" Id="R58cf152c7c8645f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4cbfae0814407a" /><Relationship Type="http://schemas.openxmlformats.org/officeDocument/2006/relationships/image" Target="/ppt/media/image3.png" Id="R5634ba21e5b046c0" /><Relationship Type="http://schemas.openxmlformats.org/officeDocument/2006/relationships/notesSlide" Target="/ppt/notesSlides/notesSlide15.xml" Id="Rcd73c37d92be43f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99fc57d87b44f5" /><Relationship Type="http://schemas.openxmlformats.org/officeDocument/2006/relationships/image" Target="/ppt/media/image4.png" Id="R89be4d8881e24320" /><Relationship Type="http://schemas.openxmlformats.org/officeDocument/2006/relationships/notesSlide" Target="/ppt/notesSlides/notesSlide16.xml" Id="Re6da6576f1214fb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cf062654a544e7" /><Relationship Type="http://schemas.openxmlformats.org/officeDocument/2006/relationships/image" Target="/ppt/media/image5.png" Id="R044c2298100b47a1" /><Relationship Type="http://schemas.openxmlformats.org/officeDocument/2006/relationships/notesSlide" Target="/ppt/notesSlides/notesSlide17.xml" Id="R60690c6921b54d8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fd8fc147ab4042" /><Relationship Type="http://schemas.openxmlformats.org/officeDocument/2006/relationships/image" Target="/ppt/media/image6.png" Id="Ra05287565a2c42ed" /><Relationship Type="http://schemas.openxmlformats.org/officeDocument/2006/relationships/notesSlide" Target="/ppt/notesSlides/notesSlide18.xml" Id="R7b138a16a6264c6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151a06bb93463d" /><Relationship Type="http://schemas.openxmlformats.org/officeDocument/2006/relationships/image" Target="/ppt/media/image7.png" Id="R41565deddf424e9f" /><Relationship Type="http://schemas.openxmlformats.org/officeDocument/2006/relationships/notesSlide" Target="/ppt/notesSlides/notesSlide19.xml" Id="R60912ea6e9f444b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5ad17b200e43ea" /><Relationship Type="http://schemas.openxmlformats.org/officeDocument/2006/relationships/notesSlide" Target="/ppt/notesSlides/notesSlide20.xml" Id="R5903c0f31e9c45a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689d96b89a4c5c" /><Relationship Type="http://schemas.openxmlformats.org/officeDocument/2006/relationships/image" Target="/ppt/media/image8.png" Id="Ra5c03b45982b4878" /><Relationship Type="http://schemas.openxmlformats.org/officeDocument/2006/relationships/notesSlide" Target="/ppt/notesSlides/notesSlide21.xml" Id="R21faa9a120dd46c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846a8973e04b33" /><Relationship Type="http://schemas.openxmlformats.org/officeDocument/2006/relationships/image" Target="/ppt/media/image9.png" Id="Rf658285d467c4e50" /><Relationship Type="http://schemas.openxmlformats.org/officeDocument/2006/relationships/notesSlide" Target="/ppt/notesSlides/notesSlide22.xml" Id="R9bd27c194d90463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b8f9dbe04a4886" /><Relationship Type="http://schemas.openxmlformats.org/officeDocument/2006/relationships/notesSlide" Target="/ppt/notesSlides/notesSlide23.xml" Id="R35440660daba45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e5e2bd4f9e4df7" /><Relationship Type="http://schemas.openxmlformats.org/officeDocument/2006/relationships/notesSlide" Target="/ppt/notesSlides/notesSlide24.xml" Id="Rca549e326d3147e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859a8a24f74d94" /><Relationship Type="http://schemas.openxmlformats.org/officeDocument/2006/relationships/notesSlide" Target="/ppt/notesSlides/notesSlide25.xml" Id="Rafc6cc787f1b4a2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93ab7096794e61" /><Relationship Type="http://schemas.openxmlformats.org/officeDocument/2006/relationships/notesSlide" Target="/ppt/notesSlides/notesSlide26.xml" Id="R6a8905a4c29546a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18667e05034397" /><Relationship Type="http://schemas.openxmlformats.org/officeDocument/2006/relationships/notesSlide" Target="/ppt/notesSlides/notesSlide27.xml" Id="R840d1893016c449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34fc04b86f4f2a" /><Relationship Type="http://schemas.openxmlformats.org/officeDocument/2006/relationships/notesSlide" Target="/ppt/notesSlides/notesSlide28.xml" Id="Rb28e5374ed73497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Eligible so far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Data'!$B$2:$B$16</c:f>
              <c:numCache>
                <c:formatCode>General</c:formatCode>
                <c:ptCount val="15"/>
                <c:pt idx="0">
                  <c:v>546</c:v>
                </c:pt>
                <c:pt idx="1">
                  <c:v>546</c:v>
                </c:pt>
                <c:pt idx="2">
                  <c:v>546</c:v>
                </c:pt>
                <c:pt idx="3">
                  <c:v>547</c:v>
                </c:pt>
                <c:pt idx="4">
                  <c:v>548</c:v>
                </c:pt>
                <c:pt idx="5">
                  <c:v>551</c:v>
                </c:pt>
                <c:pt idx="6">
                  <c:v>566</c:v>
                </c:pt>
                <c:pt idx="7">
                  <c:v>569</c:v>
                </c:pt>
                <c:pt idx="8">
                  <c:v>576</c:v>
                </c:pt>
                <c:pt idx="9">
                  <c:v>706</c:v>
                </c:pt>
                <c:pt idx="10">
                  <c:v>1990</c:v>
                </c:pt>
                <c:pt idx="11">
                  <c:v>2061</c:v>
                </c:pt>
                <c:pt idx="12">
                  <c:v>5102</c:v>
                </c:pt>
                <c:pt idx="13">
                  <c:v>15314</c:v>
                </c:pt>
                <c:pt idx="14">
                  <c:v>15327</c:v>
                </c:pt>
              </c:numCache>
            </c:numRef>
          </c:val>
        </c:ser>
        <c:ser>
          <c:idx val="1"/>
          <c:order val="1"/>
          <c:tx>
            <c:v>Unsafe</c:v>
          </c:tx>
          <c:spPr>
            <a:solidFill xmlns:a="http://schemas.openxmlformats.org/drawingml/2006/main">
              <a:srgbClr val="AC493B"/>
            </a:solidFill>
          </c:spPr>
          <c:invertIfNegative val="0"/>
          <c:cat>
            <c:strRef>
              <c:f>'Chart Data'!$C$2:$C$16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Data'!$D$2:$D$16</c:f>
              <c:numCache>
                <c:formatCode>General</c:formatCode>
                <c:ptCount val="15"/>
                <c:pt idx="0">
                  <c:v>18031</c:v>
                </c:pt>
                <c:pt idx="1">
                  <c:v>18031</c:v>
                </c:pt>
                <c:pt idx="2">
                  <c:v>18031</c:v>
                </c:pt>
                <c:pt idx="3">
                  <c:v>18030</c:v>
                </c:pt>
                <c:pt idx="4">
                  <c:v>18028</c:v>
                </c:pt>
                <c:pt idx="5">
                  <c:v>18016</c:v>
                </c:pt>
                <c:pt idx="6">
                  <c:v>17961</c:v>
                </c:pt>
                <c:pt idx="7">
                  <c:v>17944</c:v>
                </c:pt>
                <c:pt idx="8">
                  <c:v>17914</c:v>
                </c:pt>
                <c:pt idx="9">
                  <c:v>17500</c:v>
                </c:pt>
                <c:pt idx="10">
                  <c:v>10094</c:v>
                </c:pt>
                <c:pt idx="11">
                  <c:v>10094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2"/>
          <c:order val="2"/>
          <c:tx>
            <c:v>Neither</c:v>
          </c:tx>
          <c:spPr>
            <a:solidFill xmlns:a="http://schemas.openxmlformats.org/drawingml/2006/main">
              <a:srgbClr val="A28C68"/>
            </a:solidFill>
          </c:spPr>
          <c:invertIfNegative val="0"/>
          <c:cat>
            <c:strRef>
              <c:f>'Chart Data'!$E$2:$E$16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Data'!$F$2:$F$16</c:f>
              <c:numCache>
                <c:formatCode>General</c:formatCode>
                <c:ptCount val="15"/>
                <c:pt idx="0">
                  <c:v>20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3"/>
          <c:order val="3"/>
          <c:tx>
            <c:v>Unassigned</c:v>
          </c:tx>
          <c:spPr>
            <a:solidFill xmlns:a="http://schemas.openxmlformats.org/drawingml/2006/main">
              <a:srgbClr val="B9C3CD"/>
            </a:solidFill>
          </c:spPr>
          <c:invertIfNegative val="0"/>
          <c:cat>
            <c:strRef>
              <c:f>'Chart Data'!$G$2:$G$16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Data'!$H$2:$H$16</c:f>
              <c:numCache>
                <c:formatCode>General</c:formatCode>
                <c:ptCount val="15"/>
                <c:pt idx="0">
                  <c:v>1266</c:v>
                </c:pt>
                <c:pt idx="1">
                  <c:v>1286</c:v>
                </c:pt>
                <c:pt idx="2">
                  <c:v>1286</c:v>
                </c:pt>
                <c:pt idx="3">
                  <c:v>1286</c:v>
                </c:pt>
                <c:pt idx="4">
                  <c:v>1287</c:v>
                </c:pt>
                <c:pt idx="5">
                  <c:v>1296</c:v>
                </c:pt>
                <c:pt idx="6">
                  <c:v>1336</c:v>
                </c:pt>
                <c:pt idx="7">
                  <c:v>1350</c:v>
                </c:pt>
                <c:pt idx="8">
                  <c:v>1373</c:v>
                </c:pt>
                <c:pt idx="9">
                  <c:v>1657</c:v>
                </c:pt>
                <c:pt idx="10">
                  <c:v>7779</c:v>
                </c:pt>
                <c:pt idx="11">
                  <c:v>7708</c:v>
                </c:pt>
                <c:pt idx="12">
                  <c:v>14761</c:v>
                </c:pt>
                <c:pt idx="13">
                  <c:v>4549</c:v>
                </c:pt>
                <c:pt idx="14">
                  <c:v>4536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B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3B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F76CD7-E8B6-48BA-A4E7-5B930818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9D672-BE90-46F9-81AF-D5CE4F42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Human and dog CTA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FEE41-EC3C-4DA2-BA6D-0363C7E8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F3F03-5F1D-4387-849F-A069659A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5B0DF-672C-4CF7-834C-906553D4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546 human CTA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D4F0A7-76ED-4CAB-8AA5-49576728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582 loci   /   18,031 Unsafe   /   20 Neither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ED8A4C-B430-45DA-9AE0-9DD3979E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1,266 unassigned; dog selection remains unassessed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57E8C-3A02-49DC-BB33-D18B5D38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Sources, expression profiles, single-cutoff filtering and measured tissue evidence.</a:t>
            </a:r>
          </a:p>
        </p:txBody>
      </p:sp>
    </p:spTree>
    <p:extLst>
      <p:ext uri="{BB962C8B-B14F-4D97-AF65-F5344CB8AC3E}">
        <p14:creationId xmlns:p14="http://schemas.microsoft.com/office/powerpoint/2010/main" val="2385478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8DB067-30F2-4877-B578-ECE50A00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FOUR SEPARATE REQUIREMENTS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06AFAA-8A8B-43D8-8758-1B985558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Safety and CTA identity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A3E27B-39D4-4CF4-B9E3-757671EC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0606A-5D63-4490-A5BB-D94C64EA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6220A-6D4C-4D68-89C4-3A734AD84658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81550"/>
                <a:gridCol w="3333750"/>
              </a:tblGrid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rule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Safety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Concerning healthy-tissue protein production?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Absolute RNA / IHC and clinical rules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Expressed in a measured cancer?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sample ≥2 TPM or pTPM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Preferential to relevant adult normal expression?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association signal &gt; supported same-unit adult normal RNA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/ 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Affirmative expression in a qualifying context?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≥5 nTPM or supported developmental ≥5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322852-1739-4E7F-BACB-2D6935E8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Only safety can establish Unsafe. Other failed requirements block CTA. Missing evidence remains unknown.</a:t>
            </a:r>
          </a:p>
        </p:txBody>
      </p:sp>
    </p:spTree>
    <p:extLst>
      <p:ext uri="{BB962C8B-B14F-4D97-AF65-F5344CB8AC3E}">
        <p14:creationId xmlns:p14="http://schemas.microsoft.com/office/powerpoint/2010/main" val="15643185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4763D-F4CB-4B5D-A51F-C11FD5EF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INDEPENDENT ASSESSMENTS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65878-BA99-4692-90BD-53F1CE2C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Adult restriction and cancer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A8A7D4-4A5E-4B2F-80B1-38C34B3A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6673E-03DA-4502-9E74-33566891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27FF0-23BC-455A-947A-E79B727728D8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Comparator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qualifying sample. No normal ratio.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reproductive nTPM &gt; supported adult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developmental TPM &gt; supported adult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6735D-4AD0-4B07-AD74-50B00F88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Safety is absolute. Adult restriction is relative.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2DE2F-F14A-4680-BD81-76E499C8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Compare supported Vital / Protected / Manageable expression. Exclude Reproductive / Disposable. Keep native units separate.</a:t>
            </a:r>
          </a:p>
        </p:txBody>
      </p:sp>
    </p:spTree>
    <p:extLst>
      <p:ext uri="{BB962C8B-B14F-4D97-AF65-F5344CB8AC3E}">
        <p14:creationId xmlns:p14="http://schemas.microsoft.com/office/powerpoint/2010/main" val="20611431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BFA29-A115-4021-B103-745DA45B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C0FAF-BB0D-43C9-B7B7-5E8CFFB2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Published candidate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D6A60-9791-44BC-8921-FC1A0354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36A81-7662-4E04-9322-5323EACA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0F19D-8C69-4FD8-89FF-5ED8B0848A35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428750"/>
                <a:gridCol w="1333500"/>
                <a:gridCol w="1524000"/>
                <a:gridCol w="1428750"/>
                <a:gridCol w="1543050"/>
              </a:tblGrid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 Silva et al. (2017)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1,017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Wang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Chang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Gong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Bruggeman et al. (2018)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Jamin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Loriot et al. (2025)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Carter et al. (2023)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Seager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BBF88-F5B2-4CBA-BAD1-ECF218DA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Union: 2,514 groups / 2,570 loci. 438 selected groups have an annotation; 108 do not.</a:t>
            </a:r>
          </a:p>
        </p:txBody>
      </p:sp>
    </p:spTree>
    <p:extLst>
      <p:ext uri="{BB962C8B-B14F-4D97-AF65-F5344CB8AC3E}">
        <p14:creationId xmlns:p14="http://schemas.microsoft.com/office/powerpoint/2010/main" val="4619664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1A1FAF-B9BA-4C05-BD08-A6802E20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PUBLICATION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4582F-77E6-4382-A052-7662BB27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Broader published nominations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83EB86-AB96-406D-96C8-40E05085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025BD-AC38-4ECF-B63A-DF68B588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90141-870D-4954-BC40-845E14E62D20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5429250"/>
                <a:gridCol w="2781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Published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 accounting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detailed tumor-vascular candidates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matched genes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 placenta-enriched genes, including 30 fast-evolving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82 matched, 4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Compact source view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Bai, Boël and Bradley covered by larger 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memberships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Still uniquely contributes SPAG9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Retained in main view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8F0F2-4FDE-4079-AC32-7008BDA3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Vascular and placental nominations retain their scope. Paper membership never bypasses the quantitative funnel.</a:t>
            </a:r>
          </a:p>
        </p:txBody>
      </p:sp>
    </p:spTree>
    <p:extLst>
      <p:ext uri="{BB962C8B-B14F-4D97-AF65-F5344CB8AC3E}">
        <p14:creationId xmlns:p14="http://schemas.microsoft.com/office/powerpoint/2010/main" val="13541103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02827-CCCF-4227-A866-31713960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31CE2-A000-4A43-A443-4CED99BE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Overlap between published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F8244-EF02-4520-9A10-DD113EA5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F6071-9BD2-40B1-8C94-B84165E8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A3A067-ECBE-4BA2-85E4-1129FCFDFD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92467eaf14c93"/>
          <a:stretch xmlns:a="http://schemas.openxmlformats.org/drawingml/2006/main"/>
        </p:blipFill>
        <p:spPr>
          <a:xfrm xmlns:a="http://schemas.openxmlformats.org/drawingml/2006/main">
            <a:off x="1333500" y="1447800"/>
            <a:ext cx="952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097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4B53B-5AF4-4D10-9B1F-5DBCC7A1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EXPRESSION CONTEXTS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8D072-38E7-4DCC-8613-35C498F3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and developmental association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F2F0B-57A5-462A-A7B5-C5A27EC1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08EA11-64D6-4EDF-9CB4-45C8720D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92028-2FB6-4DD3-B06B-8D69E9B220D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533650"/>
                <a:gridCol w="25336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Entrants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Final 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2,322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2,095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Both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10,910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FCDAA-AE42-4C8B-82B7-A0CB07DA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Whole-reference RNA measurements create this 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0312F-7084-4858-81DD-3BBA3A4D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The table counts association before adult restriction. Presence in a reproductive or developmental context does not establish restriction.</a:t>
            </a:r>
          </a:p>
        </p:txBody>
      </p:sp>
    </p:spTree>
    <p:extLst>
      <p:ext uri="{BB962C8B-B14F-4D97-AF65-F5344CB8AC3E}">
        <p14:creationId xmlns:p14="http://schemas.microsoft.com/office/powerpoint/2010/main" val="9007946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1F5021-1C4C-4253-9582-DE2FF719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93792-CE52-4C4F-B615-5CCBEA44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Normal and cancer measurement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F65D3-D52E-433A-A98A-BB6FB526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C2623-5B3F-4A47-A976-D224398F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EE1C9-5AC0-497D-BE76-AAA30C6254E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429250"/>
                <a:gridCol w="2590800"/>
              </a:tblGrid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Quantity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reproductive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consensus + HPA brain + direct GTEx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tissue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clusters, at least 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/ Monaco / original DICE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Native 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Collin et al., GSE155683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CP10K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+ curated external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Staining / reagent confidence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132 compatible OncoRef cohort views + HPA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TPM / protein-coding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gastrulation + Petropoulos preimplantation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 / lineage mean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5B6C34-8009-46CC-AC4F-C2290FA5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DICE and corneal coverage are optional. Measured counterevidence still contributes.</a:t>
            </a:r>
          </a:p>
        </p:txBody>
      </p:sp>
    </p:spTree>
    <p:extLst>
      <p:ext uri="{BB962C8B-B14F-4D97-AF65-F5344CB8AC3E}">
        <p14:creationId xmlns:p14="http://schemas.microsoft.com/office/powerpoint/2010/main" val="15783058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81938-2E1B-4108-A540-8BFDFE2A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902BDD-E072-47F1-9107-62A71EAB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RNA cutoffs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B5727-78C5-4DA2-A4EA-E52268EE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5EBD4-4183-4FD3-8E9D-9DD81C54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4322F-AD44-458E-A04F-7126CA1AF13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Ceiling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B08F1-5951-4A5E-996D-3C373ADE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One boundary: above-cutoff Vital / Protected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079D57-15F6-406D-915F-5A43C23D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Manageable excess blocks CTA. Bowel epithelium and identified fibroblasts use Manageable. Equality passes.</a:t>
            </a:r>
          </a:p>
        </p:txBody>
      </p:sp>
    </p:spTree>
    <p:extLst>
      <p:ext uri="{BB962C8B-B14F-4D97-AF65-F5344CB8AC3E}">
        <p14:creationId xmlns:p14="http://schemas.microsoft.com/office/powerpoint/2010/main" val="4652515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53A7B6-23AC-4304-A115-2BE82FBA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CATEGORY DEFINITIONS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F7862-D7E2-4FB7-8250-3B474CD1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Neither requires a measured expression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9C155-2F3C-4E4E-B884-ABFDC18F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C738B-7138-4E11-8A95-D9ED9A54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05367-A217-4441-8998-2EF76A756D6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7115175"/>
                <a:gridCol w="1333500"/>
              </a:tblGrid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RNA below 2 across measured normal / reproductive / embryonic / tumor panels; no detected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association route; RNA ≥2 in at least two Manageable tissue concepts; no Vital / Protected exclusion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703A8C-C73A-432E-8FFD-D4A4E9A9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Both require complete normal RNA coverage and resolved evidence. Other failures remain unassigned.</a:t>
            </a:r>
          </a:p>
        </p:txBody>
      </p:sp>
    </p:spTree>
    <p:extLst>
      <p:ext uri="{BB962C8B-B14F-4D97-AF65-F5344CB8AC3E}">
        <p14:creationId xmlns:p14="http://schemas.microsoft.com/office/powerpoint/2010/main" val="20231248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22C5BC-2B72-428C-A95F-A5C972EB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05A82-AA9A-41AE-BE3F-EC093A5D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filtering layer can contribute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FA07D-0931-4ED6-9FAF-8AC92BA8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E481E-78D6-41A2-A50E-A042DCF2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DAF11A04-0959-4751-89C2-0C6C55266F34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4a56f02236485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09F2DC-511E-48D7-9E9F-356D691A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Final: 546 CTA / 18,031 Unsafe / 20 Neither / 1,266 unassigned.</a:t>
            </a:r>
          </a:p>
        </p:txBody>
      </p:sp>
    </p:spTree>
    <p:extLst>
      <p:ext uri="{BB962C8B-B14F-4D97-AF65-F5344CB8AC3E}">
        <p14:creationId xmlns:p14="http://schemas.microsoft.com/office/powerpoint/2010/main" val="19229844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5B131-657F-4B91-82C9-45C8E033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117F7-5323-43C3-B5FC-491A22EE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Removals at each 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AB481-3A1A-4248-AAA4-7C079F02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EA491-1EEB-41EE-A64B-EA0316F1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DDD7C-84EE-40D3-8280-20C31737A05D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1809750"/>
                <a:gridCol w="1809750"/>
                <a:gridCol w="1876425"/>
              </a:tblGrid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removals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Eligible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Association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4,536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sample ≥2 TPM/pTPM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10,212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5,102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3,041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2,061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RNA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1,990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1,284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17,500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tissue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17,944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DICE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551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normal-protein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safety exclusion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validated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 expression profiles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E3995-071A-48BC-BD3F-EF1F37A2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Every group remains available to every later evidence layer.</a:t>
            </a:r>
          </a:p>
        </p:txBody>
      </p:sp>
    </p:spTree>
    <p:extLst>
      <p:ext uri="{BB962C8B-B14F-4D97-AF65-F5344CB8AC3E}">
        <p14:creationId xmlns:p14="http://schemas.microsoft.com/office/powerpoint/2010/main" val="2569945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E24CA-9B9E-4639-97AB-013C2402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ANATOMY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9FB50-68A0-4322-95AB-61B5A99A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IHC matching to measured RNA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EF850-D901-4698-BE79-EC24E68B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A9D6D-91E2-417A-A266-72E920B8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FA22A0-652E-4F90-93A0-2472D4F8BBF7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and current ceiling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colon epithelial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20.3 nTPM / 96 reads; Enhanced-negative glandular IHC; Manageable 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adrenal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3.6 nTPM; incomplete compartment IHC coverage; Vital 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CTAG2 bronchial basal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24.9 nTPM / 58 reads; Enhanced-negative respiratory IHC; Vital 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Unrelated cells in the same tissue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negative-IHC credit without exact or declared compartment coverage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97643-D0D1-4B97-9039-ADDFC5BE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PRAME and CTAG2 pass this policy. Parent-compartment sensitivity and PRAME’s Low adrenal protein remain explicit limitations.</a:t>
            </a:r>
          </a:p>
        </p:txBody>
      </p:sp>
    </p:spTree>
    <p:extLst>
      <p:ext uri="{BB962C8B-B14F-4D97-AF65-F5344CB8AC3E}">
        <p14:creationId xmlns:p14="http://schemas.microsoft.com/office/powerpoint/2010/main" val="11658328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DC7E5-6586-443B-8201-3151A62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673B2-AF5B-4FEF-A1AA-A1CF09D8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reproductive versus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7502E-8159-403C-A0DE-6068C82C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4C318-20AC-443B-AF32-5E99AAD7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41009-4620-4AE9-8CFA-1AE02C586F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2f1eb607e4dfd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EEFC1-1EC2-40A4-95AC-A2047B11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0409999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82ADE-85A4-443A-A24D-BB739412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65D80-7AA2-46D9-AE60-03BB3AF2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healthy RNA in TPM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7C56D-09A1-43FB-B320-04737F3D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59978-FB8F-453A-9DE0-FE597B8A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A0E46-AE73-4AD4-A2FA-C8B50F411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4ba21e5b046c0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0425D9-A0CB-4EFB-8614-4F808007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6902290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97855-4640-4996-B02A-03F96151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BAD29-5DC8-40C5-8AFC-B0C7D6F0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corneal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19A22-FCB7-43F9-AC73-3F650BAA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9CF2E5-B483-47A0-BD39-A4C07438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832E8-A10F-40CF-8E02-3389A23301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e4d8881e24320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48E8A-298F-4F21-9637-CEDD8652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9258280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4E8EFD-84CE-4C81-9FFD-98D7C4C9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C2470-1A7B-415B-9B68-BA782625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reproductive and embryonic RNA: labels 1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A734A-6573-4D90-B339-3FDEE6A6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E1C14-785F-48D9-9B28-B8C1FE93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194AF-127E-405C-B752-55383E454D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c2298100b47a1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4543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73756-81B7-418B-90A2-4798EE66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3ABCE-8225-40E7-8E68-1E52FB9F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reproductive and embryonic RNA: labels 2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14B977-91D2-4DD4-870D-39835FD1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AB150-9284-4702-8970-3FEFCDF8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35598-36A5-443F-9FAC-16A948492C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287565a2c42ed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51090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5E232-3BD5-4CC5-A742-B52E3A49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82E72F-A5BA-4974-B35A-A1FAFC72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reproductive and embryonic RNA: labels 3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BB3A4A-2E9A-40D9-B427-1497C607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6490B-9B8C-4325-80E0-C962A358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75169-7315-488F-B03A-D092EC5868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65deddf424e9f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36038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724CF-4419-4747-99E8-DB2412E3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1EF73-E9BA-4784-A1F0-E17E457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Complementary embryonic measurements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37A66-3EEF-46E2-ACC8-9350B75E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38F15-AF60-4AA5-8B15-46254207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15E03-09AC-469E-82E3-EDB7A7DB581D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000500"/>
                <a:gridCol w="35433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cells /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1,195 cells / 1 embryo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Gastrulation, Carnegie stage 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Petropoulos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1,519 cells / 88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Preimplantation, days 3–7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Recovered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683 of 1,006 earlier missing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TPM, including familiar CTAs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B1A859-5506-4BC7-947A-7515394C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PRAME, MAGE-A4, CTAG1A/B, XAGE1A/B and CT83 now have TPM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0701C-1495-4987-8F91-56A7A00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Each source keeps its own stages. Neither atlas covers all fetal or pediatric development.</a:t>
            </a:r>
          </a:p>
        </p:txBody>
      </p:sp>
    </p:spTree>
    <p:extLst>
      <p:ext uri="{BB962C8B-B14F-4D97-AF65-F5344CB8AC3E}">
        <p14:creationId xmlns:p14="http://schemas.microsoft.com/office/powerpoint/2010/main" val="109051712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33C0F7-9C90-4735-9E93-67B45DEC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96CA2-EBE4-4D61-B5EF-357D58C9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reproductive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01B30-FFAF-4870-B6EB-B33EAC17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0A0DB-394E-4BD3-9710-63F63EF1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BEC73-B9FC-485D-97C2-74609DBCB9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03b45982b4878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01699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07CBC-18D6-49B1-8C70-1D0D2185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038C98-90F0-4D17-A443-055633F2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EBE42-567C-4341-B314-31D0A066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C683B-F790-4F87-8B4F-0A214006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AA9EF-9B4F-4714-BD76-CCB8C79EA6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58285d467c4e50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3073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33A9DC-94E7-4432-B2DD-FD52F946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READING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EE66A-5058-4E4B-B0A1-D6D9FCB8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Assessment status is separate from 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72673-18CD-4837-B17A-119CBAC8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7B8D1-1AB0-4942-BC7E-A7FB8F8C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BCFCF-330D-4C4B-BFE5-1320163CEDD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924550"/>
                <a:gridCol w="161925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API 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Human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CTA, Unsafe or Neither 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18,597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incomplete_evidence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 with missing coverage or unresolved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outside_category_definitions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Tracked coverage checks pass; no definition fits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unassessed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species-specific selection policy applied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11B9B-232C-44AF-B6AB-BF0A0A39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Neither requires a measured biological profile. Unassigned does not mean Unsafe or low expression.</a:t>
            </a:r>
          </a:p>
        </p:txBody>
      </p:sp>
    </p:spTree>
    <p:extLst>
      <p:ext uri="{BB962C8B-B14F-4D97-AF65-F5344CB8AC3E}">
        <p14:creationId xmlns:p14="http://schemas.microsoft.com/office/powerpoint/2010/main" val="90191226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BBEEA-4542-4068-B0D8-7CBBF140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42401-2A0C-4A88-AE16-41C4ADFD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Which sources have incomplete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464DE-299C-457F-AC7A-84B233A8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8CD50-153B-45F7-8127-9A608545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24E25-84AA-49F8-807D-CE5225DA77F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733550"/>
              </a:tblGrid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 or unresolved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consensus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normal bulk: HPA consensus + HPA brain + direct GTEx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tissue-cell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 cells via HPA v23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Tyser + Petropoulos 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tumor measurement: OncoRef + HPA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tumor, incomplete group 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Uncertain normal-tissue IHC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AB855-5250-4E3F-8976-748C28C2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Overlapping gaps within 617 unassigned groups. DICE and corneal coverage are optional.</a:t>
            </a:r>
          </a:p>
        </p:txBody>
      </p:sp>
    </p:spTree>
    <p:extLst>
      <p:ext uri="{BB962C8B-B14F-4D97-AF65-F5344CB8AC3E}">
        <p14:creationId xmlns:p14="http://schemas.microsoft.com/office/powerpoint/2010/main" val="32699701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62BDE-4EC8-4839-86FF-F341484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SPECIES-SPECIFIC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058BF-96E4-4820-91B1-A04E91D2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Dog evidence and integration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86158-363A-4FE2-84FA-A8C5BFF7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FC197-3B41-47B2-A2EE-850DC478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FBC45-D624-44A8-A7EF-558B8C11ACB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evidence / remaining gap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Nominations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+ 10 − 1 shared = 14 native nominations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unique mappings; one ambiguous MAGE-family assay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developmental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Bgee TPM and BarkBase TMM-CPM need reference reconciliation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GSE304066 count/FPKM and reference conflicts remain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study IHC; Pfizer pooled iBAQ is not cell-resolved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Selection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14 unassigned / unassessed; no canine quantitative policy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0F3C66-7F26-4BE6-B2FB-2C80A7AE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Human thresholds, antibody grades and normal-tissue absence never transfer by orthology.</a:t>
            </a:r>
          </a:p>
        </p:txBody>
      </p:sp>
    </p:spTree>
    <p:extLst>
      <p:ext uri="{BB962C8B-B14F-4D97-AF65-F5344CB8AC3E}">
        <p14:creationId xmlns:p14="http://schemas.microsoft.com/office/powerpoint/2010/main" val="36989142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716D8-B786-4908-A41B-69FB59FC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NOMINATIONS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5E20E-A63E-406F-B0BA-831121C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Curated oncofetal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3538A-FB02-4BA9-A6EE-BC0C10E1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E1C32-3AC1-4C09-9317-7C10FEA6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16DFC-6BD0-4389-85F7-DE010F5E6C1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Scope and integration status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+ Petropoulos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gastrulation and preimplantation TPM sources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Shaw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157 cancer-specific targets; six oncofetal annotations. Exon-specific scope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TRIM71 liver study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Liver oncofetal signature; requires identity and measurement ingestion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Cardoso-Moreira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organ trajectories with child/adult comparisons; not integrated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21BCB-E146-41A8-8317-40062613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Published nominations need independent normal/tumor filtering and postnatal coverage.</a:t>
            </a:r>
          </a:p>
        </p:txBody>
      </p:sp>
    </p:spTree>
    <p:extLst>
      <p:ext uri="{BB962C8B-B14F-4D97-AF65-F5344CB8AC3E}">
        <p14:creationId xmlns:p14="http://schemas.microsoft.com/office/powerpoint/2010/main" val="81538826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BE534-5CAF-440D-B142-71FA123E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FE0FE-0BCF-454E-A08A-C31EBAC3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Common API with native evidence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653CCB-EE4B-41DC-8908-E57BA80A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F7810-AF37-487D-9681-6AE1659C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C8398-BC01-45AD-AD97-632F6A6E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results = cta_selection.results(species="human")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 = cta_selection.audit(species="human")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audit.sources    audit.overlaps    audit.funnel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audit.explain("PRAME")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75726F-5BF9-4009-8202-7D15F2159D14}"/>
              </a:ext>
            </a:extLst>
          </p:cNvPr>
          <p:cNvGraphicFramePr/>
          <p:nvPr/>
        </p:nvGraphicFramePr>
        <p:xfrm>
          <a:off xmlns:a="http://schemas.openxmlformats.org/drawingml/2006/main" x="609600" y="381000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/ Unsafe / Neither, or null when 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assessment_status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Screened, incomplete evidence, outside definitions, or unassessed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gene_ids / gene_identities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group members, stable IDs, history and curated synonyms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C82F1-4FFA-4D80-9805-BF312049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Source-specific native units, tissue/cell context, confidence and coverage remain inspectable.</a:t>
            </a:r>
          </a:p>
        </p:txBody>
      </p:sp>
    </p:spTree>
    <p:extLst>
      <p:ext uri="{BB962C8B-B14F-4D97-AF65-F5344CB8AC3E}">
        <p14:creationId xmlns:p14="http://schemas.microsoft.com/office/powerpoint/2010/main" val="12754057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0C594-44E1-4D61-A3AA-2463856E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DATA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3F8196-B8E2-4A36-A1C6-248FE488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source resolves to a concrete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BF4C4-B3D2-4D3B-84E1-7659269E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369704-BF3A-47E3-A303-DD445CF9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EEEAF-15C1-42B2-AB65-C3E92318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catalog.ensure("gtex_tissue_rna")               # v11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catalog.ensure("gtex_tissue_rna", version="v10")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catalog.provenance("gtex_tissue_rna", "v11")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1F74C-4421-4B0F-AB5C-29CA7EB2738C}"/>
              </a:ext>
            </a:extLst>
          </p:cNvPr>
          <p:cNvGraphicFramePr/>
          <p:nvPr/>
        </p:nvGraphicFramePr>
        <p:xfrm>
          <a:off xmlns:a="http://schemas.openxmlformats.org/drawingml/2006/main" x="609600" y="3238500"/>
          <a:ext xmlns:a="http://schemas.openxmlformats.org/drawingml/2006/main" cx="109728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20050"/>
              </a:tblGrid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Shared choice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Source-specific 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Default / latest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Newest registered release; saved runs keep explicit pins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Concrete version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GTEx v11; HPA v25.1; a study snapshot or OncoRef build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Provenance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Version, content checksum, native unit, annotation and pipeline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same selector applies to native dog and mouse assets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01D3C-3B04-4FF4-B22E-9200E5F9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analysis pins GTEx v11 and HPA v23 normal panels. A newer public default does not rewrite it.</a:t>
            </a:r>
          </a:p>
        </p:txBody>
      </p:sp>
    </p:spTree>
    <p:extLst>
      <p:ext uri="{BB962C8B-B14F-4D97-AF65-F5344CB8AC3E}">
        <p14:creationId xmlns:p14="http://schemas.microsoft.com/office/powerpoint/2010/main" val="10554289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2026-10-29T14:39:31.2600000Z</dcterms:created>
  <dcterms:modified xsi:type="dcterms:W3CDTF">2026-10-29T14:39:31.2600000Z</dcterms:modified>
</coreProperties>
</file>