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9c94226a6154e98" /><Relationship Type="http://schemas.openxmlformats.org/officeDocument/2006/relationships/extended-properties" Target="/docProps/app.xml" Id="R24a5eef658e64fa1" /><Relationship Type="http://schemas.openxmlformats.org/officeDocument/2006/relationships/officeDocument" Target="/ppt/presentation.xml" Id="Reb7013639d1f425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bd183c4b2324d1a"/>
  </p:sldMasterIdLst>
  <p:notesMasterIdLst>
    <p:notesMasterId xmlns:r="http://schemas.openxmlformats.org/officeDocument/2006/relationships" r:id="R5290ece7fbcd4dae"/>
  </p:notesMasterIdLst>
  <p:sldIdLst>
    <p:sldId xmlns:r="http://schemas.openxmlformats.org/officeDocument/2006/relationships" id="256" r:id="Ra955781db2f34ad9"/>
    <p:sldId xmlns:r="http://schemas.openxmlformats.org/officeDocument/2006/relationships" id="257" r:id="R7ef7d854c6c4456f"/>
    <p:sldId xmlns:r="http://schemas.openxmlformats.org/officeDocument/2006/relationships" id="258" r:id="Rb02f69a52ae446d2"/>
    <p:sldId xmlns:r="http://schemas.openxmlformats.org/officeDocument/2006/relationships" id="259" r:id="Re1a0e9b44b944889"/>
    <p:sldId xmlns:r="http://schemas.openxmlformats.org/officeDocument/2006/relationships" id="260" r:id="Rbec06897ed054bfd"/>
    <p:sldId xmlns:r="http://schemas.openxmlformats.org/officeDocument/2006/relationships" id="261" r:id="Rea31669cb4c2496e"/>
    <p:sldId xmlns:r="http://schemas.openxmlformats.org/officeDocument/2006/relationships" id="262" r:id="R056fe77be08d4cc9"/>
    <p:sldId xmlns:r="http://schemas.openxmlformats.org/officeDocument/2006/relationships" id="263" r:id="R2b25b744832441d0"/>
    <p:sldId xmlns:r="http://schemas.openxmlformats.org/officeDocument/2006/relationships" id="264" r:id="R4276b9bc851d4cb1"/>
    <p:sldId xmlns:r="http://schemas.openxmlformats.org/officeDocument/2006/relationships" id="265" r:id="Rf1c8c574e0934676"/>
    <p:sldId xmlns:r="http://schemas.openxmlformats.org/officeDocument/2006/relationships" id="266" r:id="R2f34e373c0b14227"/>
    <p:sldId xmlns:r="http://schemas.openxmlformats.org/officeDocument/2006/relationships" id="267" r:id="Reafc88459a9a42a8"/>
    <p:sldId xmlns:r="http://schemas.openxmlformats.org/officeDocument/2006/relationships" id="268" r:id="R05887c14c1ad4f71"/>
    <p:sldId xmlns:r="http://schemas.openxmlformats.org/officeDocument/2006/relationships" id="269" r:id="R44b4358d30ad4c7c"/>
    <p:sldId xmlns:r="http://schemas.openxmlformats.org/officeDocument/2006/relationships" id="270" r:id="Re83cc46c39ff404b"/>
    <p:sldId xmlns:r="http://schemas.openxmlformats.org/officeDocument/2006/relationships" id="271" r:id="Re2af900b53d84c40"/>
    <p:sldId xmlns:r="http://schemas.openxmlformats.org/officeDocument/2006/relationships" id="272" r:id="Rd5d2864c1d264824"/>
    <p:sldId xmlns:r="http://schemas.openxmlformats.org/officeDocument/2006/relationships" id="273" r:id="R3657e466af514fbf"/>
    <p:sldId xmlns:r="http://schemas.openxmlformats.org/officeDocument/2006/relationships" id="274" r:id="Rf6e5eaaaf2714959"/>
    <p:sldId xmlns:r="http://schemas.openxmlformats.org/officeDocument/2006/relationships" id="275" r:id="R023f2f4fa676449d"/>
    <p:sldId xmlns:r="http://schemas.openxmlformats.org/officeDocument/2006/relationships" id="276" r:id="Rd5cfcded8ac34f1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241bbb1e7494109" /><Relationship Type="http://schemas.openxmlformats.org/officeDocument/2006/relationships/slideMaster" Target="/ppt/slideMasters/slideMaster1.xml" Id="R5bd183c4b2324d1a" /><Relationship Type="http://schemas.openxmlformats.org/officeDocument/2006/relationships/notesMaster" Target="/ppt/notesMasters/notesMaster1.xml" Id="R5290ece7fbcd4dae" /><Relationship Type="http://schemas.openxmlformats.org/officeDocument/2006/relationships/presProps" Target="/ppt/presProps.xml" Id="Rad86f3f9071d4a66" /><Relationship Type="http://schemas.openxmlformats.org/officeDocument/2006/relationships/tableStyles" Target="/ppt/tableStyles.xml" Id="R6e17e3c8bf774f07" /><Relationship Type="http://schemas.openxmlformats.org/officeDocument/2006/relationships/slide" Target="/ppt/slides/slide1.xml" Id="Ra955781db2f34ad9" /><Relationship Type="http://schemas.openxmlformats.org/officeDocument/2006/relationships/slide" Target="/ppt/slides/slide2.xml" Id="R7ef7d854c6c4456f" /><Relationship Type="http://schemas.openxmlformats.org/officeDocument/2006/relationships/slide" Target="/ppt/slides/slide3.xml" Id="Rb02f69a52ae446d2" /><Relationship Type="http://schemas.openxmlformats.org/officeDocument/2006/relationships/slide" Target="/ppt/slides/slide4.xml" Id="Re1a0e9b44b944889" /><Relationship Type="http://schemas.openxmlformats.org/officeDocument/2006/relationships/slide" Target="/ppt/slides/slide5.xml" Id="Rbec06897ed054bfd" /><Relationship Type="http://schemas.openxmlformats.org/officeDocument/2006/relationships/slide" Target="/ppt/slides/slide6.xml" Id="Rea31669cb4c2496e" /><Relationship Type="http://schemas.openxmlformats.org/officeDocument/2006/relationships/slide" Target="/ppt/slides/slide7.xml" Id="R056fe77be08d4cc9" /><Relationship Type="http://schemas.openxmlformats.org/officeDocument/2006/relationships/slide" Target="/ppt/slides/slide8.xml" Id="R2b25b744832441d0" /><Relationship Type="http://schemas.openxmlformats.org/officeDocument/2006/relationships/slide" Target="/ppt/slides/slide9.xml" Id="R4276b9bc851d4cb1" /><Relationship Type="http://schemas.openxmlformats.org/officeDocument/2006/relationships/slide" Target="/ppt/slides/slide10.xml" Id="Rf1c8c574e0934676" /><Relationship Type="http://schemas.openxmlformats.org/officeDocument/2006/relationships/slide" Target="/ppt/slides/slide11.xml" Id="R2f34e373c0b14227" /><Relationship Type="http://schemas.openxmlformats.org/officeDocument/2006/relationships/slide" Target="/ppt/slides/slide12.xml" Id="Reafc88459a9a42a8" /><Relationship Type="http://schemas.openxmlformats.org/officeDocument/2006/relationships/slide" Target="/ppt/slides/slide13.xml" Id="R05887c14c1ad4f71" /><Relationship Type="http://schemas.openxmlformats.org/officeDocument/2006/relationships/slide" Target="/ppt/slides/slide14.xml" Id="R44b4358d30ad4c7c" /><Relationship Type="http://schemas.openxmlformats.org/officeDocument/2006/relationships/slide" Target="/ppt/slides/slide15.xml" Id="Re83cc46c39ff404b" /><Relationship Type="http://schemas.openxmlformats.org/officeDocument/2006/relationships/slide" Target="/ppt/slides/slide16.xml" Id="Re2af900b53d84c40" /><Relationship Type="http://schemas.openxmlformats.org/officeDocument/2006/relationships/slide" Target="/ppt/slides/slide17.xml" Id="Rd5d2864c1d264824" /><Relationship Type="http://schemas.openxmlformats.org/officeDocument/2006/relationships/slide" Target="/ppt/slides/slide18.xml" Id="R3657e466af514fbf" /><Relationship Type="http://schemas.openxmlformats.org/officeDocument/2006/relationships/slide" Target="/ppt/slides/slide19.xml" Id="Rf6e5eaaaf2714959" /><Relationship Type="http://schemas.openxmlformats.org/officeDocument/2006/relationships/slide" Target="/ppt/slides/slide20.xml" Id="R023f2f4fa676449d" /><Relationship Type="http://schemas.openxmlformats.org/officeDocument/2006/relationships/slide" Target="/ppt/slides/slide21.xml" Id="Rd5cfcded8ac34f1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46898cd11754f1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105de3ca74a46c6" /><Relationship Type="http://schemas.openxmlformats.org/officeDocument/2006/relationships/notesMaster" Target="/ppt/notesMasters/notesMaster1.xml" Id="Re7b266cd68ff488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b37f6c608dd4521" /><Relationship Type="http://schemas.openxmlformats.org/officeDocument/2006/relationships/notesMaster" Target="/ppt/notesMasters/notesMaster1.xml" Id="Rd2e4b52b3c7c431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a89df7262024a8d" /><Relationship Type="http://schemas.openxmlformats.org/officeDocument/2006/relationships/notesMaster" Target="/ppt/notesMasters/notesMaster1.xml" Id="R05fd57ecb950483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5b752db540e4e2c" /><Relationship Type="http://schemas.openxmlformats.org/officeDocument/2006/relationships/notesMaster" Target="/ppt/notesMasters/notesMaster1.xml" Id="R34465f7a525947d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e78469bf6ba4be0" /><Relationship Type="http://schemas.openxmlformats.org/officeDocument/2006/relationships/notesMaster" Target="/ppt/notesMasters/notesMaster1.xml" Id="Rb34a7d5ccaa14b5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8340e57e1144fd8" /><Relationship Type="http://schemas.openxmlformats.org/officeDocument/2006/relationships/notesMaster" Target="/ppt/notesMasters/notesMaster1.xml" Id="R01bb7b5ac9b0488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de7e20462544e89" /><Relationship Type="http://schemas.openxmlformats.org/officeDocument/2006/relationships/notesMaster" Target="/ppt/notesMasters/notesMaster1.xml" Id="Rde083c92f446425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fc66d7cf9ba49e6" /><Relationship Type="http://schemas.openxmlformats.org/officeDocument/2006/relationships/notesMaster" Target="/ppt/notesMasters/notesMaster1.xml" Id="R52ff44a456a94c7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51249835be3417b" /><Relationship Type="http://schemas.openxmlformats.org/officeDocument/2006/relationships/notesMaster" Target="/ppt/notesMasters/notesMaster1.xml" Id="R436dff8e94774c4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a0bdcae85644b90" /><Relationship Type="http://schemas.openxmlformats.org/officeDocument/2006/relationships/notesMaster" Target="/ppt/notesMasters/notesMaster1.xml" Id="Ra5f66427ab01442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07a8939fb5d473a" /><Relationship Type="http://schemas.openxmlformats.org/officeDocument/2006/relationships/notesMaster" Target="/ppt/notesMasters/notesMaster1.xml" Id="Rc1a498a0f0e64cf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337d1afa59a4a99" /><Relationship Type="http://schemas.openxmlformats.org/officeDocument/2006/relationships/notesMaster" Target="/ppt/notesMasters/notesMaster1.xml" Id="R8e9967a4d1bd41c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3dea09f838241c5" /><Relationship Type="http://schemas.openxmlformats.org/officeDocument/2006/relationships/notesMaster" Target="/ppt/notesMasters/notesMaster1.xml" Id="R185bb45268fb49d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4c92d9b01a0462d" /><Relationship Type="http://schemas.openxmlformats.org/officeDocument/2006/relationships/notesMaster" Target="/ppt/notesMasters/notesMaster1.xml" Id="R10cca664bd55442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8d604d4cffe4a18" /><Relationship Type="http://schemas.openxmlformats.org/officeDocument/2006/relationships/notesMaster" Target="/ppt/notesMasters/notesMaster1.xml" Id="Rd1d82a9dd001442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7602a9bc7fc4ed9" /><Relationship Type="http://schemas.openxmlformats.org/officeDocument/2006/relationships/notesMaster" Target="/ppt/notesMasters/notesMaster1.xml" Id="R57ced50c1ddf4ee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65a29c194c14eaf" /><Relationship Type="http://schemas.openxmlformats.org/officeDocument/2006/relationships/notesMaster" Target="/ppt/notesMasters/notesMaster1.xml" Id="R8247f50cbdc640b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6a6d9348ed74f0d" /><Relationship Type="http://schemas.openxmlformats.org/officeDocument/2006/relationships/notesMaster" Target="/ppt/notesMasters/notesMaster1.xml" Id="Rec5de7aae8f2474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d252b9aea844179" /><Relationship Type="http://schemas.openxmlformats.org/officeDocument/2006/relationships/notesMaster" Target="/ppt/notesMasters/notesMaster1.xml" Id="Ra3b173d5fe2146b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fc48f3609824022" /><Relationship Type="http://schemas.openxmlformats.org/officeDocument/2006/relationships/notesMaster" Target="/ppt/notesMasters/notesMaster1.xml" Id="R1bc77048828c442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32f987861444d34" /><Relationship Type="http://schemas.openxmlformats.org/officeDocument/2006/relationships/notesMaster" Target="/ppt/notesMasters/notesMaster1.xml" Id="R8bf66e0526644f7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Human and dog CTA evidence</a:t>
            </a:r>
          </a:p>
          <a:p xmlns:a="http://schemas.openxmlformats.org/drawingml/2006/main">
            <a:r>
              <a:t>One RNA ceiling. Neither requires an affirmative expression profile. Unassigned is an assessment status, not a biological category.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e2f607d067f8cfe3ddd511ba32a8fd9bc60ab162bdae5c5656e0c593d6c50436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Published candidate lists</a:t>
            </a:r>
          </a:p>
          <a:p xmlns:a="http://schemas.openxmlformats.org/drawingml/2006/main">
            <a:r>
              <a:t>da Silva et al. (2017): https://doi.org/10.18632/oncotarget.21715</a:t>
            </a:r>
          </a:p>
          <a:p xmlns:a="http://schemas.openxmlformats.org/drawingml/2006/main">
            <a:r>
              <a:t>Wang et al. (2016): https://doi.org/10.1038/ncomms10499</a:t>
            </a:r>
          </a:p>
          <a:p xmlns:a="http://schemas.openxmlformats.org/drawingml/2006/main">
            <a:r>
              <a:t>Chang et al. (2019): https://doi.org/10.1002/cam4.2223</a:t>
            </a:r>
          </a:p>
          <a:p xmlns:a="http://schemas.openxmlformats.org/drawingml/2006/main">
            <a:r>
              <a:t>Gong et al. (2021): https://doi.org/10.1038/s41467-021-22695-y</a:t>
            </a:r>
          </a:p>
          <a:p xmlns:a="http://schemas.openxmlformats.org/drawingml/2006/main">
            <a:r>
              <a:t>Bruggeman et al. (2018): https://doi.org/10.1038/s41388-018-0357-2</a:t>
            </a:r>
          </a:p>
          <a:p xmlns:a="http://schemas.openxmlformats.org/drawingml/2006/main">
            <a:r>
              <a:t>Jamin et al. (2021): https://doi.org/10.1002/1878-0261.12900</a:t>
            </a:r>
          </a:p>
          <a:p xmlns:a="http://schemas.openxmlformats.org/drawingml/2006/main">
            <a:r>
              <a:t>Loriot et al. (2025): https://doi.org/10.1371/journal.pgen.1011734</a:t>
            </a:r>
          </a:p>
          <a:p xmlns:a="http://schemas.openxmlformats.org/drawingml/2006/main">
            <a:r>
              <a:t>Carter et al. (2023): https://doi.org/10.1136/jitc-2023-007935</a:t>
            </a:r>
          </a:p>
          <a:p xmlns:a="http://schemas.openxmlformats.org/drawingml/2006/main">
            <a:r>
              <a:t>Seager et al. (2024): https://doi.org/10.1186/s12967-024-04918-0</a:t>
            </a:r>
          </a:p>
          <a:p xmlns:a="http://schemas.openxmlformats.org/drawingml/2006/main">
            <a:r>
              <a:t>Bradley et al. (2020): https://doi.org/10.1038/s41467-020-19141-w</a:t>
            </a:r>
          </a:p>
          <a:p xmlns:a="http://schemas.openxmlformats.org/drawingml/2006/main">
            <a:r>
              <a:t>Garg et al. (2007): https://doi.org/10.1158/1078-0432.CCR-06-2340</a:t>
            </a:r>
          </a:p>
          <a:p xmlns:a="http://schemas.openxmlformats.org/drawingml/2006/main">
            <a:r>
              <a:t>Boël et al. (1995): https://doi.org/10.1016/s1074-7613(95)80053-0</a:t>
            </a:r>
          </a:p>
          <a:p xmlns:a="http://schemas.openxmlformats.org/drawingml/2006/main">
            <a:r>
              <a:t>Bai et al. (2016): https://doi.org/10.1158/0008-5472.CAN-16-0225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e2f607d067f8cfe3ddd511ba32a8fd9bc60ab162bdae5c5656e0c593d6c50436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What the small paper sets actually contain</a:t>
            </a:r>
          </a:p>
          <a:p xmlns:a="http://schemas.openxmlformats.org/drawingml/2006/main">
            <a:r>
              <a:t>Garg et al. (2007), Discussion https://doi.org/10.1158/1078-0432.CCR-06-2340 ; Boël et al. (1995), Abstract https://pubmed.ncbi.nlm.nih.gov/7895173/ ; Bai et al. (2016) https://pubmed.ncbi.nlm.nih.gov/27803106/ . Prior recognized antigens have a separate evidence role and do not inherit new-target validation.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e2f607d067f8cfe3ddd511ba32a8fd9bc60ab162bdae5c5656e0c593d6c50436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Overlap between published lists</a:t>
            </a:r>
          </a:p>
          <a:p xmlns:a="http://schemas.openxmlformats.org/drawingml/2006/main">
            <a:r>
              <a:t>Tables and author-recognized prior antigens within the same paper are unioned. Evidence roles, source IDs and pairwise counts accompany the report.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e2f607d067f8cfe3ddd511ba32a8fd9bc60ab162bdae5c5656e0c593d6c50436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Reproductive and developmental association</a:t>
            </a:r>
          </a:p>
          <a:p xmlns:a="http://schemas.openxmlformats.org/drawingml/2006/main">
            <a:r>
              <a:t>Tyser et al. (2021): https://doi.org/10.1038/s41586-021-04158-y . HPA v23 https://v23.proteinatlas.org/about/download 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e2f607d067f8cfe3ddd511ba32a8fd9bc60ab162bdae5c5656e0c593d6c50436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Normal and cancer measurement sources</a:t>
            </a:r>
          </a:p>
          <a:p xmlns:a="http://schemas.openxmlformats.org/drawingml/2006/main">
            <a:r>
              <a:t>HPA https://v23.proteinatlas.org/about/download ; DICE https://dice-database.org/ ; cornea https://www.ncbi.nlm.nih.gov/geo/query/acc.cgi?acc=GSE155683 ; Tyser https://doi.org/10.1038/s41586-021-04158-y . Full URLs and sample lineage accompany the report.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e2f607d067f8cfe3ddd511ba32a8fd9bc60ab162bdae5c5656e0c593d6c50436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RNA cutoffs</a:t>
            </a:r>
          </a:p>
          <a:p xmlns:a="http://schemas.openxmlformats.org/drawingml/2006/main">
            <a:r>
              <a:t>The same nominal values apply across native TPM/nTPM assays. CP10K uses nominal /100, not a TPM conversion. Values are screening-policy choices, not measured toxicity limits.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e2f607d067f8cfe3ddd511ba32a8fd9bc60ab162bdae5c5656e0c593d6c50436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Neither requires a measured expression profile</a:t>
            </a:r>
          </a:p>
          <a:p xmlns:a="http://schemas.openxmlformats.org/drawingml/2006/main">
            <a:r>
              <a:t>Low means below the common 2-unit expression floor in every measured source, with required normal panels and tumor/developmental measurements. Missing optional DICE/cornea is disclosed. No detected protein is not proof of absence in every unmeasured tissue.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e2f607d067f8cfe3ddd511ba32a8fd9bc60ab162bdae5c5656e0c593d6c50436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Every filtering layer can contribute</a:t>
            </a:r>
          </a:p>
          <a:p xmlns:a="http://schemas.openxmlformats.org/drawingml/2006/main">
            <a:r>
              <a:t>The gray segment is held/unassigned evidence, not Neither. The final profile check assigns Neither. All layers evaluate every group; final categories are independent of display order.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e2f607d067f8cfe3ddd511ba32a8fd9bc60ab162bdae5c5656e0c593d6c50436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Removals at each filter</a:t>
            </a:r>
          </a:p>
          <a:p xmlns:a="http://schemas.openxmlformats.org/drawingml/2006/main">
            <a:r>
              <a:t>Sequential first removals depend on the displayed order; the independent-layer table reports overlaps.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e2f607d067f8cfe3ddd511ba32a8fd9bc60ab162bdae5c5656e0c593d6c50436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IHC matching to measured RNA compartments</a:t>
            </a:r>
          </a:p>
          <a:p xmlns:a="http://schemas.openxmlformats.org/drawingml/2006/main">
            <a:r>
              <a:t>HPA colon https://www.proteinatlas.org/learn/dictionary/normal/colon ; bronchus https://www.proteinatlas.org/learn/dictionary/normal/bronchus . Parent-compartment credit is a declared anatomical interpretation, not proof that all rare cells were sampled.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e2f607d067f8cfe3ddd511ba32a8fd9bc60ab162bdae5c5656e0c593d6c50436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Selected CTA: reproductive versus embryonic RNA</a:t>
            </a:r>
          </a:p>
          <a:p xmlns:a="http://schemas.openxmlformats.org/drawingml/2006/main">
            <a:r>
              <a:t>Color uses the highest supported non-disposable healthy expression within the stated native unit. There is no mixed-unit maximum. Labels include widely studied antigens with mapped values and all genes ≥5 on both axes. Missing embryonic measurements appear in a separate categorical band; every selected group is represented without zero filling.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e2f607d067f8cfe3ddd511ba32a8fd9bc60ab162bdae5c5656e0c593d6c50436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Selected CTA: normal immune RNA</a:t>
            </a:r>
          </a:p>
          <a:p xmlns:a="http://schemas.openxmlformats.org/drawingml/2006/main">
            <a:r>
              <a:t>Color uses the highest supported non-disposable healthy expression within the stated native unit. There is no mixed-unit maximum. Labels include widely studied antigens with mapped values and all genes ≥5 on both axes. Missing embryonic measurements appear in a separate categorical band; every selected group is represented without zero filling.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e2f607d067f8cfe3ddd511ba32a8fd9bc60ab162bdae5c5656e0c593d6c50436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Selected CTA: normal corneal RNA</a:t>
            </a:r>
          </a:p>
          <a:p xmlns:a="http://schemas.openxmlformats.org/drawingml/2006/main">
            <a:r>
              <a:t>Color uses the highest supported non-disposable healthy expression within the stated native unit. There is no mixed-unit maximum. Labels include widely studied antigens with mapped values and all genes ≥5 on both axes. Missing embryonic measurements appear in a separate categorical band; every selected group is represented without zero filling.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e2f607d067f8cfe3ddd511ba32a8fd9bc60ab162bdae5c5656e0c593d6c50436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Why familiar CTAs lack an atlas TPM row</a:t>
            </a:r>
          </a:p>
          <a:p xmlns:a="http://schemas.openxmlformats.org/drawingml/2006/main">
            <a:r>
              <a:t>Author raw counts: https://github.com/ScialdoneLab/human-gastrula-shiny/tree/3e6ab8546e57decc5ec09770720709b5fa6428ef . All values below are raw-count observations, not TPM. The 25,330-row atlas download is gene-filtered; the author table has 57,490 columns and the same number of cells. Different quantification pipelines remain separate.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e2f607d067f8cfe3ddd511ba32a8fd9bc60ab162bdae5c5656e0c593d6c50436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Widely studied antigens: reproductive RNA</a:t>
            </a:r>
          </a:p>
          <a:p xmlns:a="http://schemas.openxmlformats.org/drawingml/2006/main">
            <a:r>
              <a:t>MAGE-A1 and MAGE-A3 are comparators, not admission controls. Full-width figures highlight PRAME, NY-ESO-1 (CTAG1A/B), XAGE1A/B, MAGE-A4, CT83, SSX2/B and TBXT. Missing embryonic measurements are in a separate band.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e2f607d067f8cfe3ddd511ba32a8fd9bc60ab162bdae5c5656e0c593d6c50436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Widely studied antigens: embryonic RNA</a:t>
            </a:r>
          </a:p>
          <a:p xmlns:a="http://schemas.openxmlformats.org/drawingml/2006/main">
            <a:r>
              <a:t>MAGE-A1 and MAGE-A3 are comparators, not admission controls. Full-width figures highlight PRAME, NY-ESO-1 (CTAG1A/B), XAGE1A/B, MAGE-A4, CT83, SSX2/B and TBXT. Missing embryonic measurements are in a separate band.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e2f607d067f8cfe3ddd511ba32a8fd9bc60ab162bdae5c5656e0c593d6c50436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Assessment status is separate from category</a:t>
            </a:r>
          </a:p>
          <a:p xmlns:a="http://schemas.openxmlformats.org/drawingml/2006/main">
            <a:r>
              <a:t>A category can be assigned despite gaps in optional or irrelevant sources. Screened does not mean clinically safe or fully measured. MAGE-A3 has a colon hold plus missing embryonic measurements; the missing measurement is not the cause of the colon hold.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e2f607d067f8cfe3ddd511ba32a8fd9bc60ab162bdae5c5656e0c593d6c50436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Dog evidence and integration gaps</a:t>
            </a:r>
          </a:p>
          <a:p xmlns:a="http://schemas.openxmlformats.org/drawingml/2006/main">
            <a:r>
              <a:t>Nemec et al. (2019) https://doi.org/10.1111/vco.12475 ; Hindriks et al. (2025) https://doi.org/10.1016/j.vetimm.2025.110946 . Issues https://github.com/pirl-unc/oncoref/issues/574 and https://github.com/pirl-unc/oncoref/issues/585 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e2f607d067f8cfe3ddd511ba32a8fd9bc60ab162bdae5c5656e0c593d6c50436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Curated oncofetal sources</a:t>
            </a:r>
          </a:p>
          <a:p xmlns:a="http://schemas.openxmlformats.org/drawingml/2006/main">
            <a:r>
              <a:t>Shaw et al. (2024) https://doi.org/10.1038/s41467-024-47649-y ; TRIM71 liver study https://pmc.ncbi.nlm.nih.gov/articles/PMC11388079/ ; Cardoso-Moreira et al. (2019) https://pmc.ncbi.nlm.nih.gov/articles/PMC6658352/ . Newly identified sources are not in current selection counts.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e2f607d067f8cfe3ddd511ba32a8fd9bc60ab162bdae5c5656e0c593d6c50436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Common API with native evidence underneath</a:t>
            </a:r>
          </a:p>
          <a:p xmlns:a="http://schemas.openxmlformats.org/drawingml/2006/main">
            <a:r>
              <a:t>Human, dog and mouse share schema and explicit unavailable states. Data are offline and checksum-verified. Frozen release reports remain unchanged.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e2f607d067f8cfe3ddd511ba32a8fd9bc60ab162bdae5c5656e0c593d6c50436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02665f6880469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43a66f3f8040d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d27eb5095c4f3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9cb34702304cd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8095c428fe4dd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39d20dc401470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291D9C3-3D0C-49E0-8C68-8DFB66B69F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76735D6-62A6-49C4-9713-AACDAC9B3E1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160D55E-DFC2-4BF7-8A6E-9BF61580F7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C16089A-0AE2-444A-8868-7E416203E4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8B77064-8069-4BAC-B687-C8553A96C5B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5A51E2E-7195-491D-AC11-D33A811E1A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2E4F04F-083A-46B4-AAB9-6BEF07F7814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89107FA-B90E-4BA3-97B3-5C7A841E339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8C05A39-98F7-4BE3-ADAF-611540EF86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2259B8B-9105-4BA0-B227-455A50B733A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e74b1a12dfd40ba" /><Relationship Type="http://schemas.openxmlformats.org/officeDocument/2006/relationships/slideLayout" Target="/ppt/slideLayouts/slideLayout1.xml" Id="Re05508f85f674bd2" /><Relationship Type="http://schemas.openxmlformats.org/officeDocument/2006/relationships/slideLayout" Target="/ppt/slideLayouts/slideLayout2.xml" Id="Ra4bbcf4bb9ec40dc" /><Relationship Type="http://schemas.openxmlformats.org/officeDocument/2006/relationships/slideLayout" Target="/ppt/slideLayouts/slideLayout3.xml" Id="R4b5eb6d20aa54de3" /><Relationship Type="http://schemas.openxmlformats.org/officeDocument/2006/relationships/slideLayout" Target="/ppt/slideLayouts/slideLayout4.xml" Id="R832c4a94cc4d40d7" /><Relationship Type="http://schemas.openxmlformats.org/officeDocument/2006/relationships/slideLayout" Target="/ppt/slideLayouts/slideLayout5.xml" Id="R2684ddf6b36549bc" /><Relationship Type="http://schemas.openxmlformats.org/officeDocument/2006/relationships/slideLayout" Target="/ppt/slideLayouts/slideLayout6.xml" Id="R85fa6b50e7cb4f9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05508f85f674bd2"/>
    <p:sldLayoutId xmlns:r="http://schemas.openxmlformats.org/officeDocument/2006/relationships" id="2147483650" r:id="Ra4bbcf4bb9ec40dc"/>
    <p:sldLayoutId xmlns:r="http://schemas.openxmlformats.org/officeDocument/2006/relationships" id="2147483651" r:id="R4b5eb6d20aa54de3"/>
    <p:sldLayoutId xmlns:r="http://schemas.openxmlformats.org/officeDocument/2006/relationships" id="2147483652" r:id="R832c4a94cc4d40d7"/>
    <p:sldLayoutId xmlns:r="http://schemas.openxmlformats.org/officeDocument/2006/relationships" id="2147483653" r:id="R2684ddf6b36549bc"/>
    <p:sldLayoutId xmlns:r="http://schemas.openxmlformats.org/officeDocument/2006/relationships" id="2147483654" r:id="R85fa6b50e7cb4f9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dea0897fd54b10" /><Relationship Type="http://schemas.openxmlformats.org/officeDocument/2006/relationships/notesSlide" Target="/ppt/notesSlides/notesSlide1.xml" Id="R7bf85f95e12c485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58341e7ab8452a" /><Relationship Type="http://schemas.openxmlformats.org/officeDocument/2006/relationships/notesSlide" Target="/ppt/notesSlides/notesSlide2.xml" Id="R70733b15eefa418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c4b7d786604c4d" /><Relationship Type="http://schemas.openxmlformats.org/officeDocument/2006/relationships/notesSlide" Target="/ppt/notesSlides/notesSlide3.xml" Id="R72272ad5ea6347c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170bb2d4224e28" /><Relationship Type="http://schemas.openxmlformats.org/officeDocument/2006/relationships/image" Target="/ppt/media/image.png" Id="Rc83ddc9ae0e946e1" /><Relationship Type="http://schemas.openxmlformats.org/officeDocument/2006/relationships/notesSlide" Target="/ppt/notesSlides/notesSlide4.xml" Id="Ra99066655e3a4d4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4b17a186eb54d56" /><Relationship Type="http://schemas.openxmlformats.org/officeDocument/2006/relationships/notesSlide" Target="/ppt/notesSlides/notesSlide5.xml" Id="R445a9363fd1742c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88dc5634bc4014" /><Relationship Type="http://schemas.openxmlformats.org/officeDocument/2006/relationships/notesSlide" Target="/ppt/notesSlides/notesSlide6.xml" Id="Ree7782bc8dfd4cb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d2c8aba64144ad" /><Relationship Type="http://schemas.openxmlformats.org/officeDocument/2006/relationships/notesSlide" Target="/ppt/notesSlides/notesSlide7.xml" Id="Rdda2491cc2f6465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3e708c5bb94fed" /><Relationship Type="http://schemas.openxmlformats.org/officeDocument/2006/relationships/notesSlide" Target="/ppt/notesSlides/notesSlide8.xml" Id="R4469702979d4461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0b38d379e7473e" /><Relationship Type="http://schemas.openxmlformats.org/officeDocument/2006/relationships/chart" Target="/ppt/slides/charts/chart1.xml" Id="R7186aa86224b4bb7" /><Relationship Type="http://schemas.openxmlformats.org/officeDocument/2006/relationships/notesSlide" Target="/ppt/notesSlides/notesSlide9.xml" Id="R347629fd12cb487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4de70ae27842d7" /><Relationship Type="http://schemas.openxmlformats.org/officeDocument/2006/relationships/notesSlide" Target="/ppt/notesSlides/notesSlide10.xml" Id="R37d1a58afa6c478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6eb68a086d4276" /><Relationship Type="http://schemas.openxmlformats.org/officeDocument/2006/relationships/notesSlide" Target="/ppt/notesSlides/notesSlide11.xml" Id="R108230bfc5b248b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7dbc4b6423488b" /><Relationship Type="http://schemas.openxmlformats.org/officeDocument/2006/relationships/image" Target="/ppt/media/image2.png" Id="Rcf15bf58a98c4f44" /><Relationship Type="http://schemas.openxmlformats.org/officeDocument/2006/relationships/notesSlide" Target="/ppt/notesSlides/notesSlide12.xml" Id="R3a5298afb09d4af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2cd6f8564340b3" /><Relationship Type="http://schemas.openxmlformats.org/officeDocument/2006/relationships/image" Target="/ppt/media/image3.png" Id="R8f08778202904af8" /><Relationship Type="http://schemas.openxmlformats.org/officeDocument/2006/relationships/notesSlide" Target="/ppt/notesSlides/notesSlide13.xml" Id="Rc00124672e42416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d74d4d39e44910" /><Relationship Type="http://schemas.openxmlformats.org/officeDocument/2006/relationships/image" Target="/ppt/media/image4.png" Id="R4b3ba4d3d1184c07" /><Relationship Type="http://schemas.openxmlformats.org/officeDocument/2006/relationships/notesSlide" Target="/ppt/notesSlides/notesSlide14.xml" Id="R2edbb51f41f2419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d3e8d6aee6424f" /><Relationship Type="http://schemas.openxmlformats.org/officeDocument/2006/relationships/notesSlide" Target="/ppt/notesSlides/notesSlide15.xml" Id="Rbfd3b356fac847f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a65b8068224519" /><Relationship Type="http://schemas.openxmlformats.org/officeDocument/2006/relationships/image" Target="/ppt/media/image5.png" Id="Rc09b96d6ac934c04" /><Relationship Type="http://schemas.openxmlformats.org/officeDocument/2006/relationships/notesSlide" Target="/ppt/notesSlides/notesSlide16.xml" Id="R12d12c9ef3a648f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76bd7963ff459d" /><Relationship Type="http://schemas.openxmlformats.org/officeDocument/2006/relationships/image" Target="/ppt/media/image6.png" Id="Rd1ded80d06a543e0" /><Relationship Type="http://schemas.openxmlformats.org/officeDocument/2006/relationships/notesSlide" Target="/ppt/notesSlides/notesSlide17.xml" Id="R743439701ce142f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035bb76b064fe7" /><Relationship Type="http://schemas.openxmlformats.org/officeDocument/2006/relationships/notesSlide" Target="/ppt/notesSlides/notesSlide18.xml" Id="R1e3b3d4b3acb439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517d6b9b18403c" /><Relationship Type="http://schemas.openxmlformats.org/officeDocument/2006/relationships/notesSlide" Target="/ppt/notesSlides/notesSlide19.xml" Id="R91b0f1da283e4ad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72eb3f48b243f8" /><Relationship Type="http://schemas.openxmlformats.org/officeDocument/2006/relationships/notesSlide" Target="/ppt/notesSlides/notesSlide20.xml" Id="R56a8688d1193417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b09efde3f5474c" /><Relationship Type="http://schemas.openxmlformats.org/officeDocument/2006/relationships/notesSlide" Target="/ppt/notesSlides/notesSlide21.xml" Id="R63e965d7bdf6455a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stacked"/>
        <c:varyColors val="0"/>
        <c:ser>
          <c:idx val="0"/>
          <c:order val="0"/>
          <c:tx>
            <c:v>Eligible so far</c:v>
          </c:tx>
          <c:spPr>
            <a:solidFill xmlns:a="http://schemas.openxmlformats.org/drawingml/2006/main">
              <a:srgbClr val="087E8B"/>
            </a:solidFill>
          </c:spPr>
          <c:invertIfNegative val="0"/>
          <c:cat>
            <c:strRef>
              <c:f>'Chart Data'!$A$2:$A$15</c:f>
              <c:strCache>
                <c:ptCount val="14"/>
                <c:pt idx="0">
                  <c:v>Neither profiles</c:v>
                </c:pt>
                <c:pt idx="1">
                  <c:v>External IHC</c:v>
                </c:pt>
                <c:pt idx="2">
                  <c:v>Clinical safety</c:v>
                </c:pt>
                <c:pt idx="3">
                  <c:v>Curated protein</c:v>
                </c:pt>
                <c:pt idx="4">
                  <c:v>Cornea</c:v>
                </c:pt>
                <c:pt idx="5">
                  <c:v>DICE</c:v>
                </c:pt>
                <c:pt idx="6">
                  <c:v>Monaco</c:v>
                </c:pt>
                <c:pt idx="7">
                  <c:v>HPA immune</c:v>
                </c:pt>
                <c:pt idx="8">
                  <c:v>Tissue clusters</c:v>
                </c:pt>
                <c:pt idx="9">
                  <c:v>Bulk RNA</c:v>
                </c:pt>
                <c:pt idx="10">
                  <c:v>Coverage</c:v>
                </c:pt>
                <c:pt idx="11">
                  <c:v>HPA protein</c:v>
                </c:pt>
                <c:pt idx="12">
                  <c:v>Tumor</c:v>
                </c:pt>
                <c:pt idx="13">
                  <c:v>Association</c:v>
                </c:pt>
              </c:strCache>
            </c:strRef>
          </c:cat>
          <c:val>
            <c:numRef>
              <c:f>'Chart Data'!$B$2:$B$15</c:f>
              <c:numCache>
                <c:formatCode>General</c:formatCode>
                <c:ptCount val="14"/>
                <c:pt idx="0">
                  <c:v>466</c:v>
                </c:pt>
                <c:pt idx="1">
                  <c:v>466</c:v>
                </c:pt>
                <c:pt idx="2">
                  <c:v>466</c:v>
                </c:pt>
                <c:pt idx="3">
                  <c:v>466</c:v>
                </c:pt>
                <c:pt idx="4">
                  <c:v>467</c:v>
                </c:pt>
                <c:pt idx="5">
                  <c:v>471</c:v>
                </c:pt>
                <c:pt idx="6">
                  <c:v>492</c:v>
                </c:pt>
                <c:pt idx="7">
                  <c:v>503</c:v>
                </c:pt>
                <c:pt idx="8">
                  <c:v>511</c:v>
                </c:pt>
                <c:pt idx="9">
                  <c:v>904</c:v>
                </c:pt>
                <c:pt idx="10">
                  <c:v>3192</c:v>
                </c:pt>
                <c:pt idx="11">
                  <c:v>3282</c:v>
                </c:pt>
                <c:pt idx="12">
                  <c:v>12132</c:v>
                </c:pt>
                <c:pt idx="13">
                  <c:v>12139</c:v>
                </c:pt>
              </c:numCache>
            </c:numRef>
          </c:val>
        </c:ser>
        <c:ser>
          <c:idx val="1"/>
          <c:order val="1"/>
          <c:tx>
            <c:v>Unsafe</c:v>
          </c:tx>
          <c:spPr>
            <a:solidFill xmlns:a="http://schemas.openxmlformats.org/drawingml/2006/main">
              <a:srgbClr val="AC493B"/>
            </a:solidFill>
          </c:spPr>
          <c:invertIfNegative val="0"/>
          <c:cat>
            <c:strRef>
              <c:f>'Chart Data'!$C$2:$C$15</c:f>
              <c:strCache>
                <c:ptCount val="14"/>
                <c:pt idx="0">
                  <c:v>Neither profiles</c:v>
                </c:pt>
                <c:pt idx="1">
                  <c:v>External IHC</c:v>
                </c:pt>
                <c:pt idx="2">
                  <c:v>Clinical safety</c:v>
                </c:pt>
                <c:pt idx="3">
                  <c:v>Curated protein</c:v>
                </c:pt>
                <c:pt idx="4">
                  <c:v>Cornea</c:v>
                </c:pt>
                <c:pt idx="5">
                  <c:v>DICE</c:v>
                </c:pt>
                <c:pt idx="6">
                  <c:v>Monaco</c:v>
                </c:pt>
                <c:pt idx="7">
                  <c:v>HPA immune</c:v>
                </c:pt>
                <c:pt idx="8">
                  <c:v>Tissue clusters</c:v>
                </c:pt>
                <c:pt idx="9">
                  <c:v>Bulk RNA</c:v>
                </c:pt>
                <c:pt idx="10">
                  <c:v>Coverage</c:v>
                </c:pt>
                <c:pt idx="11">
                  <c:v>HPA protein</c:v>
                </c:pt>
                <c:pt idx="12">
                  <c:v>Tumor</c:v>
                </c:pt>
                <c:pt idx="13">
                  <c:v>Association</c:v>
                </c:pt>
              </c:strCache>
            </c:strRef>
          </c:cat>
          <c:val>
            <c:numRef>
              <c:f>'Chart Data'!$D$2:$D$15</c:f>
              <c:numCache>
                <c:formatCode>General</c:formatCode>
                <c:ptCount val="14"/>
                <c:pt idx="0">
                  <c:v>17718</c:v>
                </c:pt>
                <c:pt idx="1">
                  <c:v>17718</c:v>
                </c:pt>
                <c:pt idx="2">
                  <c:v>17718</c:v>
                </c:pt>
                <c:pt idx="3">
                  <c:v>17717</c:v>
                </c:pt>
                <c:pt idx="4">
                  <c:v>17715</c:v>
                </c:pt>
                <c:pt idx="5">
                  <c:v>17697</c:v>
                </c:pt>
                <c:pt idx="6">
                  <c:v>17609</c:v>
                </c:pt>
                <c:pt idx="7">
                  <c:v>17571</c:v>
                </c:pt>
                <c:pt idx="8">
                  <c:v>17523</c:v>
                </c:pt>
                <c:pt idx="9">
                  <c:v>16535</c:v>
                </c:pt>
                <c:pt idx="10">
                  <c:v>10094</c:v>
                </c:pt>
                <c:pt idx="11">
                  <c:v>10094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</c:ser>
        <c:ser>
          <c:idx val="2"/>
          <c:order val="2"/>
          <c:tx>
            <c:v>Neither</c:v>
          </c:tx>
          <c:spPr>
            <a:solidFill xmlns:a="http://schemas.openxmlformats.org/drawingml/2006/main">
              <a:srgbClr val="A28C68"/>
            </a:solidFill>
          </c:spPr>
          <c:invertIfNegative val="0"/>
          <c:cat>
            <c:strRef>
              <c:f>'Chart Data'!$E$2:$E$15</c:f>
              <c:strCache>
                <c:ptCount val="14"/>
                <c:pt idx="0">
                  <c:v>Neither profiles</c:v>
                </c:pt>
                <c:pt idx="1">
                  <c:v>External IHC</c:v>
                </c:pt>
                <c:pt idx="2">
                  <c:v>Clinical safety</c:v>
                </c:pt>
                <c:pt idx="3">
                  <c:v>Curated protein</c:v>
                </c:pt>
                <c:pt idx="4">
                  <c:v>Cornea</c:v>
                </c:pt>
                <c:pt idx="5">
                  <c:v>DICE</c:v>
                </c:pt>
                <c:pt idx="6">
                  <c:v>Monaco</c:v>
                </c:pt>
                <c:pt idx="7">
                  <c:v>HPA immune</c:v>
                </c:pt>
                <c:pt idx="8">
                  <c:v>Tissue clusters</c:v>
                </c:pt>
                <c:pt idx="9">
                  <c:v>Bulk RNA</c:v>
                </c:pt>
                <c:pt idx="10">
                  <c:v>Coverage</c:v>
                </c:pt>
                <c:pt idx="11">
                  <c:v>HPA protein</c:v>
                </c:pt>
                <c:pt idx="12">
                  <c:v>Tumor</c:v>
                </c:pt>
                <c:pt idx="13">
                  <c:v>Association</c:v>
                </c:pt>
              </c:strCache>
            </c:strRef>
          </c:cat>
          <c:val>
            <c:numRef>
              <c:f>'Chart Data'!$F$2:$F$15</c:f>
              <c:numCache>
                <c:formatCode>General</c:formatCode>
                <c:ptCount val="14"/>
                <c:pt idx="0">
                  <c:v>17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</c:ser>
        <c:ser>
          <c:idx val="3"/>
          <c:order val="3"/>
          <c:tx>
            <c:v>Unassigned</c:v>
          </c:tx>
          <c:spPr>
            <a:solidFill xmlns:a="http://schemas.openxmlformats.org/drawingml/2006/main">
              <a:srgbClr val="B9C3CD"/>
            </a:solidFill>
          </c:spPr>
          <c:invertIfNegative val="0"/>
          <c:cat>
            <c:strRef>
              <c:f>'Chart Data'!$G$2:$G$15</c:f>
              <c:strCache>
                <c:ptCount val="14"/>
                <c:pt idx="0">
                  <c:v>Neither profiles</c:v>
                </c:pt>
                <c:pt idx="1">
                  <c:v>External IHC</c:v>
                </c:pt>
                <c:pt idx="2">
                  <c:v>Clinical safety</c:v>
                </c:pt>
                <c:pt idx="3">
                  <c:v>Curated protein</c:v>
                </c:pt>
                <c:pt idx="4">
                  <c:v>Cornea</c:v>
                </c:pt>
                <c:pt idx="5">
                  <c:v>DICE</c:v>
                </c:pt>
                <c:pt idx="6">
                  <c:v>Monaco</c:v>
                </c:pt>
                <c:pt idx="7">
                  <c:v>HPA immune</c:v>
                </c:pt>
                <c:pt idx="8">
                  <c:v>Tissue clusters</c:v>
                </c:pt>
                <c:pt idx="9">
                  <c:v>Bulk RNA</c:v>
                </c:pt>
                <c:pt idx="10">
                  <c:v>Coverage</c:v>
                </c:pt>
                <c:pt idx="11">
                  <c:v>HPA protein</c:v>
                </c:pt>
                <c:pt idx="12">
                  <c:v>Tumor</c:v>
                </c:pt>
                <c:pt idx="13">
                  <c:v>Association</c:v>
                </c:pt>
              </c:strCache>
            </c:strRef>
          </c:cat>
          <c:val>
            <c:numRef>
              <c:f>'Chart Data'!$H$2:$H$15</c:f>
              <c:numCache>
                <c:formatCode>General</c:formatCode>
                <c:ptCount val="14"/>
                <c:pt idx="0">
                  <c:v>1662</c:v>
                </c:pt>
                <c:pt idx="1">
                  <c:v>1679</c:v>
                </c:pt>
                <c:pt idx="2">
                  <c:v>1679</c:v>
                </c:pt>
                <c:pt idx="3">
                  <c:v>1680</c:v>
                </c:pt>
                <c:pt idx="4">
                  <c:v>1681</c:v>
                </c:pt>
                <c:pt idx="5">
                  <c:v>1695</c:v>
                </c:pt>
                <c:pt idx="6">
                  <c:v>1762</c:v>
                </c:pt>
                <c:pt idx="7">
                  <c:v>1789</c:v>
                </c:pt>
                <c:pt idx="8">
                  <c:v>1829</c:v>
                </c:pt>
                <c:pt idx="9">
                  <c:v>2424</c:v>
                </c:pt>
                <c:pt idx="10">
                  <c:v>6577</c:v>
                </c:pt>
                <c:pt idx="11">
                  <c:v>6487</c:v>
                </c:pt>
                <c:pt idx="12">
                  <c:v>7731</c:v>
                </c:pt>
                <c:pt idx="13">
                  <c:v>7724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B55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  <c:dLblPos val="inEnd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173B55"/>
              </a:solidFill>
              <a:latin typeface="Helvetica Neue"/>
              <a:ea typeface="Helvetica Neue"/>
              <a:cs typeface="Helvetica Neue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C47304-9AAB-43BC-ACBE-043EB5959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CURRENT SELECTION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E3F479-557B-4D2F-A82E-78BCBEBB8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Human and dog CTA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7F4FA7-C6FE-47F1-889F-2E87090CC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58CC2E-D905-481E-A2A8-367975739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4E51FB-72A1-4DD0-BF1B-3B717A307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466 human CTA groups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F2AC11-0B77-4B52-8AD0-44B860E3F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484 loci   /   17,718 Unsafe   /   17 Neither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0B5679-2ACE-4684-A99A-0FA2BBA0B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1097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1,662 unassigned; dog selection remains unassessed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BB50C7-B3C8-401E-A5E0-4CF98C3C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Sources, expression profiles, single-cutoff filtering and measured tissue evidence.</a:t>
            </a:r>
          </a:p>
        </p:txBody>
      </p:sp>
    </p:spTree>
    <p:extLst>
      <p:ext uri="{BB962C8B-B14F-4D97-AF65-F5344CB8AC3E}">
        <p14:creationId xmlns:p14="http://schemas.microsoft.com/office/powerpoint/2010/main" val="94765472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26A8C4-A2C3-4DAA-B2E0-68D2EB7A8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HUMAN ANNOTATIONS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B29AB9-31AB-4F22-88E8-59C044511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Published candidate lists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0EA9AD-9459-4748-A914-CA3AACA22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A49727-EF49-4F6B-B34C-E23F890E6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E46558-A241-4CDB-B189-8B211E9ACCAB}"/>
              </a:ext>
            </a:extLst>
          </p:cNvPr>
          <p:cNvGraphicFramePr/>
          <p:nvPr/>
        </p:nvGraphicFramePr>
        <p:xfrm>
          <a:off xmlns:a="http://schemas.openxmlformats.org/drawingml/2006/main" x="609600" y="1504950"/>
          <a:ext xmlns:a="http://schemas.openxmlformats.org/drawingml/2006/main" cx="109728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14750"/>
                <a:gridCol w="1428750"/>
                <a:gridCol w="1333500"/>
                <a:gridCol w="1524000"/>
                <a:gridCol w="1428750"/>
                <a:gridCol w="1543050"/>
              </a:tblGrid>
              <a:tr h="2857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Paper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Groups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CTA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Unsafe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Neither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Unassigned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da Silva et al. (2017)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1,017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358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327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331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Wang et al. (2016)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988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266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587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Chang et al. (2019)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985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313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588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Gong et al. (2021)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729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361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250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118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Bruggeman et al. (2018)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692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643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Jamin et al. (2021)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469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422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Loriot et al. (2025)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202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Carter et al. (2023)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Seager et al. (2024)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Bradley et al. (2020)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Garg et al. (2007)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Boël et al. (1995)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Bai et al. (2016)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6DBDF2-0416-45E5-90B0-0B50EC54C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Union: 2,482 groups / 2,538 loci. 421 selected groups have an annotation; 45 do not.</a:t>
            </a:r>
          </a:p>
        </p:txBody>
      </p:sp>
    </p:spTree>
    <p:extLst>
      <p:ext uri="{BB962C8B-B14F-4D97-AF65-F5344CB8AC3E}">
        <p14:creationId xmlns:p14="http://schemas.microsoft.com/office/powerpoint/2010/main" val="193750213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E69490-B5E3-4BA8-A4FF-881740328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PUBLICATION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6CDF90-D104-4988-AE74-852C33C4F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What the small paper sets actually contain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D7FC5B-C326-4D1E-A0EE-5E65256D0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1E36CA-CE6B-4550-BC34-68E383C52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C0BD25-C948-4AFA-BE46-A23537ACFE82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43125"/>
                <a:gridCol w="2714625"/>
                <a:gridCol w="4191000"/>
                <a:gridCol w="1924050"/>
              </a:tblGrid>
              <a:tr h="7143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Paper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Principal target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Prior CTAs recognized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Mapped / selected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Bai (2016)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EGFL6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larger CTA list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 / 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Garg (2007)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SPAG9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SPA17, SYCP1, NY-ESO-1, SSX4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 / 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Boël (1995)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BAGE: unresolved locus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MAGE-A1, MAGE-A3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 / 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F1216B-276D-4E7A-AD9A-C23BD2DAC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Bai’s 538 correlated genes are not a CTA set. Added prior-CTA memberships change overlaps, not the overall union or selection.</a:t>
            </a:r>
          </a:p>
        </p:txBody>
      </p:sp>
    </p:spTree>
    <p:extLst>
      <p:ext uri="{BB962C8B-B14F-4D97-AF65-F5344CB8AC3E}">
        <p14:creationId xmlns:p14="http://schemas.microsoft.com/office/powerpoint/2010/main" val="8859696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38E72C-8C81-46BC-91A8-A81F89629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HUMAN ANNOTATIONS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D181BD-F017-43E3-8EDC-F15CB3764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Overlap between published lists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CF9C27-8C93-434F-B9B3-E534712A2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E52337-0B4F-4156-991A-CC22564DE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303CE0-3364-4EF7-9B6C-0068CB159CD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3ddc9ae0e946e1"/>
          <a:stretch xmlns:a="http://schemas.openxmlformats.org/drawingml/2006/main"/>
        </p:blipFill>
        <p:spPr>
          <a:xfrm xmlns:a="http://schemas.openxmlformats.org/drawingml/2006/main">
            <a:off x="1333500" y="1447800"/>
            <a:ext cx="952500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107664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EF11D9-1F38-4975-B849-1EED8B724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POSITIVE EXPRESSION CONTEXTS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F856BC-FAA5-4E03-8F4C-94694EE40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Reproductive and developmental association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9E3E9C-E12E-46FF-A07C-959CE36C8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6E1734-3150-4116-9F06-7010CB306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6C0003-CA42-4D76-8A27-2711C59D3C7A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905500"/>
                <a:gridCol w="2533650"/>
                <a:gridCol w="2533650"/>
              </a:tblGrid>
              <a:tr h="6667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Qualifying route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Entrants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Final CTA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Reproductive only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1,231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428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Developmental only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9,481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Both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1,427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5420E0-F838-4562-B66C-852018F6B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Whole-reference RNA measurements create this set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103097-9427-4927-9EDC-52579A16B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This is not a 12,000-gene literature list. Embryonic presence does not establish developmental restriction.</a:t>
            </a:r>
          </a:p>
        </p:txBody>
      </p:sp>
    </p:spTree>
    <p:extLst>
      <p:ext uri="{BB962C8B-B14F-4D97-AF65-F5344CB8AC3E}">
        <p14:creationId xmlns:p14="http://schemas.microsoft.com/office/powerpoint/2010/main" val="167907917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338D31-7123-41F4-8801-BCB9DA38B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HUMAN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147DD5-3E6E-4B35-8890-65DE3C9D6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Normal and cancer measurement sources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1ED808-51C0-4A11-ABF5-C1F435CC3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588F71-2461-4519-8178-83094DFB8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530CEA-2D44-4D3D-B7C0-06ABFE5D73B1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857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5429250"/>
                <a:gridCol w="2590800"/>
              </a:tblGrid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Evidence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Source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Quantity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/ reproductive bulk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consensus with GTEx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tissue cells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clusters, at least 20 reads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Immune cells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/ Monaco / original DICE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Native nTPM / 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Adult cornea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Collin et al., GSE155683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CP10K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protein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+ curated external IHC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Staining / reagent confidence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Cancer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132 compatible OncoRef cohort views + HPA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TPM / protein-coding 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Developmental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Tyser et al. (2021), one embryo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Lineage mean 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58489B-A68C-4CB1-9D94-E069A2F43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DICE and corneal coverage are optional. Measured counterevidence still contributes.</a:t>
            </a:r>
          </a:p>
        </p:txBody>
      </p:sp>
    </p:spTree>
    <p:extLst>
      <p:ext uri="{BB962C8B-B14F-4D97-AF65-F5344CB8AC3E}">
        <p14:creationId xmlns:p14="http://schemas.microsoft.com/office/powerpoint/2010/main" val="146177556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76C719-C35A-48AE-A88C-520A71B75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CURRENT POLICY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02736E-0B19-4D0F-959F-657227C81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RNA cutoffs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3E2C9A-9B38-40A8-9421-0A4CCB5AE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EF68B3-5301-43D2-B866-A9BD0B10F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7161F7-7A4E-46C4-A62A-D4960F54FB01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2714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2333625"/>
                <a:gridCol w="1895475"/>
                <a:gridCol w="1895475"/>
                <a:gridCol w="1895475"/>
              </a:tblGrid>
              <a:tr h="678656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Ceiling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Missing / unusable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Approved −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Supported −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Enhanced −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78656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Vital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8656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Protected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78656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Manageable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262160-D838-41FA-94C5-4DA95EEE5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One boundary: above-cutoff Vital / Protected is Unsafe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4F915A-8EA9-4621-9780-F5FD7D9B2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Manageable excess blocks CTA. Bowel epithelium and identified fibroblasts use Manageable. Equality passes.</a:t>
            </a:r>
          </a:p>
        </p:txBody>
      </p:sp>
    </p:spTree>
    <p:extLst>
      <p:ext uri="{BB962C8B-B14F-4D97-AF65-F5344CB8AC3E}">
        <p14:creationId xmlns:p14="http://schemas.microsoft.com/office/powerpoint/2010/main" val="19646288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A242EC-2F16-4E1F-94CC-112DA87BE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CATEGORY DEFINITIONS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247616-9D81-4D55-BB7C-C6DCC58BE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Neither requires a measured expression profile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E43311-2DBE-44BC-B39B-20000F9E1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5F0422-7634-4D1F-B1BF-B719CF3DA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83EC20-626D-448C-8A65-209FB477B3CA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7115175"/>
                <a:gridCol w="1333500"/>
              </a:tblGrid>
              <a:tr h="9525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Profile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Required evidence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Groups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Low expression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RNA below 2 across measured normal / reproductive / embryonic / tumor panels; no detected protein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Diffuse Manageable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association route; RNA ≥2 in at least two Manageable tissue concepts; no Vital / Protected exclusion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119BAE-1137-49A4-A29F-9B6D57C7E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Both require complete normal RNA coverage and resolved evidence. Other failures remain unassigned.</a:t>
            </a:r>
          </a:p>
        </p:txBody>
      </p:sp>
    </p:spTree>
    <p:extLst>
      <p:ext uri="{BB962C8B-B14F-4D97-AF65-F5344CB8AC3E}">
        <p14:creationId xmlns:p14="http://schemas.microsoft.com/office/powerpoint/2010/main" val="154499634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757467-0A7F-496B-BA92-BA7ABDCD0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HUMAN FUNNEL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1D7AC4-423E-4B09-934D-D70361B50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Every filtering layer can contribute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F334E0-22DD-48AA-927A-BDC46CED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2D4772-13ED-4E1E-A19E-E732C3522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D969B16E-A215-4F21-9428-8F7B7E712D46}"/>
              </a:ext>
            </a:extLst>
          </p:cNvPr>
          <p:cNvGraphicFramePr/>
          <p:nvPr/>
        </p:nvGraphicFramePr>
        <p:xfrm>
          <a:off xmlns:a="http://schemas.openxmlformats.org/drawingml/2006/main" x="609600" y="1504950"/>
          <a:ext xmlns:a="http://schemas.openxmlformats.org/drawingml/2006/main" cx="10972800" cy="4143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186aa86224b4bb7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EFE88C-A3AC-49EA-84D9-2EB6FE9FB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Final: 466 CTA / 17,718 Unsafe / 17 Neither / 1,662 unassigned.</a:t>
            </a:r>
          </a:p>
        </p:txBody>
      </p:sp>
    </p:spTree>
    <p:extLst>
      <p:ext uri="{BB962C8B-B14F-4D97-AF65-F5344CB8AC3E}">
        <p14:creationId xmlns:p14="http://schemas.microsoft.com/office/powerpoint/2010/main" val="73810330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3E48F8-8FC8-4990-8F2D-97B30EA32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HUMAN FUNNEL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2BE797-A4C4-4996-AA0C-3A98DFCB4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Removals at each filter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48B751-7120-4A9B-8D90-387F7F1A8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C69430-B2E0-476D-915D-3AA0D9AD5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98131F-BB45-40F5-8FD9-438A2F751AAE}"/>
              </a:ext>
            </a:extLst>
          </p:cNvPr>
          <p:cNvGraphicFramePr/>
          <p:nvPr/>
        </p:nvGraphicFramePr>
        <p:xfrm>
          <a:off xmlns:a="http://schemas.openxmlformats.org/drawingml/2006/main" x="609600" y="150495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76875"/>
                <a:gridCol w="1809750"/>
                <a:gridCol w="1809750"/>
                <a:gridCol w="1876425"/>
              </a:tblGrid>
              <a:tr h="2730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Layer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First removals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Eligible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Unsafe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2730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Association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7,724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12,139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30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Tumor sample ≥2 TPM/pTPM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12,132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730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normal protein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8,850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3,282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10,094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30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Required RNA coverage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3,192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10,094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730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bulk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2,288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904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16,535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30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tissue clusters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393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511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17,523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730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immune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503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17,571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30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Monaco immune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492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17,609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730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DICE immune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471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17,697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30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Adult cornea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467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17,715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730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Accepted normal-protein evidence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466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17,717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30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Clinical safety exclusion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466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17,718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730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External validated normal protein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466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17,718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30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Neither expression profiles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466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17,718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1417F7-0920-469B-8740-E56466887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Every group remains available to every later evidence layer.</a:t>
            </a:r>
          </a:p>
        </p:txBody>
      </p:sp>
    </p:spTree>
    <p:extLst>
      <p:ext uri="{BB962C8B-B14F-4D97-AF65-F5344CB8AC3E}">
        <p14:creationId xmlns:p14="http://schemas.microsoft.com/office/powerpoint/2010/main" val="93864051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9375AB-543D-48FA-9703-06B853F95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ANATOMY AND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613955-675A-432E-827B-FBD53E5B1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IHC matching to measured RNA compartments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A3AAA0-2BC4-4F2D-ADE0-8B8DE9139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EFD9F4-F71D-4758-A151-9C74A0340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E37E5D-2629-4E02-AEC1-6807146FDD8D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76625"/>
                <a:gridCol w="7496175"/>
              </a:tblGrid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Context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Evidence and current ceiling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PRAME colon epithelial cells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20.3 nTPM / 96 reads; Enhanced-negative glandular IHC; Manageable 128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PRAME adrenal bulk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3.6 nTPM; incomplete compartment IHC coverage; Vital 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CTAG2 bronchial basal cells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24.9 nTPM / 58 reads; Enhanced-negative respiratory IHC; Vital 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Unrelated cells in the same tissue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negative-IHC credit without exact or declared compartment coverage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D341DD-5C37-438B-BDCB-0E8329951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PRAME and CTAG2 pass this policy. Parent-compartment sensitivity and PRAME’s Low adrenal protein remain explicit limitations.</a:t>
            </a:r>
          </a:p>
        </p:txBody>
      </p:sp>
    </p:spTree>
    <p:extLst>
      <p:ext uri="{BB962C8B-B14F-4D97-AF65-F5344CB8AC3E}">
        <p14:creationId xmlns:p14="http://schemas.microsoft.com/office/powerpoint/2010/main" val="172696216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D0F441-C22B-448F-922C-A329E0CBF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EXPRESSION DISTRIBUTIONS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1BCD33-C140-48B0-A62E-FC03BBBAD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Selected CTA: reproductive versus embryonic RNA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0A6E09-3A44-46BD-8B93-55D6F32F4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26F2AA-1DE2-4E46-8F6A-54C6720C2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06589B-8EF1-4409-B1CB-E7BEAF5919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15bf58a98c4f44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28135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E7ACD2-9437-4DBB-9180-364DDDC4A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EXPRESSION DISTRIBUTIONS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01CE4B-405C-4493-AC6B-FFFFADC4B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Selected CTA: normal immune RNA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614F79-EF24-415E-94E2-1BB36875A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B7811D-4755-4A0A-8AF8-26A74E81D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13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6ACC41-900B-49F8-8E04-7763CFE0F01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08778202904af8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96749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60A5F2-3D57-4C36-AC69-C4E4AB97A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EXPRESSION DISTRIBUTIONS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00C55B-3228-4BA4-B6ED-075C25864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Selected CTA: normal corneal RNA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D4DD6A-3AE9-41E1-A539-CDB9C3EDF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1D7DC3-2708-4AAC-BF62-C8A716E27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14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7F2C71-DFCA-4F63-A67C-47F45F3F742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3ba4d3d1184c07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35490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550CA9-55B1-43E2-88DD-357563732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EMBRYONIC MEASUREMENT COVERAGE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4EF94A-FA87-40D8-A062-6B71B9603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Why familiar CTAs lack an atlas TPM row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460FAE-0F4A-4886-BD9E-48388ABE8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68BFA1-85BC-4AB2-B595-3FF1303E8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15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631273-59B3-43F4-985E-B5C5CC3F38A3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953000"/>
                <a:gridCol w="2667000"/>
                <a:gridCol w="3352800"/>
              </a:tblGrid>
              <a:tr h="5556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Author gene column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Reported reads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Positive cells / 1,195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PRAME, CT83, CTAG1A, CTAG1B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 for each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 for each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XAGE1B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MAGE-A4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TBXT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31,149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226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XAGE1A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separate column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Unknown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31AE62-9E2B-4B8E-A774-399E77526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One early embryo: nondetection does not establish absence throughout fetal development. Counts are not substituted for TPM.</a:t>
            </a:r>
          </a:p>
        </p:txBody>
      </p:sp>
    </p:spTree>
    <p:extLst>
      <p:ext uri="{BB962C8B-B14F-4D97-AF65-F5344CB8AC3E}">
        <p14:creationId xmlns:p14="http://schemas.microsoft.com/office/powerpoint/2010/main" val="22148739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E72D6A-5418-49F7-A490-BA82A4D27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CURRENT ASSIGNMENTS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AA53C3-2DD7-49F4-8416-F4E3585CF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Widely studied antigens: reproductive RNA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A42334-38A9-4488-A893-3332C69F3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E0FD3E-9C83-4A7F-95A2-EE4469803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16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468250-4B58-4885-A520-6F8DCE44432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9b96d6ac934c04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16803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0F710F-407D-473F-B7F4-BE0A7A3DC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CURRENT ASSIGNMENTS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AB7C10-925A-497A-B721-A9D7E33CC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Widely studied antigens: embryonic RNA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A6D2DC-5E71-469B-B3D6-686C894A2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296183-3D2F-4576-AAD2-0620B0382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17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B68617-1D5F-41F8-A15A-B42FBE2E35A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ded80d06a543e0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585787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E5AAEB-E645-4356-AA8E-D76146EE4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READING THE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0D036C-D0B2-4190-B72F-3ED787D06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Assessment status is separate from category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8FA0FC-2084-4219-91F6-295692E85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6769F5-A554-4A0A-81F7-A9C8860A9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18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258E60-18DB-4A5B-9527-B908BBAC2D20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190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5924550"/>
                <a:gridCol w="1619250"/>
              </a:tblGrid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API status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Meaning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Human groups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screened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CTA, Unsafe or Neither assigned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18,201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incomplete_evidence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Unassigned with missing coverage or unresolved evidence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1,329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outside_category_definitions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Tracked coverage checks pass; no definition fits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333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unassessed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species-specific selection policy applied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21338E-5D15-49BE-8522-C2FA3214C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Neither requires a measured biological profile. Unassigned does not mean Unsafe or low expression.</a:t>
            </a:r>
          </a:p>
        </p:txBody>
      </p:sp>
    </p:spTree>
    <p:extLst>
      <p:ext uri="{BB962C8B-B14F-4D97-AF65-F5344CB8AC3E}">
        <p14:creationId xmlns:p14="http://schemas.microsoft.com/office/powerpoint/2010/main" val="3097633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0AFFF2-9359-4365-A115-D04718584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SPECIES-SPECIFIC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8D8098-5AFF-45D9-8507-3DA921D95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Dog evidence and integration gaps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3E3C05-1D89-46F0-9951-F67E25572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08ACA3-FE7E-487B-9641-0FE284CF4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19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DF3386-F74F-4262-822E-483EED1C6339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8210550"/>
              </a:tblGrid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Layer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Available evidence / remaining gap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Nominations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 + 10 − 1 shared = 14 native nominations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Identity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 unique mappings; one ambiguous MAGE-family assay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/ developmental RNA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Bgee TPM and BarkBase TMM-CPM need reference reconciliation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Tumor RNA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GSE304066 count/FPKM and reference conflicts remain unresolved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protein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Limited study IHC; Pfizer pooled iBAQ is not cell-resolved IHC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Selection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All 14 unassigned / unassessed; no canine quantitative policy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2890CC-0093-4F63-B037-468C3BC51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Human thresholds, antibody grades and normal-tissue absence never transfer by orthology.</a:t>
            </a:r>
          </a:p>
        </p:txBody>
      </p:sp>
    </p:spTree>
    <p:extLst>
      <p:ext uri="{BB962C8B-B14F-4D97-AF65-F5344CB8AC3E}">
        <p14:creationId xmlns:p14="http://schemas.microsoft.com/office/powerpoint/2010/main" val="86284851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D2AF7A-F721-4C3C-9035-F346B0FB8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DEVELOPMENTAL NOMINATIONS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D34498-5929-4396-9F55-A9A9DEE4A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Curated oncofetal sources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DD9ED9-E8A3-4212-BD9A-E4F704B36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EEBBE5-2BC6-4AC1-8F6E-E3C1B6BFA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20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7146C4-9984-4838-970F-531037D84251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19500"/>
                <a:gridCol w="7353300"/>
              </a:tblGrid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Source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Scope and integration status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Tyser et al. (2021)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Current embryonic-expression route; one early embryo, not a restricted-gene list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Shaw et al. (2024)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157 cancer-specific targets; six oncofetal annotations. Exon-specific scope retained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TRIM71 liver study (2024)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Liver oncofetal signature; requires identity and measurement ingestion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Cardoso-Moreira et al. (2019)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Developmental organ trajectories with child/adult comparisons; not integrated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9226AD-2616-40CB-B6F3-D1375179E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Published nominations need independent normal/tumor filtering and postnatal coverage.</a:t>
            </a:r>
          </a:p>
        </p:txBody>
      </p:sp>
    </p:spTree>
    <p:extLst>
      <p:ext uri="{BB962C8B-B14F-4D97-AF65-F5344CB8AC3E}">
        <p14:creationId xmlns:p14="http://schemas.microsoft.com/office/powerpoint/2010/main" val="141853229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37FEE9-C65E-4364-BD7E-572C1BC10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API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56E128-9C09-4128-81B2-9D3F695F8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Common API with native evidence underneath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8378C8-0E76-4E9B-A646-0B8C228EB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33D302-F4DB-4E01-9F34-BC9F05D3E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4A08CB-FFBF-4BD2-9223-A725D364D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results = cta_selection.results(species="human")</a:t>
            </a:r>
          </a:p>
          <a:p xmlns:a="http://schemas.openxmlformats.org/drawingml/2006/main">
            <a: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audit = cta_selection.audit(species="human")</a:t>
            </a:r>
          </a:p>
          <a:p xmlns:a="http://schemas.openxmlformats.org/drawingml/2006/main">
            <a: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audit.sources    audit.overlaps    audit.funnel</a:t>
            </a:r>
          </a:p>
          <a:p xmlns:a="http://schemas.openxmlformats.org/drawingml/2006/main">
            <a: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audit.explain("PRAME")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55F5A6-9D34-4C88-AD75-0D1FD177E1F2}"/>
              </a:ext>
            </a:extLst>
          </p:cNvPr>
          <p:cNvGraphicFramePr/>
          <p:nvPr/>
        </p:nvGraphicFramePr>
        <p:xfrm>
          <a:off xmlns:a="http://schemas.openxmlformats.org/drawingml/2006/main" x="609600" y="3810000"/>
          <a:ext xmlns:a="http://schemas.openxmlformats.org/drawingml/2006/main" cx="10972800" cy="1809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90875"/>
                <a:gridCol w="7781925"/>
              </a:tblGrid>
              <a:tr h="4524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Field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Meaning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category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CTA / Unsafe / Neither, or null when unassigned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assessment_status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Screened, incomplete evidence, outside definitions, or unassessed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gene_ids / gene_identities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All group members, stable IDs, history and curated synonyms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72419D-020F-400C-A3F4-DF9D88C85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Source-specific native units, tissue/cell context, confidence and coverage remain inspectable.</a:t>
            </a:r>
          </a:p>
        </p:txBody>
      </p:sp>
    </p:spTree>
    <p:extLst>
      <p:ext uri="{BB962C8B-B14F-4D97-AF65-F5344CB8AC3E}">
        <p14:creationId xmlns:p14="http://schemas.microsoft.com/office/powerpoint/2010/main" val="14633212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2026-10-28T17:55:19.2890000Z</dcterms:created>
  <dcterms:modified xsi:type="dcterms:W3CDTF">2026-10-28T17:55:19.2890000Z</dcterms:modified>
</coreProperties>
</file>