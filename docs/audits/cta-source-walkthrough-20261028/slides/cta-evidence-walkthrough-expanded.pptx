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1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721d247b7645a5" /><Relationship Type="http://schemas.openxmlformats.org/officeDocument/2006/relationships/extended-properties" Target="/docProps/app.xml" Id="R028a0788bff9493e" /><Relationship Type="http://schemas.openxmlformats.org/officeDocument/2006/relationships/officeDocument" Target="/ppt/presentation.xml" Id="R52576d80827049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b334028f704764"/>
  </p:sldMasterIdLst>
  <p:notesMasterIdLst>
    <p:notesMasterId xmlns:r="http://schemas.openxmlformats.org/officeDocument/2006/relationships" r:id="R03c1675d2f5d42eb"/>
  </p:notesMasterIdLst>
  <p:sldIdLst>
    <p:sldId xmlns:r="http://schemas.openxmlformats.org/officeDocument/2006/relationships" id="256" r:id="Re84c8ae5023f448c"/>
    <p:sldId xmlns:r="http://schemas.openxmlformats.org/officeDocument/2006/relationships" id="257" r:id="R22ca8a696d9b40d6"/>
    <p:sldId xmlns:r="http://schemas.openxmlformats.org/officeDocument/2006/relationships" id="258" r:id="R9de195a1ce474bee"/>
    <p:sldId xmlns:r="http://schemas.openxmlformats.org/officeDocument/2006/relationships" id="259" r:id="R8c4fd9e8cd77449e"/>
    <p:sldId xmlns:r="http://schemas.openxmlformats.org/officeDocument/2006/relationships" id="260" r:id="R4923a4424a064e6b"/>
    <p:sldId xmlns:r="http://schemas.openxmlformats.org/officeDocument/2006/relationships" id="261" r:id="R0d2b1f84ac0e4b99"/>
    <p:sldId xmlns:r="http://schemas.openxmlformats.org/officeDocument/2006/relationships" id="262" r:id="R35ee5f56b58c4c93"/>
    <p:sldId xmlns:r="http://schemas.openxmlformats.org/officeDocument/2006/relationships" id="263" r:id="Rc446496218b94655"/>
    <p:sldId xmlns:r="http://schemas.openxmlformats.org/officeDocument/2006/relationships" id="264" r:id="R69d80443d1cd46ca"/>
    <p:sldId xmlns:r="http://schemas.openxmlformats.org/officeDocument/2006/relationships" id="265" r:id="R5fa46540532b4f57"/>
    <p:sldId xmlns:r="http://schemas.openxmlformats.org/officeDocument/2006/relationships" id="266" r:id="R5eaa2e11f61142ae"/>
    <p:sldId xmlns:r="http://schemas.openxmlformats.org/officeDocument/2006/relationships" id="267" r:id="Rff8f7fe4235f4a11"/>
    <p:sldId xmlns:r="http://schemas.openxmlformats.org/officeDocument/2006/relationships" id="268" r:id="R8e58bddcb0954ac9"/>
    <p:sldId xmlns:r="http://schemas.openxmlformats.org/officeDocument/2006/relationships" id="269" r:id="R255ae7c41e684198"/>
    <p:sldId xmlns:r="http://schemas.openxmlformats.org/officeDocument/2006/relationships" id="270" r:id="R2343c1e98fb74294"/>
    <p:sldId xmlns:r="http://schemas.openxmlformats.org/officeDocument/2006/relationships" id="271" r:id="R5a0719225a1a4cdd"/>
    <p:sldId xmlns:r="http://schemas.openxmlformats.org/officeDocument/2006/relationships" id="272" r:id="Raf1f4c11b64d466f"/>
    <p:sldId xmlns:r="http://schemas.openxmlformats.org/officeDocument/2006/relationships" id="273" r:id="R786332a6417e41ed"/>
    <p:sldId xmlns:r="http://schemas.openxmlformats.org/officeDocument/2006/relationships" id="274" r:id="R02fa7d13902441b5"/>
    <p:sldId xmlns:r="http://schemas.openxmlformats.org/officeDocument/2006/relationships" id="275" r:id="R1c9a2047c3d74647"/>
    <p:sldId xmlns:r="http://schemas.openxmlformats.org/officeDocument/2006/relationships" id="276" r:id="Rda17ce22f17a49f5"/>
    <p:sldId xmlns:r="http://schemas.openxmlformats.org/officeDocument/2006/relationships" id="277" r:id="Rb4b43cd761aa4846"/>
    <p:sldId xmlns:r="http://schemas.openxmlformats.org/officeDocument/2006/relationships" id="278" r:id="Rb7ae564a029c420b"/>
    <p:sldId xmlns:r="http://schemas.openxmlformats.org/officeDocument/2006/relationships" id="279" r:id="R415d6eefb0694537"/>
    <p:sldId xmlns:r="http://schemas.openxmlformats.org/officeDocument/2006/relationships" id="280" r:id="R4f20d1ea6e8546bd"/>
    <p:sldId xmlns:r="http://schemas.openxmlformats.org/officeDocument/2006/relationships" id="281" r:id="R68f9552201d84603"/>
    <p:sldId xmlns:r="http://schemas.openxmlformats.org/officeDocument/2006/relationships" id="282" r:id="Rccaecf300d6a4126"/>
    <p:sldId xmlns:r="http://schemas.openxmlformats.org/officeDocument/2006/relationships" id="283" r:id="Rc3fc2a3d8130441f"/>
    <p:sldId xmlns:r="http://schemas.openxmlformats.org/officeDocument/2006/relationships" id="284" r:id="R67e20890729f4da0"/>
    <p:sldId xmlns:r="http://schemas.openxmlformats.org/officeDocument/2006/relationships" id="285" r:id="R131623e0947a44f2"/>
    <p:sldId xmlns:r="http://schemas.openxmlformats.org/officeDocument/2006/relationships" id="286" r:id="R7c63c13431704f66"/>
    <p:sldId xmlns:r="http://schemas.openxmlformats.org/officeDocument/2006/relationships" id="287" r:id="R57ebd70053d64aa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fc5368975d435c" /><Relationship Type="http://schemas.openxmlformats.org/officeDocument/2006/relationships/slideMaster" Target="/ppt/slideMasters/slideMaster1.xml" Id="R43b334028f704764" /><Relationship Type="http://schemas.openxmlformats.org/officeDocument/2006/relationships/notesMaster" Target="/ppt/notesMasters/notesMaster1.xml" Id="R03c1675d2f5d42eb" /><Relationship Type="http://schemas.openxmlformats.org/officeDocument/2006/relationships/presProps" Target="/ppt/presProps.xml" Id="R77769ecdc48d4c1d" /><Relationship Type="http://schemas.openxmlformats.org/officeDocument/2006/relationships/tableStyles" Target="/ppt/tableStyles.xml" Id="Rd4870c266d4a4a93" /><Relationship Type="http://schemas.openxmlformats.org/officeDocument/2006/relationships/slide" Target="/ppt/slides/slide1.xml" Id="Re84c8ae5023f448c" /><Relationship Type="http://schemas.openxmlformats.org/officeDocument/2006/relationships/slide" Target="/ppt/slides/slide2.xml" Id="R22ca8a696d9b40d6" /><Relationship Type="http://schemas.openxmlformats.org/officeDocument/2006/relationships/slide" Target="/ppt/slides/slide3.xml" Id="R9de195a1ce474bee" /><Relationship Type="http://schemas.openxmlformats.org/officeDocument/2006/relationships/slide" Target="/ppt/slides/slide4.xml" Id="R8c4fd9e8cd77449e" /><Relationship Type="http://schemas.openxmlformats.org/officeDocument/2006/relationships/slide" Target="/ppt/slides/slide5.xml" Id="R4923a4424a064e6b" /><Relationship Type="http://schemas.openxmlformats.org/officeDocument/2006/relationships/slide" Target="/ppt/slides/slide6.xml" Id="R0d2b1f84ac0e4b99" /><Relationship Type="http://schemas.openxmlformats.org/officeDocument/2006/relationships/slide" Target="/ppt/slides/slide7.xml" Id="R35ee5f56b58c4c93" /><Relationship Type="http://schemas.openxmlformats.org/officeDocument/2006/relationships/slide" Target="/ppt/slides/slide8.xml" Id="Rc446496218b94655" /><Relationship Type="http://schemas.openxmlformats.org/officeDocument/2006/relationships/slide" Target="/ppt/slides/slide9.xml" Id="R69d80443d1cd46ca" /><Relationship Type="http://schemas.openxmlformats.org/officeDocument/2006/relationships/slide" Target="/ppt/slides/slide10.xml" Id="R5fa46540532b4f57" /><Relationship Type="http://schemas.openxmlformats.org/officeDocument/2006/relationships/slide" Target="/ppt/slides/slide11.xml" Id="R5eaa2e11f61142ae" /><Relationship Type="http://schemas.openxmlformats.org/officeDocument/2006/relationships/slide" Target="/ppt/slides/slide12.xml" Id="Rff8f7fe4235f4a11" /><Relationship Type="http://schemas.openxmlformats.org/officeDocument/2006/relationships/slide" Target="/ppt/slides/slide13.xml" Id="R8e58bddcb0954ac9" /><Relationship Type="http://schemas.openxmlformats.org/officeDocument/2006/relationships/slide" Target="/ppt/slides/slide14.xml" Id="R255ae7c41e684198" /><Relationship Type="http://schemas.openxmlformats.org/officeDocument/2006/relationships/slide" Target="/ppt/slides/slide15.xml" Id="R2343c1e98fb74294" /><Relationship Type="http://schemas.openxmlformats.org/officeDocument/2006/relationships/slide" Target="/ppt/slides/slide16.xml" Id="R5a0719225a1a4cdd" /><Relationship Type="http://schemas.openxmlformats.org/officeDocument/2006/relationships/slide" Target="/ppt/slides/slide17.xml" Id="Raf1f4c11b64d466f" /><Relationship Type="http://schemas.openxmlformats.org/officeDocument/2006/relationships/slide" Target="/ppt/slides/slide18.xml" Id="R786332a6417e41ed" /><Relationship Type="http://schemas.openxmlformats.org/officeDocument/2006/relationships/slide" Target="/ppt/slides/slide19.xml" Id="R02fa7d13902441b5" /><Relationship Type="http://schemas.openxmlformats.org/officeDocument/2006/relationships/slide" Target="/ppt/slides/slide20.xml" Id="R1c9a2047c3d74647" /><Relationship Type="http://schemas.openxmlformats.org/officeDocument/2006/relationships/slide" Target="/ppt/slides/slide21.xml" Id="Rda17ce22f17a49f5" /><Relationship Type="http://schemas.openxmlformats.org/officeDocument/2006/relationships/slide" Target="/ppt/slides/slide22.xml" Id="Rb4b43cd761aa4846" /><Relationship Type="http://schemas.openxmlformats.org/officeDocument/2006/relationships/slide" Target="/ppt/slides/slide23.xml" Id="Rb7ae564a029c420b" /><Relationship Type="http://schemas.openxmlformats.org/officeDocument/2006/relationships/slide" Target="/ppt/slides/slide24.xml" Id="R415d6eefb0694537" /><Relationship Type="http://schemas.openxmlformats.org/officeDocument/2006/relationships/slide" Target="/ppt/slides/slide25.xml" Id="R4f20d1ea6e8546bd" /><Relationship Type="http://schemas.openxmlformats.org/officeDocument/2006/relationships/slide" Target="/ppt/slides/slide26.xml" Id="R68f9552201d84603" /><Relationship Type="http://schemas.openxmlformats.org/officeDocument/2006/relationships/slide" Target="/ppt/slides/slide27.xml" Id="Rccaecf300d6a4126" /><Relationship Type="http://schemas.openxmlformats.org/officeDocument/2006/relationships/slide" Target="/ppt/slides/slide28.xml" Id="Rc3fc2a3d8130441f" /><Relationship Type="http://schemas.openxmlformats.org/officeDocument/2006/relationships/slide" Target="/ppt/slides/slide29.xml" Id="R67e20890729f4da0" /><Relationship Type="http://schemas.openxmlformats.org/officeDocument/2006/relationships/slide" Target="/ppt/slides/slide30.xml" Id="R131623e0947a44f2" /><Relationship Type="http://schemas.openxmlformats.org/officeDocument/2006/relationships/slide" Target="/ppt/slides/slide31.xml" Id="R7c63c13431704f66" /><Relationship Type="http://schemas.openxmlformats.org/officeDocument/2006/relationships/slide" Target="/ppt/slides/slide32.xml" Id="R57ebd70053d64a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097934a88247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285e412aa14d99" /><Relationship Type="http://schemas.openxmlformats.org/officeDocument/2006/relationships/notesMaster" Target="/ppt/notesMasters/notesMaster1.xml" Id="R593cec86a58d42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4844bcb73345db" /><Relationship Type="http://schemas.openxmlformats.org/officeDocument/2006/relationships/notesMaster" Target="/ppt/notesMasters/notesMaster1.xml" Id="Re5ba5d21dfdd4d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52d4a38ad64767" /><Relationship Type="http://schemas.openxmlformats.org/officeDocument/2006/relationships/notesMaster" Target="/ppt/notesMasters/notesMaster1.xml" Id="Rea1e1b80f37f4a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be2885220046e0" /><Relationship Type="http://schemas.openxmlformats.org/officeDocument/2006/relationships/notesMaster" Target="/ppt/notesMasters/notesMaster1.xml" Id="Rc81d7274ec6942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987081e7e64c2a" /><Relationship Type="http://schemas.openxmlformats.org/officeDocument/2006/relationships/notesMaster" Target="/ppt/notesMasters/notesMaster1.xml" Id="Rfe3578b6609a42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587df6dfa540f8" /><Relationship Type="http://schemas.openxmlformats.org/officeDocument/2006/relationships/notesMaster" Target="/ppt/notesMasters/notesMaster1.xml" Id="Rdf910505ba2547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c3dbd5ecd84cd8" /><Relationship Type="http://schemas.openxmlformats.org/officeDocument/2006/relationships/notesMaster" Target="/ppt/notesMasters/notesMaster1.xml" Id="R6c9afb61bf3b4d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93d5682bfa4775" /><Relationship Type="http://schemas.openxmlformats.org/officeDocument/2006/relationships/notesMaster" Target="/ppt/notesMasters/notesMaster1.xml" Id="Rae52e5948d0b46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3a394a8b9b4db5" /><Relationship Type="http://schemas.openxmlformats.org/officeDocument/2006/relationships/notesMaster" Target="/ppt/notesMasters/notesMaster1.xml" Id="R7ab2203f1ffc4d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1ef702cbc14eb6" /><Relationship Type="http://schemas.openxmlformats.org/officeDocument/2006/relationships/notesMaster" Target="/ppt/notesMasters/notesMaster1.xml" Id="R674fc9b678be4b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c742dd59104e17" /><Relationship Type="http://schemas.openxmlformats.org/officeDocument/2006/relationships/notesMaster" Target="/ppt/notesMasters/notesMaster1.xml" Id="R0c0510956daf4b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1b8228919f40b3" /><Relationship Type="http://schemas.openxmlformats.org/officeDocument/2006/relationships/notesMaster" Target="/ppt/notesMasters/notesMaster1.xml" Id="R2d9e406a73d643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df6b0f62e95461b" /><Relationship Type="http://schemas.openxmlformats.org/officeDocument/2006/relationships/notesMaster" Target="/ppt/notesMasters/notesMaster1.xml" Id="Rf4e21759204646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52863fdf16d430a" /><Relationship Type="http://schemas.openxmlformats.org/officeDocument/2006/relationships/notesMaster" Target="/ppt/notesMasters/notesMaster1.xml" Id="Ree044d158a8043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0bf3d6d2884eb1" /><Relationship Type="http://schemas.openxmlformats.org/officeDocument/2006/relationships/notesMaster" Target="/ppt/notesMasters/notesMaster1.xml" Id="Rda46131bc9574c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cc8df17e1e4d93" /><Relationship Type="http://schemas.openxmlformats.org/officeDocument/2006/relationships/notesMaster" Target="/ppt/notesMasters/notesMaster1.xml" Id="R129e35bae22c4d3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0b525111c3f42b0" /><Relationship Type="http://schemas.openxmlformats.org/officeDocument/2006/relationships/notesMaster" Target="/ppt/notesMasters/notesMaster1.xml" Id="R2ac36d66dc394f6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724e60815974850" /><Relationship Type="http://schemas.openxmlformats.org/officeDocument/2006/relationships/notesMaster" Target="/ppt/notesMasters/notesMaster1.xml" Id="R868bfc906a46493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670840ff8104f9d" /><Relationship Type="http://schemas.openxmlformats.org/officeDocument/2006/relationships/notesMaster" Target="/ppt/notesMasters/notesMaster1.xml" Id="Rfaf3f3b423b04d3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2261cb98da4484" /><Relationship Type="http://schemas.openxmlformats.org/officeDocument/2006/relationships/notesMaster" Target="/ppt/notesMasters/notesMaster1.xml" Id="R8dbad873aae948f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85093a5d2bf4a14" /><Relationship Type="http://schemas.openxmlformats.org/officeDocument/2006/relationships/notesMaster" Target="/ppt/notesMasters/notesMaster1.xml" Id="Rd1ebbc699a6f477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2ce29f9c950405f" /><Relationship Type="http://schemas.openxmlformats.org/officeDocument/2006/relationships/notesMaster" Target="/ppt/notesMasters/notesMaster1.xml" Id="Red231b01280142d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795d7f8493b4335" /><Relationship Type="http://schemas.openxmlformats.org/officeDocument/2006/relationships/notesMaster" Target="/ppt/notesMasters/notesMaster1.xml" Id="Re4bf1c7e0e224aa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40b924378804795" /><Relationship Type="http://schemas.openxmlformats.org/officeDocument/2006/relationships/notesMaster" Target="/ppt/notesMasters/notesMaster1.xml" Id="Rb833591b8f97468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bbea5ee142a420f" /><Relationship Type="http://schemas.openxmlformats.org/officeDocument/2006/relationships/notesMaster" Target="/ppt/notesMasters/notesMaster1.xml" Id="R5bec1e15648f444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24da1f7b2c043c9" /><Relationship Type="http://schemas.openxmlformats.org/officeDocument/2006/relationships/notesMaster" Target="/ppt/notesMasters/notesMaster1.xml" Id="Ra207c19abe70449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511f09a3fb54d67" /><Relationship Type="http://schemas.openxmlformats.org/officeDocument/2006/relationships/notesMaster" Target="/ppt/notesMasters/notesMaster1.xml" Id="Rfcc805985d83470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fdb15d572ad4292" /><Relationship Type="http://schemas.openxmlformats.org/officeDocument/2006/relationships/notesMaster" Target="/ppt/notesMasters/notesMaster1.xml" Id="R6e82eac327c246b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3b656602e0d4449" /><Relationship Type="http://schemas.openxmlformats.org/officeDocument/2006/relationships/notesMaster" Target="/ppt/notesMasters/notesMaster1.xml" Id="Red30ff41873646f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36fbd39839740cf" /><Relationship Type="http://schemas.openxmlformats.org/officeDocument/2006/relationships/notesMaster" Target="/ppt/notesMasters/notesMaster1.xml" Id="R2d245df9675b463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bc770c2cae74214" /><Relationship Type="http://schemas.openxmlformats.org/officeDocument/2006/relationships/notesMaster" Target="/ppt/notesMasters/notesMaster1.xml" Id="R712d0bcc5d5d479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177b31fa67d4293" /><Relationship Type="http://schemas.openxmlformats.org/officeDocument/2006/relationships/notesMaster" Target="/ppt/notesMasters/notesMaster1.xml" Id="Rafb0188296074c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Neither requires an affirmative expression profile.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Safety, cancer and Reproductive evidence</a:t>
            </a:r>
          </a:p>
          <a:p xmlns:a="http://schemas.openxmlformats.org/drawingml/2006/main">
            <a:r>
              <a:t>Only safety supplies Unsafe evidence. Reproductive is the umbrella for adult reproductive, placental, extraembryonic, embryonic and fetal contexts.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Diffuse expression is an identity question</a:t>
            </a:r>
          </a:p>
          <a:p xmlns:a="http://schemas.openxmlformats.org/drawingml/2006/main">
            <a:r>
              <a:t>The old normal-maximum veto is removed. Diffuseness averages N/(N+R) across fixed weighted normal contexts, including Disposable. The active 10% adult/placental identity boundary requires complete HPA measurements and the existing 5 nTPM reference. Thymus is Permissive and excluded. Supported embryonic evidence retains its separate route with unassessed concentration.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fixed GTEx core for every protein</a:t>
            </a:r>
          </a:p>
          <a:p xmlns:a="http://schemas.openxmlformats.org/drawingml/2006/main">
            <a:r>
              <a:t>GTEx v11 uses 52 native bulk contexts, 9 Reproductive and 43 other. Every member locus must be measured. 19,119 / 19,863 proteins have full coverage; no intermediate coverage profiles occur.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ZNF730: panel composition matters</a:t>
            </a:r>
          </a:p>
          <a:p xmlns:a="http://schemas.openxmlformats.org/drawingml/2006/main">
            <a:r>
              <a:t>Full tissue tables: https://pirl-unc.github.io/oncoref/audits/cta-unassigned-20261029/znf730/ . Original panels differ; scores are not a controlled assay comparison.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Hirbo et al. (2015): https://doi.org/10.1371/journal.pone.0144155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Sasaroli et al. (2011): https://doi.org/10.4161/cbt.12.3.16260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Broader published nominations</a:t>
            </a:r>
          </a:p>
          <a:p xmlns:a="http://schemas.openxmlformats.org/drawingml/2006/main">
            <a:r>
              <a:t>Sasaroli et al. (2011) https://doi.org/10.4161/cbt.12.3.16260 . Hirbo et al. (2015) https://doi.org/10.1371/journal.pone.0144155 . Exact extracted rows and matching receipts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evidence: measured branches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evidence adjusts RNA ceilings</a:t>
            </a:r>
          </a:p>
          <a:p xmlns:a="http://schemas.openxmlformats.org/drawingml/2006/main">
            <a:r>
              <a:t>One step for reviewed treated-cohort evidence without identified grade 4-5 specificity-related toxicity; cap at Enhanced. Unknown or suspected specificity injury blocks product credit. Exact peptide/HLA/receptor limits remain. Clinical trial and SAE review: https://pirl-unc.github.io/oncoref/audits/cta-tcr-trials-20261029/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Serious events and antigen specificity</a:t>
            </a:r>
          </a:p>
          <a:p xmlns:a="http://schemas.openxmlformats.org/drawingml/2006/main">
            <a:r>
              <a:t>Letetresgene Autoleucel in Advanced/Metastatic Myxoid/Round Cell Liposarcoma: https://doi.org/10.1200/JCO-24-01466</a:t>
            </a:r>
          </a:p>
          <a:p xmlns:a="http://schemas.openxmlformats.org/drawingml/2006/main">
            <a:r>
              <a:t>Autologous T cell therapy for PRAME+ advanced solid tumors in HLA-A*02+ patients: a phase 1 trial: https://doi.org/10.1038/s41591-025-03650-6</a:t>
            </a:r>
          </a:p>
          <a:p xmlns:a="http://schemas.openxmlformats.org/drawingml/2006/main">
            <a:r>
              <a:t>Autologous T cell therapy for MAGE-A4+ solid cancers in HLA-A*02+ patients: a phase 1 trial: https://doi.org/10.1038/s41591-022-02128-z</a:t>
            </a:r>
          </a:p>
          <a:p xmlns:a="http://schemas.openxmlformats.org/drawingml/2006/main">
            <a:r>
              <a:t>SPEARHEAD-1: a single-arm phase 2 trial of afamitresgene autoleucel in advanced synovial sarcoma and myxoid/round cell liposarcoma: https://doi.org/10.1016/S0140-6736(24)00319-2</a:t>
            </a:r>
          </a:p>
          <a:p xmlns:a="http://schemas.openxmlformats.org/drawingml/2006/main">
            <a:r>
              <a:t>Identification of a Titin-Derived HLA-A1-Presented Peptide as a Cross-Reactive Target for Engineered MAGE A3-Directed T Cells: https://doi.org/10.1126/scitranslmed.3006034</a:t>
            </a:r>
          </a:p>
          <a:p xmlns:a="http://schemas.openxmlformats.org/drawingml/2006/main">
            <a:r>
              <a:t>Guillain-Barre syndrome observed with adoptive transfer of lymphocytes genetically engineered with an NY-ESO-1 reactive T-cell receptor: https://doi.org/10.1186/s40425-019-0759-x</a:t>
            </a:r>
          </a:p>
          <a:p xmlns:a="http://schemas.openxmlformats.org/drawingml/2006/main">
            <a:r>
              <a:t>NCT03709706 protocol: NY-ESO-1/LAGE-1A shared peptide and c259 receptor: https://cdn.clinicaltrials.gov/large-docs/06/NCT03709706/Prot_000.pdf</a:t>
            </a:r>
          </a:p>
          <a:p xmlns:a="http://schemas.openxmlformats.org/drawingml/2006/main">
            <a:r>
              <a:t>NCT03132922 protocol: MAGE-A4 c1032 target peptide: https://cdn.clinicaltrials.gov/large-docs/22/NCT03132922/Prot_000.pdf</a:t>
            </a:r>
          </a:p>
          <a:p xmlns:a="http://schemas.openxmlformats.org/drawingml/2006/main">
            <a:r>
              <a:t>First-in-human dose escalation trial to evaluate the clinical safety and efficacy of an anti-MAGEA1 autologous TCR-transgenic T cell therapy in relapsed and refractory solid tumors: https://doi.org/10.1136/jitc-2023-008668</a:t>
            </a:r>
          </a:p>
          <a:p xmlns:a="http://schemas.openxmlformats.org/drawingml/2006/main">
            <a:r>
              <a:t>Phase I clinical trial evaluating the safety and efficacy of ADP-A2M10 SPEAR T cells in patients with MAGE-A10+ advanced non-small cell lung cancer: https://doi.org/10.1136/jitc-2021-003581</a:t>
            </a:r>
          </a:p>
          <a:p xmlns:a="http://schemas.openxmlformats.org/drawingml/2006/main">
            <a:r>
              <a:t>NY-ESO-1-specific redirected T cells with endogenous TCR knockdown mediate tumor response and cytokine release syndrome: https://doi.org/10.1136/jitc-2021-003811</a:t>
            </a:r>
          </a:p>
          <a:p xmlns:a="http://schemas.openxmlformats.org/drawingml/2006/main">
            <a:r>
              <a:t>Cancer regression and neurological toxicity following anti-MAGE-A3 TCR gene therapy: https://pubmed.ncbi.nlm.nih.gov/23377668/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Neither describes a measured profile</a:t>
            </a:r>
          </a:p>
          <a:p xmlns:a="http://schemas.openxmlformats.org/drawingml/2006/main">
            <a:r>
              <a:t>Low means below the common 2-unit expression floor in every measured source, with required normal panels and tumor/developmental measurements. Missing optional DICE/cornea is disclosed. No detected protein is not proof of absence in every unmeasured tissue.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Neither. The final profile check assigns Neither. All layers evaluate every protein;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adult/placental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healthy RNA in TPM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1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2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3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Complementary embryonic measurements</a:t>
            </a:r>
          </a:p>
          <a:p xmlns:a="http://schemas.openxmlformats.org/drawingml/2006/main">
            <a:r>
              <a:t>Tyser E-MTAB-9388 https://doi.org/10.1038/s41586-021-04158-y . Petropoulos E-MTAB-3929 https://www.ebi.ac.uk/gxa/sc/experiments/E-MTAB-3929/Results . Sources retain their own stage, cell support and donor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adult/placental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measured colon counterevidence. An independent developmental measurement cannot erase it.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Which sources have incomplete evidence</a:t>
            </a:r>
          </a:p>
          <a:p xmlns:a="http://schemas.openxmlformats.org/drawingml/2006/main">
            <a:r>
              <a:t>Source versions, complete missing tissue/cell contexts, member ENSG IDs, historical IDs, synonyms and tumor cohort coverage: https://pirl-unc.github.io/oncoref/audits/cta-source-walkthrough-20261028/coverage/ . Counts overlap and do not sum to a total.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source resolves to a concrete version</a:t>
            </a:r>
          </a:p>
          <a:p xmlns:a="http://schemas.openxmlformats.org/drawingml/2006/main">
            <a:r>
              <a:t>Data version API: https://pirl-unc.github.io/oncoref/data-versions/ . GTEx versions and pipelines: https://github.com/broadinstitute/gtex-pipeline/blob/master/rnaseq/README.md . HPA current RNA snapshot: https://github.com/pirl-unc/oncoref/releases/tag/reference-hpa-v25.1-20261028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oncoref.cta-selection.2026-10-29.4</a:t>
            </a:r>
          </a:p>
          <a:p xmlns:a="http://schemas.openxmlformats.org/drawingml/2006/main">
            <a:r>
              <a:t>Decision snapshot SHA256: 461a37f80b2dcf64845a0805a72acc13f363a373aaddb487a6f64b7131cace3e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da71809614f7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2a623f8438492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12ee2da513480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747e868ba4438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ac77c2bb194de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b1959f7eb649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1DC464C-CF33-4D50-84D9-5A0C109AB4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6EEC07E-5D79-4F0B-9533-06D88C61E9C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7A14B91-9978-49C8-98C5-63AC1F7593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47C51C-2D18-439D-84BA-B46C1ACA28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EF0BE1B-232C-45F8-B9D5-F6CDC61758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5A9AE4-ECF3-4DDA-8434-DC5CA6CCAB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169F06-CC39-46B8-B4C0-1AFDB053B6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40831DB-28CE-459A-B4EC-DB2456D590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CAA270-D61A-4D57-ACCA-406FEC39CB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512C99-1DD5-44FB-B4D9-E5D68E9B0A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bb7d84e811464b" /><Relationship Type="http://schemas.openxmlformats.org/officeDocument/2006/relationships/slideLayout" Target="/ppt/slideLayouts/slideLayout1.xml" Id="Re017cb195d104c3a" /><Relationship Type="http://schemas.openxmlformats.org/officeDocument/2006/relationships/slideLayout" Target="/ppt/slideLayouts/slideLayout2.xml" Id="Rb7a58fb7fcd44df6" /><Relationship Type="http://schemas.openxmlformats.org/officeDocument/2006/relationships/slideLayout" Target="/ppt/slideLayouts/slideLayout3.xml" Id="Re0c44462e5aa473f" /><Relationship Type="http://schemas.openxmlformats.org/officeDocument/2006/relationships/slideLayout" Target="/ppt/slideLayouts/slideLayout4.xml" Id="R7c44e6938df64637" /><Relationship Type="http://schemas.openxmlformats.org/officeDocument/2006/relationships/slideLayout" Target="/ppt/slideLayouts/slideLayout5.xml" Id="R956f43f2d13545a8" /><Relationship Type="http://schemas.openxmlformats.org/officeDocument/2006/relationships/slideLayout" Target="/ppt/slideLayouts/slideLayout6.xml" Id="R2f8877dda41f40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17cb195d104c3a"/>
    <p:sldLayoutId xmlns:r="http://schemas.openxmlformats.org/officeDocument/2006/relationships" id="2147483650" r:id="Rb7a58fb7fcd44df6"/>
    <p:sldLayoutId xmlns:r="http://schemas.openxmlformats.org/officeDocument/2006/relationships" id="2147483651" r:id="Re0c44462e5aa473f"/>
    <p:sldLayoutId xmlns:r="http://schemas.openxmlformats.org/officeDocument/2006/relationships" id="2147483652" r:id="R7c44e6938df64637"/>
    <p:sldLayoutId xmlns:r="http://schemas.openxmlformats.org/officeDocument/2006/relationships" id="2147483653" r:id="R956f43f2d13545a8"/>
    <p:sldLayoutId xmlns:r="http://schemas.openxmlformats.org/officeDocument/2006/relationships" id="2147483654" r:id="R2f8877dda41f40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e9a486ba944f8b" /><Relationship Type="http://schemas.openxmlformats.org/officeDocument/2006/relationships/notesSlide" Target="/ppt/notesSlides/notesSlide1.xml" Id="Rbc518f9a4a7246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15ff0c9fa74ae7" /><Relationship Type="http://schemas.openxmlformats.org/officeDocument/2006/relationships/notesSlide" Target="/ppt/notesSlides/notesSlide2.xml" Id="Rd194b067d57a4c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572b0813a14cdf" /><Relationship Type="http://schemas.openxmlformats.org/officeDocument/2006/relationships/hyperlink" Target="https://v23.proteinatlas.org/about/download" TargetMode="External" Id="Rfcc757e37ce04225" /><Relationship Type="http://schemas.openxmlformats.org/officeDocument/2006/relationships/hyperlink" Target="https://v23.proteinatlas.org/about/download" TargetMode="External" Id="R09c3e087f1b94371" /><Relationship Type="http://schemas.openxmlformats.org/officeDocument/2006/relationships/notesSlide" Target="/ppt/notesSlides/notesSlide3.xml" Id="R4fa9dab0257547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033ff1ae62435a" /><Relationship Type="http://schemas.openxmlformats.org/officeDocument/2006/relationships/hyperlink" Target="https://gtexportal.org/home/downloads/adult-gtex" TargetMode="External" Id="Ra7b2ec5998884cda" /><Relationship Type="http://schemas.openxmlformats.org/officeDocument/2006/relationships/hyperlink" Target="https://dice-database.org/" TargetMode="External" Id="Rd29ab026792541a9" /><Relationship Type="http://schemas.openxmlformats.org/officeDocument/2006/relationships/notesSlide" Target="/ppt/notesSlides/notesSlide4.xml" Id="R4c22a4f8212b4a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cc62a9c206417f" /><Relationship Type="http://schemas.openxmlformats.org/officeDocument/2006/relationships/notesSlide" Target="/ppt/notesSlides/notesSlide5.xml" Id="Re0aff713aa5844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69583163f84f64" /><Relationship Type="http://schemas.openxmlformats.org/officeDocument/2006/relationships/hyperlink" Target="https://doi.org/10.18632/oncotarget.21715" TargetMode="External" Id="R7cf1a3fa95804216" /><Relationship Type="http://schemas.openxmlformats.org/officeDocument/2006/relationships/hyperlink" Target="https://doi.org/10.1038/ncomms10499" TargetMode="External" Id="R59066ff128084a7e" /><Relationship Type="http://schemas.openxmlformats.org/officeDocument/2006/relationships/hyperlink" Target="https://doi.org/10.1002/cam4.2223" TargetMode="External" Id="R44290b510c9b4b52" /><Relationship Type="http://schemas.openxmlformats.org/officeDocument/2006/relationships/hyperlink" Target="https://doi.org/10.1038/s41467-021-22695-y" TargetMode="External" Id="Ra87c389b372b40c0" /><Relationship Type="http://schemas.openxmlformats.org/officeDocument/2006/relationships/hyperlink" Target="https://doi.org/10.1038/s41388-018-0357-2" TargetMode="External" Id="R1ad9d5d440b141c3" /><Relationship Type="http://schemas.openxmlformats.org/officeDocument/2006/relationships/hyperlink" Target="https://doi.org/10.1002/1878-0261.12900" TargetMode="External" Id="Rcbec7d0082b640ec" /><Relationship Type="http://schemas.openxmlformats.org/officeDocument/2006/relationships/hyperlink" Target="https://doi.org/10.1371/journal.pgen.1011734" TargetMode="External" Id="R7eae4f33ca464767" /><Relationship Type="http://schemas.openxmlformats.org/officeDocument/2006/relationships/hyperlink" Target="https://doi.org/10.1136/jitc-2023-007935" TargetMode="External" Id="R14aff16d98d1460b" /><Relationship Type="http://schemas.openxmlformats.org/officeDocument/2006/relationships/hyperlink" Target="https://doi.org/10.1371/journal.pone.0144155" TargetMode="External" Id="Red64924c76cb4ccc" /><Relationship Type="http://schemas.openxmlformats.org/officeDocument/2006/relationships/hyperlink" Target="https://doi.org/10.1186/s12967-024-04918-0" TargetMode="External" Id="R214acde76f59444a" /><Relationship Type="http://schemas.openxmlformats.org/officeDocument/2006/relationships/hyperlink" Target="https://doi.org/10.4161/cbt.12.3.16260" TargetMode="External" Id="Rae7bb018e04e4cfc" /><Relationship Type="http://schemas.openxmlformats.org/officeDocument/2006/relationships/hyperlink" Target="https://doi.org/10.1158/1078-0432.CCR-06-2340" TargetMode="External" Id="Rca6c825adaee4fea" /><Relationship Type="http://schemas.openxmlformats.org/officeDocument/2006/relationships/notesSlide" Target="/ppt/notesSlides/notesSlide6.xml" Id="Rcfc4ad606b5949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acb475af774a3d" /><Relationship Type="http://schemas.openxmlformats.org/officeDocument/2006/relationships/hyperlink" Target="https://doi.org/10.4161/cbt.12.3.16260" TargetMode="External" Id="Rfee65b5baa04435e" /><Relationship Type="http://schemas.openxmlformats.org/officeDocument/2006/relationships/hyperlink" Target="https://doi.org/10.1371/journal.pone.0144155" TargetMode="External" Id="R6ca3dd93fc184109" /><Relationship Type="http://schemas.openxmlformats.org/officeDocument/2006/relationships/hyperlink" Target="https://doi.org/10.1158/1078-0432.CCR-06-2340" TargetMode="External" Id="R92e4576784e540b3" /><Relationship Type="http://schemas.openxmlformats.org/officeDocument/2006/relationships/notesSlide" Target="/ppt/notesSlides/notesSlide7.xml" Id="Rc1c915288e5241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b46d29504a4ae0" /><Relationship Type="http://schemas.openxmlformats.org/officeDocument/2006/relationships/image" Target="/ppt/media/image.png" Id="R8b716ad9af1046d6" /><Relationship Type="http://schemas.openxmlformats.org/officeDocument/2006/relationships/notesSlide" Target="/ppt/notesSlides/notesSlide8.xml" Id="R140d84b2558f4a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37a0c203540fe" /><Relationship Type="http://schemas.openxmlformats.org/officeDocument/2006/relationships/notesSlide" Target="/ppt/notesSlides/notesSlide9.xml" Id="Re38057fb4e514a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2820fc5f1348d9" /><Relationship Type="http://schemas.openxmlformats.org/officeDocument/2006/relationships/hyperlink" Target="https://v23.proteinatlas.org/about/download" TargetMode="External" Id="R2dcc8c82e8e44d27" /><Relationship Type="http://schemas.openxmlformats.org/officeDocument/2006/relationships/hyperlink" Target="https://gtexportal.org/home/downloads/adult-gtex" TargetMode="External" Id="R3be53d302640491b" /><Relationship Type="http://schemas.openxmlformats.org/officeDocument/2006/relationships/hyperlink" Target="https://v23.proteinatlas.org/about/download" TargetMode="External" Id="Ra8da261af403446d" /><Relationship Type="http://schemas.openxmlformats.org/officeDocument/2006/relationships/hyperlink" Target="https://v23.proteinatlas.org/about/download" TargetMode="External" Id="R0c78c132ada646a0" /><Relationship Type="http://schemas.openxmlformats.org/officeDocument/2006/relationships/hyperlink" Target="https://dice-database.org/" TargetMode="External" Id="Rd28e3b056ea34b06" /><Relationship Type="http://schemas.openxmlformats.org/officeDocument/2006/relationships/hyperlink" Target="https://www.ncbi.nlm.nih.gov/geo/query/acc.cgi?acc=GSE155683" TargetMode="External" Id="R9cdc85b58f1e488f" /><Relationship Type="http://schemas.openxmlformats.org/officeDocument/2006/relationships/hyperlink" Target="https://v23.proteinatlas.org/about/download" TargetMode="External" Id="Re461ba8854d94515" /><Relationship Type="http://schemas.openxmlformats.org/officeDocument/2006/relationships/hyperlink" Target="https://dice-database.org/" TargetMode="External" Id="R80f304e907f34f2c" /><Relationship Type="http://schemas.openxmlformats.org/officeDocument/2006/relationships/notesSlide" Target="/ppt/notesSlides/notesSlide10.xml" Id="R2b2768ee9912422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a6b3a1d7f348ae" /><Relationship Type="http://schemas.openxmlformats.org/officeDocument/2006/relationships/notesSlide" Target="/ppt/notesSlides/notesSlide11.xml" Id="Rb583287fd5b14d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fdcaee5fd84b9a" /><Relationship Type="http://schemas.openxmlformats.org/officeDocument/2006/relationships/notesSlide" Target="/ppt/notesSlides/notesSlide12.xml" Id="R53e8a1a5166b4a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473bbcd2ac4003" /><Relationship Type="http://schemas.openxmlformats.org/officeDocument/2006/relationships/hyperlink" Target="https://pirl-unc.github.io/oncoref/audits/cta-tcr-trials-20261029/" TargetMode="External" Id="Rb78e8c464d2b4a99" /><Relationship Type="http://schemas.openxmlformats.org/officeDocument/2006/relationships/notesSlide" Target="/ppt/notesSlides/notesSlide13.xml" Id="R651af6081bd146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ea1db1e3d14db9" /><Relationship Type="http://schemas.openxmlformats.org/officeDocument/2006/relationships/notesSlide" Target="/ppt/notesSlides/notesSlide14.xml" Id="R47be7591f1614e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aa3c5a15f5495e" /><Relationship Type="http://schemas.openxmlformats.org/officeDocument/2006/relationships/chart" Target="/ppt/slides/charts/chart1.xml" Id="R9dc7f7938c994ff6" /><Relationship Type="http://schemas.openxmlformats.org/officeDocument/2006/relationships/notesSlide" Target="/ppt/notesSlides/notesSlide15.xml" Id="Rdbe661a7578148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e071e9cbc04c48" /><Relationship Type="http://schemas.openxmlformats.org/officeDocument/2006/relationships/hyperlink" Target="https://dice-database.org/" TargetMode="External" Id="R32017ed476b24e22" /><Relationship Type="http://schemas.openxmlformats.org/officeDocument/2006/relationships/notesSlide" Target="/ppt/notesSlides/notesSlide16.xml" Id="R10cecd05bb1b41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69691f161c4e68" /><Relationship Type="http://schemas.openxmlformats.org/officeDocument/2006/relationships/notesSlide" Target="/ppt/notesSlides/notesSlide17.xml" Id="Raa6669e4fefc4c0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faba7dc1204d72" /><Relationship Type="http://schemas.openxmlformats.org/officeDocument/2006/relationships/image" Target="/ppt/media/image2.png" Id="Rbeeb0c5b00084b7a" /><Relationship Type="http://schemas.openxmlformats.org/officeDocument/2006/relationships/notesSlide" Target="/ppt/notesSlides/notesSlide18.xml" Id="R9e34be9dc97e483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3a768df4724ace" /><Relationship Type="http://schemas.openxmlformats.org/officeDocument/2006/relationships/image" Target="/ppt/media/image3.png" Id="R85ab1805c0514598" /><Relationship Type="http://schemas.openxmlformats.org/officeDocument/2006/relationships/notesSlide" Target="/ppt/notesSlides/notesSlide19.xml" Id="Rf6fc7b68c263450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8b4d9d9f4a4ab2" /><Relationship Type="http://schemas.openxmlformats.org/officeDocument/2006/relationships/image" Target="/ppt/media/image4.png" Id="R87bf56597c05480d" /><Relationship Type="http://schemas.openxmlformats.org/officeDocument/2006/relationships/notesSlide" Target="/ppt/notesSlides/notesSlide20.xml" Id="Rba72c71d945f463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7b6459e234487" /><Relationship Type="http://schemas.openxmlformats.org/officeDocument/2006/relationships/image" Target="/ppt/media/image5.png" Id="R2ee3f19007df4430" /><Relationship Type="http://schemas.openxmlformats.org/officeDocument/2006/relationships/notesSlide" Target="/ppt/notesSlides/notesSlide21.xml" Id="R1c87180235de461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67663162d74f6a" /><Relationship Type="http://schemas.openxmlformats.org/officeDocument/2006/relationships/image" Target="/ppt/media/image6.png" Id="R2106f8e3921a4704" /><Relationship Type="http://schemas.openxmlformats.org/officeDocument/2006/relationships/notesSlide" Target="/ppt/notesSlides/notesSlide22.xml" Id="R0ae7e90d0ed64a7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6bb4fe105d4aca" /><Relationship Type="http://schemas.openxmlformats.org/officeDocument/2006/relationships/image" Target="/ppt/media/image7.png" Id="R01e46a7ee10e49d8" /><Relationship Type="http://schemas.openxmlformats.org/officeDocument/2006/relationships/notesSlide" Target="/ppt/notesSlides/notesSlide23.xml" Id="R6f3fbb00701f4e9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9059e3f36d4f20" /><Relationship Type="http://schemas.openxmlformats.org/officeDocument/2006/relationships/hyperlink" Target="https://doi.org/10.1038/s41586-021-04158-y" TargetMode="External" Id="R6f6e0b4fa42845aa" /><Relationship Type="http://schemas.openxmlformats.org/officeDocument/2006/relationships/hyperlink" Target="https://www.ebi.ac.uk/gxa/sc/experiments/E-MTAB-3929/Results" TargetMode="External" Id="R98d5948c877246c7" /><Relationship Type="http://schemas.openxmlformats.org/officeDocument/2006/relationships/notesSlide" Target="/ppt/notesSlides/notesSlide24.xml" Id="R722e456bffd94f3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d94d5af0f24575" /><Relationship Type="http://schemas.openxmlformats.org/officeDocument/2006/relationships/image" Target="/ppt/media/image8.png" Id="R409206de48aa470b" /><Relationship Type="http://schemas.openxmlformats.org/officeDocument/2006/relationships/notesSlide" Target="/ppt/notesSlides/notesSlide25.xml" Id="R7aeabf04e98b4c4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773a31912f494f" /><Relationship Type="http://schemas.openxmlformats.org/officeDocument/2006/relationships/image" Target="/ppt/media/image9.png" Id="Rc98723cbbc684790" /><Relationship Type="http://schemas.openxmlformats.org/officeDocument/2006/relationships/notesSlide" Target="/ppt/notesSlides/notesSlide26.xml" Id="R66815c7ede2844b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df5507656a4f59" /><Relationship Type="http://schemas.openxmlformats.org/officeDocument/2006/relationships/notesSlide" Target="/ppt/notesSlides/notesSlide27.xml" Id="R8876e7919f17420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29f33a46f04dce" /><Relationship Type="http://schemas.openxmlformats.org/officeDocument/2006/relationships/hyperlink" Target="https://v23.proteinatlas.org/about/download" TargetMode="External" Id="R02121a678444482c" /><Relationship Type="http://schemas.openxmlformats.org/officeDocument/2006/relationships/hyperlink" Target="https://v23.proteinatlas.org/about/download" TargetMode="External" Id="Rd88f87e97b1e4fe2" /><Relationship Type="http://schemas.openxmlformats.org/officeDocument/2006/relationships/hyperlink" Target="https://v23.proteinatlas.org/about/download" TargetMode="External" Id="Rebfdd24acf1c473d" /><Relationship Type="http://schemas.openxmlformats.org/officeDocument/2006/relationships/hyperlink" Target="https://v23.proteinatlas.org/about/download" TargetMode="External" Id="R8b8ca708dfc14cb7" /><Relationship Type="http://schemas.openxmlformats.org/officeDocument/2006/relationships/hyperlink" Target="https://gtexportal.org/home/downloads/adult-gtex" TargetMode="External" Id="R6253e9d802d143d0" /><Relationship Type="http://schemas.openxmlformats.org/officeDocument/2006/relationships/hyperlink" Target="https://v23.proteinatlas.org/about/download" TargetMode="External" Id="R1da5269928db44e9" /><Relationship Type="http://schemas.openxmlformats.org/officeDocument/2006/relationships/hyperlink" Target="https://dice-database.org/" TargetMode="External" Id="R23c636e8be564caa" /><Relationship Type="http://schemas.openxmlformats.org/officeDocument/2006/relationships/notesSlide" Target="/ppt/notesSlides/notesSlide28.xml" Id="R73d7813ffc054ba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23627981c24c76" /><Relationship Type="http://schemas.openxmlformats.org/officeDocument/2006/relationships/notesSlide" Target="/ppt/notesSlides/notesSlide29.xml" Id="R167df37921504e7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45f69ce98f4124" /><Relationship Type="http://schemas.openxmlformats.org/officeDocument/2006/relationships/hyperlink" Target="https://doi.org/10.1038/s41467-024-47649-y" TargetMode="External" Id="R986c0961114847e9" /><Relationship Type="http://schemas.openxmlformats.org/officeDocument/2006/relationships/hyperlink" Target="https://pmc.ncbi.nlm.nih.gov/articles/PMC11388079/" TargetMode="External" Id="R3ee9ef86b4f54829" /><Relationship Type="http://schemas.openxmlformats.org/officeDocument/2006/relationships/hyperlink" Target="https://pmc.ncbi.nlm.nih.gov/articles/PMC6658352/" TargetMode="External" Id="R1428b28174b24afd" /><Relationship Type="http://schemas.openxmlformats.org/officeDocument/2006/relationships/notesSlide" Target="/ppt/notesSlides/notesSlide30.xml" Id="R62ae8ac9f51e480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7a409db82144ce" /><Relationship Type="http://schemas.openxmlformats.org/officeDocument/2006/relationships/notesSlide" Target="/ppt/notesSlides/notesSlide31.xml" Id="R26083d661b85457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5a46a8fce848ec" /><Relationship Type="http://schemas.openxmlformats.org/officeDocument/2006/relationships/hyperlink" Target="https://gtexportal.org/home/downloads/adult-gtex" TargetMode="External" Id="Ref73cb1e66004256" /><Relationship Type="http://schemas.openxmlformats.org/officeDocument/2006/relationships/hyperlink" Target="https://www.proteinatlas.org/about/releases" TargetMode="External" Id="R892ab019866243b8" /><Relationship Type="http://schemas.openxmlformats.org/officeDocument/2006/relationships/hyperlink" Target="https://gtexportal.org/home/downloads/adult-gtex" TargetMode="External" Id="Rdecf7a234bd142a0" /><Relationship Type="http://schemas.openxmlformats.org/officeDocument/2006/relationships/hyperlink" Target="https://v23.proteinatlas.org/about/download" TargetMode="External" Id="R6d155b0ce9704e32" /><Relationship Type="http://schemas.openxmlformats.org/officeDocument/2006/relationships/notesSlide" Target="/ppt/notesSlides/notesSlide32.xml" Id="Rc7ebac52971b4eb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Data'!$B$2:$B$16</c:f>
              <c:numCache>
                <c:formatCode>General</c:formatCode>
                <c:ptCount val="15"/>
                <c:pt idx="0">
                  <c:v>522</c:v>
                </c:pt>
                <c:pt idx="1">
                  <c:v>522</c:v>
                </c:pt>
                <c:pt idx="2">
                  <c:v>522</c:v>
                </c:pt>
                <c:pt idx="3">
                  <c:v>523</c:v>
                </c:pt>
                <c:pt idx="4">
                  <c:v>524</c:v>
                </c:pt>
                <c:pt idx="5">
                  <c:v>527</c:v>
                </c:pt>
                <c:pt idx="6">
                  <c:v>542</c:v>
                </c:pt>
                <c:pt idx="7">
                  <c:v>545</c:v>
                </c:pt>
                <c:pt idx="8">
                  <c:v>552</c:v>
                </c:pt>
                <c:pt idx="9">
                  <c:v>731</c:v>
                </c:pt>
                <c:pt idx="10">
                  <c:v>4012</c:v>
                </c:pt>
                <c:pt idx="11">
                  <c:v>4223</c:v>
                </c:pt>
                <c:pt idx="12">
                  <c:v>4414</c:v>
                </c:pt>
                <c:pt idx="13">
                  <c:v>15314</c:v>
                </c:pt>
                <c:pt idx="14">
                  <c:v>15327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Data'!$D$2:$D$16</c:f>
              <c:numCache>
                <c:formatCode>General</c:formatCode>
                <c:ptCount val="15"/>
                <c:pt idx="0">
                  <c:v>18031</c:v>
                </c:pt>
                <c:pt idx="1">
                  <c:v>18031</c:v>
                </c:pt>
                <c:pt idx="2">
                  <c:v>18031</c:v>
                </c:pt>
                <c:pt idx="3">
                  <c:v>18030</c:v>
                </c:pt>
                <c:pt idx="4">
                  <c:v>18028</c:v>
                </c:pt>
                <c:pt idx="5">
                  <c:v>18016</c:v>
                </c:pt>
                <c:pt idx="6">
                  <c:v>17961</c:v>
                </c:pt>
                <c:pt idx="7">
                  <c:v>17944</c:v>
                </c:pt>
                <c:pt idx="8">
                  <c:v>17914</c:v>
                </c:pt>
                <c:pt idx="9">
                  <c:v>17500</c:v>
                </c:pt>
                <c:pt idx="10">
                  <c:v>10094</c:v>
                </c:pt>
                <c:pt idx="11">
                  <c:v>10094</c:v>
                </c:pt>
                <c:pt idx="12">
                  <c:v>10094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2"/>
          <c:order val="2"/>
          <c:tx>
            <c:v>Neither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Data'!$F$2:$F$16</c:f>
              <c:numCache>
                <c:formatCode>General</c:formatCode>
                <c:ptCount val="15"/>
                <c:pt idx="0">
                  <c:v>20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Data'!$G$2:$G$16</c:f>
              <c:strCache>
                <c:ptCount val="15"/>
                <c:pt idx="0">
                  <c:v>Neither profiles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Data'!$H$2:$H$16</c:f>
              <c:numCache>
                <c:formatCode>General</c:formatCode>
                <c:ptCount val="15"/>
                <c:pt idx="0">
                  <c:v>1290</c:v>
                </c:pt>
                <c:pt idx="1">
                  <c:v>1310</c:v>
                </c:pt>
                <c:pt idx="2">
                  <c:v>1310</c:v>
                </c:pt>
                <c:pt idx="3">
                  <c:v>1310</c:v>
                </c:pt>
                <c:pt idx="4">
                  <c:v>1311</c:v>
                </c:pt>
                <c:pt idx="5">
                  <c:v>1320</c:v>
                </c:pt>
                <c:pt idx="6">
                  <c:v>1360</c:v>
                </c:pt>
                <c:pt idx="7">
                  <c:v>1374</c:v>
                </c:pt>
                <c:pt idx="8">
                  <c:v>1397</c:v>
                </c:pt>
                <c:pt idx="9">
                  <c:v>1632</c:v>
                </c:pt>
                <c:pt idx="10">
                  <c:v>5757</c:v>
                </c:pt>
                <c:pt idx="11">
                  <c:v>5546</c:v>
                </c:pt>
                <c:pt idx="12">
                  <c:v>5355</c:v>
                </c:pt>
                <c:pt idx="13">
                  <c:v>4549</c:v>
                </c:pt>
                <c:pt idx="14">
                  <c:v>4536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26393F-B88A-40C7-B2A3-06FB81C0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514D5-8D00-4000-9893-7D017B63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D76D20-3D7B-4C20-85EE-F8C53EDF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841234-49B9-4F52-B7FC-D68D585C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62252-1C1E-4CD0-B663-60C3D7BA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522 human CTA proteins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DBC34-540C-4807-9AE5-790CB90E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558 loci   /   18,031 Unsafe   /   20 Neither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75F9A-93A7-4D48-BA6C-E2E5AE40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1,290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93F4A-5930-4C7A-9845-52D54BC4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793282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0B0FF-0FF1-4451-90CA-23F73A0C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INDEPENDENT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D666B-5D3C-41A7-8A56-10127CC5C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Safety, cancer and Reproductive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E0152-A49D-4DB3-9423-1EC6D924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4DD24-3402-4FD9-B5C4-F1C92285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ABFBB-5C7C-40D0-B1B5-E55FB65F9FC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305300"/>
                <a:gridCol w="3810000"/>
              </a:tblGrid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rule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Safety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Concerning normal expression?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Absolute RNA / IHC and clinical rules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Expressed in a measured cancer?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sample ≥2 TPM or pTPM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Expression in a qualifying branch?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Adult/placental ≥5 nTPM or supported embryonic ≥5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Are required panels measured?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GTEx core contexts and existing HPA panels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6003E-3514-40C4-835D-FD9E5B4D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safety establishes Unsafe. Missing core data remain unassigned. RNA is not a direct protein measurement.</a:t>
            </a:r>
          </a:p>
        </p:txBody>
      </p:sp>
    </p:spTree>
    <p:extLst>
      <p:ext uri="{BB962C8B-B14F-4D97-AF65-F5344CB8AC3E}">
        <p14:creationId xmlns:p14="http://schemas.microsoft.com/office/powerpoint/2010/main" val="19205423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C6AC9-E04C-40CB-88EC-EB1F5AA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HPA PROFILE IDENTITY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27E04F-9150-4DB7-B29F-8F819446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Diffuse expression is an identity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C53B14-824E-4940-8EF8-E80A7646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E9B873-E596-4188-BF27-EC8BE507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8BE86-2551-44F1-81B6-5142B0656C2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Term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cc757e37ce04225"/>
                        </a:rPr>
                        <a:t>HPA v23</a:t>
                      </a:r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normal-tissue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Highest Reproductive nTPM in </a:t>
                      </a:r>
                      <a:r>
                        <a:rPr sz="2025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09c3e087f1b94371"/>
                        </a:rPr>
                        <a:t>HPA v23</a:t>
                      </a:r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(adult/placental)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 / (N + R)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Average across 29 organs / 38 contexts; thymus excluded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Active boundary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Average &gt;10%, with R ≥5 and a complete comparison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914935-139D-4153-9EF5-AD42FB02F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MTCP1 moves to Neither: 24.53%. Thymus is excluded. Embryonic concentration remains unassessed.</a:t>
            </a:r>
          </a:p>
        </p:txBody>
      </p:sp>
    </p:spTree>
    <p:extLst>
      <p:ext uri="{BB962C8B-B14F-4D97-AF65-F5344CB8AC3E}">
        <p14:creationId xmlns:p14="http://schemas.microsoft.com/office/powerpoint/2010/main" val="13427261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2D7C4-41F9-4665-AA91-1D1A0F8E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38D19-DB97-4A49-BBE9-8D4AA95E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 fixed GTEx core for every protein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C58767-BCDB-42B4-AD46-E03E9531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7C61D-4002-4F15-A27A-A4C793FE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93EB2C-229B-424F-B1AC-5BEC3EB33B3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Interpretation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7b2ec5998884cda"/>
                        </a:rPr>
                        <a:t>GTEx v11</a:t>
                      </a:r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52 bulk contexts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 contexts for every protein; measured zero counts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 loci measured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identities are not replaced by paralogs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core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Blocks CTA; unassigned unless independent Unsafe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Optional </a:t>
                      </a:r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29ab026792541a9"/>
                        </a:rPr>
                        <a:t>DICE</a:t>
                      </a:r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coverage allowed; observed safety evidence counts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F02A37-64DC-4EA0-ADE2-6B52C7A3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GTEx does not cover every organ, fetal stage or rare cell. Existing HPA cell / immune coverage requirements also apply.</a:t>
            </a:r>
          </a:p>
        </p:txBody>
      </p:sp>
    </p:spTree>
    <p:extLst>
      <p:ext uri="{BB962C8B-B14F-4D97-AF65-F5344CB8AC3E}">
        <p14:creationId xmlns:p14="http://schemas.microsoft.com/office/powerpoint/2010/main" val="86743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379B8-67A6-49E0-8630-BCFC47EF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CALCULATION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FC3DF-5DD9-44CA-AFE2-EDC9CE8F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ZNF730: panel composition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146B3D-38CA-4998-B18C-E5BC3B37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4CDF2-56B3-4A1C-90BB-02F5ECF8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B2FC7-F243-4768-9DFA-849D4B13995B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3295650"/>
                <a:gridCol w="3295650"/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Calculation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GTEx v11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reference (testis)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4.9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4.91414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Full source panel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9.53%: 29 anatomy units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1.65%: 23 anatomy units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 20 anatomy units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6.36%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1.71%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6D361-B8FB-4ED1-BC90-78201638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Thymus is Permissive: excluded from both sides of the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63602-AFD5-489A-A977-C6A928C3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Thymus exclusion changes HPA 10.34% → 9.53%. Independent safety evidence keeps ZNF730 Unsafe.</a:t>
            </a:r>
          </a:p>
        </p:txBody>
      </p:sp>
    </p:spTree>
    <p:extLst>
      <p:ext uri="{BB962C8B-B14F-4D97-AF65-F5344CB8AC3E}">
        <p14:creationId xmlns:p14="http://schemas.microsoft.com/office/powerpoint/2010/main" val="9990299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71110D-3DB6-4646-86BA-5C039BDF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7B662-7D66-41F7-A521-951CB33C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C5264-8A62-4DA6-9A44-9C6C35C4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AAD01-A727-448F-A517-643FF8BC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45EA0-30BF-40BF-A202-DF9E6B2699D2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cf1a3fa95804216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59066ff128084a7e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4290b510c9b4b52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87c389b372b40c0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ad9d5d440b141c3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bec7d0082b640ec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eae4f33ca464767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4aff16d98d1460b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d64924c76cb4ccc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214acde76f59444a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e7bb018e04e4cfc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a6c825adaee4fea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171319-7A86-4234-80B3-9865FEBD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2,514 proteins / 2,570 loci. 434 selected proteins have an annotation; 88 do not.</a:t>
            </a:r>
          </a:p>
        </p:txBody>
      </p:sp>
    </p:spTree>
    <p:extLst>
      <p:ext uri="{BB962C8B-B14F-4D97-AF65-F5344CB8AC3E}">
        <p14:creationId xmlns:p14="http://schemas.microsoft.com/office/powerpoint/2010/main" val="9092237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B5D06B-831F-46E9-A024-EA35A0EB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DF17B-CAAD-4F5B-B7B4-D88F3167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Broader published nominations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0D9CC-C772-423F-9376-9348A0FE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3C7EDF-FAF8-42A4-9AA8-12603E00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E5E913-B273-4C87-864B-EF237907FCB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5429250"/>
                <a:gridCol w="2781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 accounting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ee65b5baa04435e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detailed tumor-vascular candidates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matched genes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6ca3dd93fc184109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 placenta-enriched genes, including 30 fast-evolving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 matched, 4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Compact source view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Bai, Boël and Bradley covered by larger 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memberships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2e4576784e540b3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Still uniquely contributes 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Retained in main view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FDEE06-BD07-424D-8DB8-504E3676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Vascular and placental nominations retain their scope. Paper membership never bypasses the quantitative funnel.</a:t>
            </a:r>
          </a:p>
        </p:txBody>
      </p:sp>
    </p:spTree>
    <p:extLst>
      <p:ext uri="{BB962C8B-B14F-4D97-AF65-F5344CB8AC3E}">
        <p14:creationId xmlns:p14="http://schemas.microsoft.com/office/powerpoint/2010/main" val="2658867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08B13-AB00-4C28-92D0-A34EF722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B0E51-F34F-43EE-B45E-50BF3B39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D571C-FC27-43BB-B5F1-E2786615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D2AFB-7D7B-42A9-B22F-47F9825E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E20BF-A17F-4510-BEFD-FEAA8703DE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716ad9af1046d6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0522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D735C8-678D-447E-98C2-DFCE59D6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AC2B4-30AC-4F5E-9C49-7CEF8B64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evidence: measured branches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77A69-2383-4B8A-8FE0-11C0FFF7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27B51-18AD-4112-94AD-211A3C65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84613-4D71-48AF-84B3-5CE4BEE304ED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Adult/placental evidence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2,322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Embryonic-only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2,095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 measured routes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10,910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B09BC-01CA-4225-99C4-5F30E1AF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Whole-reference RNA measurements create this set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71675F-D885-481D-8C4E-45FD59A7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Entrants count positive expression before the other admission gates. Reproductive presence and profile concentration are separate questions.</a:t>
            </a:r>
          </a:p>
        </p:txBody>
      </p:sp>
    </p:spTree>
    <p:extLst>
      <p:ext uri="{BB962C8B-B14F-4D97-AF65-F5344CB8AC3E}">
        <p14:creationId xmlns:p14="http://schemas.microsoft.com/office/powerpoint/2010/main" val="10446579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6B68C-3E2E-4BAB-9028-0AF7EBAE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6056-C95B-4358-BA7F-D7F6D046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CBA96-9596-43CB-A595-120C97AA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564E7-E670-439F-811D-1F89ED87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A9709-0251-4641-9CC7-7CF4EAA54D28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2dcc8c82e8e44d27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consensus / brain +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be53d302640491b"/>
                        </a:rPr>
                        <a:t>GTEx v11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8da261af403446d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0c78c132ada646a0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Monaco / original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28e3b056ea34b06"/>
                        </a:rPr>
                        <a:t>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cdc85b58f1e488f"/>
                        </a:rPr>
                        <a:t>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461ba8854d94515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gastrulation + Petropoulos preimplantation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 / 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A9BB5-9A9B-4F44-A0D9-535425B4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80f304e907f34f2c"/>
              </a:rPr>
              <a:t>DICE</a:t>
            </a: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1702362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2E6F9-8220-4EE5-B711-40C34928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8884CB-4BE3-4BA7-A0A6-F29946DE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D8032-9745-484A-AE82-BAE88D27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2FD62-C9DE-4811-9BB4-B7FEE24C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23E63-D55D-43E3-BD37-DD308822D19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59C92-826F-4C84-ACAC-2ACD89C3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4D2A3-2503-491B-9C85-6526B644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2620591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C33B8-1E9A-40CD-B09A-467D90E1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TCR-T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57F760-EB43-4333-A4B3-F2027386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Clinical evidence adjusts RNA ceilings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38B17-2BD2-45BB-A357-25A7A744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3159F-D97E-4D86-90C1-A6AFD07D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B9AAF-BF5E-4F0F-956C-7BDC2EAEF36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With clinical credit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FFECC-E391-4A6E-A8AF-3D168B31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IHC grades stay unchanged. Trials do not stack.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BA14C-F6A8-4094-953B-8CA600BB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Protein and clinical-injury exclusions remain. This is protein-profile credit with tested epitope limitations, not clinical clearance.</a:t>
            </a:r>
          </a:p>
        </p:txBody>
      </p:sp>
    </p:spTree>
    <p:extLst>
      <p:ext uri="{BB962C8B-B14F-4D97-AF65-F5344CB8AC3E}">
        <p14:creationId xmlns:p14="http://schemas.microsoft.com/office/powerpoint/2010/main" val="587740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60470-C281-4C0D-9919-5820688D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CLINICAL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5C801-BEEA-408A-800D-B901878F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Serious events and antigen specificity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F3B06-F81D-431F-AED1-2D3490F0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271EA-6CE9-4FFC-9BF8-94F635BB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54056-C19F-43D2-AA59-DB1BE16D7DB0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905250"/>
                <a:gridCol w="3686175"/>
              </a:tblGrid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Targeted CTA epitope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Important event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Specificity attribution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MAGE-A3 / a3a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Two fatal cardiac injuries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Titin cross-recognition implicated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MAGE-A3/A9 / NCI receptor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Three neurological cases; two deaths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MAGE-A12 brain recognition implicated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NY-ESO-1 / LAGE-1A, c259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Late cardiac death; two GBS cases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Peptide-specific mechanism not established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NY-ESO-1 / TBI-1301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Grade 3 lung injury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Unresolved; no credit for this product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MAGE-A4 / afami-cel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Aplasia and stroke deaths in phase 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demonstrated antigen-specific mechanism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MAGE-A10 / ADP-A2M10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Grade 4 CRS; fatal aplasia after repeat treatment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Conditioning favored for marrow injury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A224B-9E6E-4811-A64A-E961CB36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b78e8c464d2b4a99"/>
              </a:rPr>
              <a:t>Clinical trial and SAE review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. Seriousness differs from severity; this is a selected summary, not a pooled event rate.</a:t>
            </a:r>
          </a:p>
        </p:txBody>
      </p:sp>
    </p:spTree>
    <p:extLst>
      <p:ext uri="{BB962C8B-B14F-4D97-AF65-F5344CB8AC3E}">
        <p14:creationId xmlns:p14="http://schemas.microsoft.com/office/powerpoint/2010/main" val="7114314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F827D4-77BB-407C-B50D-4C112A77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CATEGORY DEFINITIONS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5D0FF-F12E-4BFB-A870-E02875D5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Neither describes a measured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3FE6F-17AA-4B0C-8292-FE7B70CC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A6867E-5751-4613-B08B-140F28DE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53E3F-EE47-4654-96CE-35710F0887F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7115175"/>
                <a:gridCol w="1333500"/>
              </a:tblGrid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RNA below 2 across measured normal / reproductive / embryonic / tumor panels; no detected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association route; RNA ≥2 in at least two Manageable tissue concepts; no Vital / Protected exclusion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Diffuse Reproductive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score &gt;10%; no qualifying route left; normal safety passes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424031-4263-47E5-A62E-177FE675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All require complete normal RNA coverage and resolved evidence. Other failures remain unassigned.</a:t>
            </a:r>
          </a:p>
        </p:txBody>
      </p:sp>
    </p:spTree>
    <p:extLst>
      <p:ext uri="{BB962C8B-B14F-4D97-AF65-F5344CB8AC3E}">
        <p14:creationId xmlns:p14="http://schemas.microsoft.com/office/powerpoint/2010/main" val="10769171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6B14D-469B-45D7-A683-222FCA7D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821AA-9718-40CE-AACD-010C5426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616AD-19AD-4370-A2D4-A13FD300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F975BD-0C82-46FB-AEA3-2042F112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8218E15-9144-4754-B869-F7F090FB4179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c7f7938c994ff6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31203-A1D5-4320-858F-50029F96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522 CTA / 18,031 Unsafe / 20 Neither / 1,290 unassigned.</a:t>
            </a:r>
          </a:p>
        </p:txBody>
      </p:sp>
    </p:spTree>
    <p:extLst>
      <p:ext uri="{BB962C8B-B14F-4D97-AF65-F5344CB8AC3E}">
        <p14:creationId xmlns:p14="http://schemas.microsoft.com/office/powerpoint/2010/main" val="19586747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100940-6CD8-4144-A752-2CC3DF9DA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54D58-C619-4F0F-B006-95CE159B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BA9000-DCC0-49AD-937B-459349B6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3FED5-1EC2-47E0-A2C6-17A33DB2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FC2E6-EE6A-4006-A7B3-11A16E4B931D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4,536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sample ≥2 TPM/pTPM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15,314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10,900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4,414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191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4,223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concentration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4,012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3,281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552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2017ed476b24e22"/>
                        </a:rPr>
                        <a:t>DICE</a:t>
                      </a:r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Neither expression profiles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7C27DF-8EDA-45F4-BAB8-BAE4C70D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MTCP1 changes category; other concentration failures also fail other gates.</a:t>
            </a:r>
          </a:p>
        </p:txBody>
      </p:sp>
    </p:spTree>
    <p:extLst>
      <p:ext uri="{BB962C8B-B14F-4D97-AF65-F5344CB8AC3E}">
        <p14:creationId xmlns:p14="http://schemas.microsoft.com/office/powerpoint/2010/main" val="20006969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DA9BC-EE3A-49F7-913D-611AEB5D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A349E-3B25-48AA-AF41-BC4279F0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0233F-5A8A-4A84-9483-85A11E61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3C0BCF-853D-4AEF-8A6E-74F716AD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C4B0A-E2DB-441E-81E5-5CA2D9122EDD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IHC coverage; Vital 4 → 8 with IMA203 credit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BF4FE-6453-4157-9630-EF402CBA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84742409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7604E-4AD6-4D99-9A22-09902184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7AC6B-ADA7-473B-841F-399B68C4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adult/placental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C7372-7FEC-4FDF-83E6-BB61EAD7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8715D-AD08-4499-9462-38BFF645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0F77ED-F49F-4292-B6CB-D3AA10F706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b0c5b00084b7a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78D3E-02DA-4E10-823A-2BDFCCD9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35366532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FFD33-7C67-4D6A-A246-8150D9BB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61CF40-B016-4581-A902-6516854F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healthy RNA in TPM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8B298A-18A6-4240-B76E-DBFAC62B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FEE96-F1FD-446B-A21D-27FAF457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C7EF4-9EC3-43C8-B15F-6C10B25A8F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ab1805c0514598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6FF8D-6AB6-4A16-A15A-98D1CFC7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63400411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BC7B8-748F-4707-BCE5-F870E47B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33661-BF94-4B72-9203-5AC6C2F4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6BF0F-F210-40C7-95C8-6F96D427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8E26C-6CCD-4ECA-BF35-9E9D5371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9B609-37CA-41E9-8EC6-A4339F4E25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bf56597c05480d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C20A5-BA0C-4293-BCF6-24E24248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202438837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5347E-E030-472E-BEA0-3268860E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5FC6C-EDEE-4875-B6BA-DFAB5F0B0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1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D33702-F650-4F35-BADA-1E045974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16D45-0C47-462B-AC3E-EB36C322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15AC6-5A7C-4780-981A-612DECD526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e3f19007df443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57361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4135A-B0EF-4C25-91BB-8C7A36B1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2AB60-CA2E-470A-A7C9-48C14923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2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EB12B-AB23-4C8D-A584-660DD2ED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1D6AA-A6CB-412E-AC6E-B8EE8D03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891198-7672-4BEF-A0E6-069D27C650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6f8e3921a4704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47167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BF039-93AD-42F7-BB9D-57845161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304DD-401E-46A0-80AD-17E5270F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3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F9183-9099-4686-AF75-3544E493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48668-FCB1-4FA4-90C6-A99E88DB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6B9DB-CABA-4A4C-BA8C-5C0822D8C1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46a7ee10e49d8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4849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803E83-B224-40AA-96DE-84733818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C6ACDC-18FE-414F-ABEE-A59C7612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Complementary embryonic measurements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B9669-8C40-44F6-8246-83686D9E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DBAEC-DAEB-447F-9402-267A9C31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3E9822-40F8-44D6-927C-19CE79B2841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000500"/>
                <a:gridCol w="35433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cells /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6f6e0b4fa42845aa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1,195 cells / 1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Gastrulation, Carnegie stage 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8d5948c877246c7"/>
                        </a:rPr>
                        <a:t>Petropoulos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1,519 cells / 88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Preimplantation, days 3–7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Recovered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683 of 1,006 earlier missing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TPM, including familiar CTAs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AD832-09D0-438F-84CA-8FF98B4F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PRAME, MAGE-A4, CTAG1A/B, XAGE1A/B and CT83 now have TPM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26E62-9414-4F2C-8FA1-B3C84D9A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Each source keeps its own stages. Neither atlas covers all fetal or pediatric development.</a:t>
            </a:r>
          </a:p>
        </p:txBody>
      </p:sp>
    </p:spTree>
    <p:extLst>
      <p:ext uri="{BB962C8B-B14F-4D97-AF65-F5344CB8AC3E}">
        <p14:creationId xmlns:p14="http://schemas.microsoft.com/office/powerpoint/2010/main" val="152129902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079F1-80D0-4ED0-A8DD-0704EC79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375F4-7CF3-482C-ADE9-07F5B9C2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adult/placental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30AEA-B7D4-4EE8-9337-ECC85F58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EBEAB5-569F-4DB6-A638-582CB1AF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F0298-6A74-45B9-B7DD-88B9DCAE84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9206de48aa470b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249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3A7D0-504C-47C5-87FC-8A9C7B74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A0F44-369F-4617-AF5A-88A09D4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38EA-D31C-4AB4-8819-AD35F9D4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777731-C84E-498D-9018-DDECABDD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F8F83E-74B5-4D8A-A2F6-C674571EF9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8723cbbc68479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1744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42F0C-B55D-4769-8486-789DB6EE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4FE17-89B1-4078-B5FA-549289BA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6FD1D-2823-4CE3-8F49-0C5CA9AF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021636-E4A9-45A7-ADA2-6CF6F3E4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5EDD6-EEE4-40DE-9BD4-5FAD2D225E21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CTA, Unsafe or Neither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18,573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outside_category_definitions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Tracked coverage checks pass; no definition fits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596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36EC7-E504-4D7F-B129-9B18B915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Neither requires a measured biological profile.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137027695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45F34-86AC-4805-8070-1F7C62C4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9C924-0D72-46C4-84BF-1DD9CB10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Which sources have incomplete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D183B-ACDA-4B9D-B9AD-081FAE6D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A6852-1289-4608-973D-6AC751B9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742F6-D612-4BDE-B7BC-8E10E4584C6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733550"/>
              </a:tblGrid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or unresolved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02121a678444482c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consensus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normal bulk: HPA consensus + HPA brain + direct GTEx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88f87e97b1e4fe2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tissue-cell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bfdd24acf1c473d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 cells via </a:t>
                      </a:r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b8ca708dfc14cb7"/>
                        </a:rPr>
                        <a:t>HPA v23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</a:t>
                      </a:r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6253e9d802d143d0"/>
                        </a:rPr>
                        <a:t>GTEx v11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bulk panel (52 contexts)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Tyser + Petropoulos 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tumor measurement: OncoRef + HPA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tumor, incomplete group 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da5269928db44e9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Uncertain normal-tissue IHC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66C268-2B18-42D9-A5EF-E069B2D5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Overlapping gaps within 694 unassigned proteins. </a:t>
            </a:r>
            <a:r>
              <a:rPr sz="1800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23c636e8be564caa"/>
              </a:rPr>
              <a:t>DICE</a:t>
            </a: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corneal coverage are optional.</a:t>
            </a:r>
          </a:p>
        </p:txBody>
      </p:sp>
    </p:spTree>
    <p:extLst>
      <p:ext uri="{BB962C8B-B14F-4D97-AF65-F5344CB8AC3E}">
        <p14:creationId xmlns:p14="http://schemas.microsoft.com/office/powerpoint/2010/main" val="42833598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86D60-6C44-4526-BC39-A57A21E2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AABED-16D4-41ED-A183-6D5EE9FB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E6F6E-FB04-4510-AAFE-F5626687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B3FD-6DE9-42F5-BFE9-400E8452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BF306-B136-4C0E-8BFB-88AA7876F388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C8CD9E-7CED-40B2-9AF7-D5A47C2F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18631831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F0867-1C60-4E0F-B75E-6A07F4D0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50DF8-31B5-4B0E-A6DA-2A14260B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EC44F-3945-43DC-A616-B4B42EBB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92CFA-4CBF-48B1-8256-FD9BAEBA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069D0-B532-49EA-A703-5B046B07A053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+ Petropoulos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gastrulation and preimplantation TPM sources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86c0961114847e9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ee9ef86b4f54829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428b28174b24afd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F32AF-450F-4B76-BC34-C1175435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21880191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39EE6-656A-44FE-98C6-EC4BE3B9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292A8-6BEF-4819-9998-ED33424E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C4CDD-98D9-4A82-9C79-66DB5254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2A1E47-7C92-4A90-AE86-EA4AA7A5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6D417-2403-41FC-A354-DD01F05F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3D4E3-3934-4693-A66F-F91F8D55E745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Neither, or null when 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outside definitions,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gene_ids / gene_identities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 loci, stable IDs, history and curated synonyms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1C0CF9-AF9B-4C79-A12C-B6882916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37094909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6E603-AD43-43AC-AD68-0AFB674F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DATA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47E37D-4C92-4767-9B5E-5B07AAF8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source resolves to a concrete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CBA0C-4267-4C0C-9DAE-EA0152CA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29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C1AF4-F382-4408-8DE3-08E5D8CB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1835B-E5CA-44F7-AB06-135BA77C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catalog.ensure("gtex_tissue_rna")               # v11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catalog.ensure("gtex_tissue_rna", version="v10")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catalog.provenance("gtex_tissue_rna", "v11")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9BF69-151F-40DB-8FBF-23B04D6DE0E8}"/>
              </a:ext>
            </a:extLst>
          </p:cNvPr>
          <p:cNvGraphicFramePr/>
          <p:nvPr/>
        </p:nvGraphicFramePr>
        <p:xfrm>
          <a:off xmlns:a="http://schemas.openxmlformats.org/drawingml/2006/main" x="609600" y="3238500"/>
          <a:ext xmlns:a="http://schemas.openxmlformats.org/drawingml/2006/main" cx="109728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20050"/>
              </a:tblGrid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choice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Source-specific 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Default / latest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Newest registered release; saved runs keep explicit pins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Concrete version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f73cb1e66004256"/>
                        </a:rPr>
                        <a:t>GTEx v11</a:t>
                      </a:r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; </a:t>
                      </a:r>
                      <a:r>
                        <a:rPr sz="180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92ab019866243b8"/>
                        </a:rPr>
                        <a:t>HPA v25.1</a:t>
                      </a:r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; a study snapshot or OncoRef build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Provenance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Version, content checksum, native unit, annotation and pipeline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same selector applies to native dog and mouse assets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A9982-49A6-478F-8F14-0D8FA57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analysis pins </a:t>
            </a: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decf7a234bd142a0"/>
              </a:rPr>
              <a:t>GTEx v11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</a:t>
            </a: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6d155b0ce9704e32"/>
              </a:rPr>
              <a:t>HPA v23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normal panels. A newer public default does not rewrite it.</a:t>
            </a:r>
          </a:p>
        </p:txBody>
      </p:sp>
    </p:spTree>
    <p:extLst>
      <p:ext uri="{BB962C8B-B14F-4D97-AF65-F5344CB8AC3E}">
        <p14:creationId xmlns:p14="http://schemas.microsoft.com/office/powerpoint/2010/main" val="1040572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2026-10-30T03:20:46.4800000Z</dcterms:created>
  <dcterms:modified xsi:type="dcterms:W3CDTF">2026-10-30T03:20:46.4800000Z</dcterms:modified>
</coreProperties>
</file>