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fadd7020d27465f" /><Relationship Type="http://schemas.openxmlformats.org/officeDocument/2006/relationships/extended-properties" Target="/docProps/app.xml" Id="Rf531f76dafa24d60" /><Relationship Type="http://schemas.openxmlformats.org/officeDocument/2006/relationships/officeDocument" Target="/ppt/presentation.xml" Id="R41300a06cd53417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f854f3e1b884500"/>
  </p:sldMasterIdLst>
  <p:notesMasterIdLst>
    <p:notesMasterId xmlns:r="http://schemas.openxmlformats.org/officeDocument/2006/relationships" r:id="R19f0d1e08b6c4c7e"/>
  </p:notesMasterIdLst>
  <p:sldIdLst>
    <p:sldId xmlns:r="http://schemas.openxmlformats.org/officeDocument/2006/relationships" id="256" r:id="Ra359f0005bc34047"/>
    <p:sldId xmlns:r="http://schemas.openxmlformats.org/officeDocument/2006/relationships" id="257" r:id="R38668671f748428d"/>
    <p:sldId xmlns:r="http://schemas.openxmlformats.org/officeDocument/2006/relationships" id="258" r:id="R701d97252dce4ac2"/>
    <p:sldId xmlns:r="http://schemas.openxmlformats.org/officeDocument/2006/relationships" id="259" r:id="R5cffdfdf900448b3"/>
    <p:sldId xmlns:r="http://schemas.openxmlformats.org/officeDocument/2006/relationships" id="260" r:id="R4edf82acb01b4677"/>
    <p:sldId xmlns:r="http://schemas.openxmlformats.org/officeDocument/2006/relationships" id="261" r:id="R0b67e75b37664055"/>
    <p:sldId xmlns:r="http://schemas.openxmlformats.org/officeDocument/2006/relationships" id="262" r:id="R518a3c31f5b04ce3"/>
    <p:sldId xmlns:r="http://schemas.openxmlformats.org/officeDocument/2006/relationships" id="263" r:id="Rd19f3334ca05487e"/>
    <p:sldId xmlns:r="http://schemas.openxmlformats.org/officeDocument/2006/relationships" id="264" r:id="R2ebcdd9e6a8b406e"/>
    <p:sldId xmlns:r="http://schemas.openxmlformats.org/officeDocument/2006/relationships" id="265" r:id="Rf002e50c0105440e"/>
    <p:sldId xmlns:r="http://schemas.openxmlformats.org/officeDocument/2006/relationships" id="266" r:id="Ra8b41566e1fa49c3"/>
    <p:sldId xmlns:r="http://schemas.openxmlformats.org/officeDocument/2006/relationships" id="267" r:id="R3d74dc6f44504deb"/>
    <p:sldId xmlns:r="http://schemas.openxmlformats.org/officeDocument/2006/relationships" id="268" r:id="R8a62baf27e4747e5"/>
    <p:sldId xmlns:r="http://schemas.openxmlformats.org/officeDocument/2006/relationships" id="269" r:id="Rd1dd8fe10aca462f"/>
    <p:sldId xmlns:r="http://schemas.openxmlformats.org/officeDocument/2006/relationships" id="270" r:id="R131a11d389f446c7"/>
    <p:sldId xmlns:r="http://schemas.openxmlformats.org/officeDocument/2006/relationships" id="271" r:id="Rc9d82358c62440c4"/>
    <p:sldId xmlns:r="http://schemas.openxmlformats.org/officeDocument/2006/relationships" id="272" r:id="R18af5292175e4fa5"/>
    <p:sldId xmlns:r="http://schemas.openxmlformats.org/officeDocument/2006/relationships" id="273" r:id="Rdab32a0df9d54967"/>
    <p:sldId xmlns:r="http://schemas.openxmlformats.org/officeDocument/2006/relationships" id="274" r:id="R21312245c801401d"/>
    <p:sldId xmlns:r="http://schemas.openxmlformats.org/officeDocument/2006/relationships" id="275" r:id="R387c6706815e45fe"/>
    <p:sldId xmlns:r="http://schemas.openxmlformats.org/officeDocument/2006/relationships" id="276" r:id="R702743c1fb304219"/>
    <p:sldId xmlns:r="http://schemas.openxmlformats.org/officeDocument/2006/relationships" id="277" r:id="R30878878dcfa466b"/>
    <p:sldId xmlns:r="http://schemas.openxmlformats.org/officeDocument/2006/relationships" id="278" r:id="R12b9fa24f0474a53"/>
    <p:sldId xmlns:r="http://schemas.openxmlformats.org/officeDocument/2006/relationships" id="279" r:id="Rb50053d29f6a41b3"/>
    <p:sldId xmlns:r="http://schemas.openxmlformats.org/officeDocument/2006/relationships" id="280" r:id="Rb6e37a91c56d4f7b"/>
    <p:sldId xmlns:r="http://schemas.openxmlformats.org/officeDocument/2006/relationships" id="281" r:id="R5c8ab4affce04fb2"/>
    <p:sldId xmlns:r="http://schemas.openxmlformats.org/officeDocument/2006/relationships" id="282" r:id="R33ecbfbe82a44eb8"/>
    <p:sldId xmlns:r="http://schemas.openxmlformats.org/officeDocument/2006/relationships" id="283" r:id="R6cb0b3fee9fd488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b2f461956494224" /><Relationship Type="http://schemas.openxmlformats.org/officeDocument/2006/relationships/slideMaster" Target="/ppt/slideMasters/slideMaster1.xml" Id="Ref854f3e1b884500" /><Relationship Type="http://schemas.openxmlformats.org/officeDocument/2006/relationships/notesMaster" Target="/ppt/notesMasters/notesMaster1.xml" Id="R19f0d1e08b6c4c7e" /><Relationship Type="http://schemas.openxmlformats.org/officeDocument/2006/relationships/presProps" Target="/ppt/presProps.xml" Id="R3d7c4918a2c645ae" /><Relationship Type="http://schemas.openxmlformats.org/officeDocument/2006/relationships/tableStyles" Target="/ppt/tableStyles.xml" Id="R83749171caf64358" /><Relationship Type="http://schemas.openxmlformats.org/officeDocument/2006/relationships/slide" Target="/ppt/slides/slide1.xml" Id="Ra359f0005bc34047" /><Relationship Type="http://schemas.openxmlformats.org/officeDocument/2006/relationships/slide" Target="/ppt/slides/slide2.xml" Id="R38668671f748428d" /><Relationship Type="http://schemas.openxmlformats.org/officeDocument/2006/relationships/slide" Target="/ppt/slides/slide3.xml" Id="R701d97252dce4ac2" /><Relationship Type="http://schemas.openxmlformats.org/officeDocument/2006/relationships/slide" Target="/ppt/slides/slide4.xml" Id="R5cffdfdf900448b3" /><Relationship Type="http://schemas.openxmlformats.org/officeDocument/2006/relationships/slide" Target="/ppt/slides/slide5.xml" Id="R4edf82acb01b4677" /><Relationship Type="http://schemas.openxmlformats.org/officeDocument/2006/relationships/slide" Target="/ppt/slides/slide6.xml" Id="R0b67e75b37664055" /><Relationship Type="http://schemas.openxmlformats.org/officeDocument/2006/relationships/slide" Target="/ppt/slides/slide7.xml" Id="R518a3c31f5b04ce3" /><Relationship Type="http://schemas.openxmlformats.org/officeDocument/2006/relationships/slide" Target="/ppt/slides/slide8.xml" Id="Rd19f3334ca05487e" /><Relationship Type="http://schemas.openxmlformats.org/officeDocument/2006/relationships/slide" Target="/ppt/slides/slide9.xml" Id="R2ebcdd9e6a8b406e" /><Relationship Type="http://schemas.openxmlformats.org/officeDocument/2006/relationships/slide" Target="/ppt/slides/slide10.xml" Id="Rf002e50c0105440e" /><Relationship Type="http://schemas.openxmlformats.org/officeDocument/2006/relationships/slide" Target="/ppt/slides/slide11.xml" Id="Ra8b41566e1fa49c3" /><Relationship Type="http://schemas.openxmlformats.org/officeDocument/2006/relationships/slide" Target="/ppt/slides/slide12.xml" Id="R3d74dc6f44504deb" /><Relationship Type="http://schemas.openxmlformats.org/officeDocument/2006/relationships/slide" Target="/ppt/slides/slide13.xml" Id="R8a62baf27e4747e5" /><Relationship Type="http://schemas.openxmlformats.org/officeDocument/2006/relationships/slide" Target="/ppt/slides/slide14.xml" Id="Rd1dd8fe10aca462f" /><Relationship Type="http://schemas.openxmlformats.org/officeDocument/2006/relationships/slide" Target="/ppt/slides/slide15.xml" Id="R131a11d389f446c7" /><Relationship Type="http://schemas.openxmlformats.org/officeDocument/2006/relationships/slide" Target="/ppt/slides/slide16.xml" Id="Rc9d82358c62440c4" /><Relationship Type="http://schemas.openxmlformats.org/officeDocument/2006/relationships/slide" Target="/ppt/slides/slide17.xml" Id="R18af5292175e4fa5" /><Relationship Type="http://schemas.openxmlformats.org/officeDocument/2006/relationships/slide" Target="/ppt/slides/slide18.xml" Id="Rdab32a0df9d54967" /><Relationship Type="http://schemas.openxmlformats.org/officeDocument/2006/relationships/slide" Target="/ppt/slides/slide19.xml" Id="R21312245c801401d" /><Relationship Type="http://schemas.openxmlformats.org/officeDocument/2006/relationships/slide" Target="/ppt/slides/slide20.xml" Id="R387c6706815e45fe" /><Relationship Type="http://schemas.openxmlformats.org/officeDocument/2006/relationships/slide" Target="/ppt/slides/slide21.xml" Id="R702743c1fb304219" /><Relationship Type="http://schemas.openxmlformats.org/officeDocument/2006/relationships/slide" Target="/ppt/slides/slide22.xml" Id="R30878878dcfa466b" /><Relationship Type="http://schemas.openxmlformats.org/officeDocument/2006/relationships/slide" Target="/ppt/slides/slide23.xml" Id="R12b9fa24f0474a53" /><Relationship Type="http://schemas.openxmlformats.org/officeDocument/2006/relationships/slide" Target="/ppt/slides/slide24.xml" Id="Rb50053d29f6a41b3" /><Relationship Type="http://schemas.openxmlformats.org/officeDocument/2006/relationships/slide" Target="/ppt/slides/slide25.xml" Id="Rb6e37a91c56d4f7b" /><Relationship Type="http://schemas.openxmlformats.org/officeDocument/2006/relationships/slide" Target="/ppt/slides/slide26.xml" Id="R5c8ab4affce04fb2" /><Relationship Type="http://schemas.openxmlformats.org/officeDocument/2006/relationships/slide" Target="/ppt/slides/slide27.xml" Id="R33ecbfbe82a44eb8" /><Relationship Type="http://schemas.openxmlformats.org/officeDocument/2006/relationships/slide" Target="/ppt/slides/slide28.xml" Id="R6cb0b3fee9fd488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58146c65bfd4e3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8347d1a161c4109" /><Relationship Type="http://schemas.openxmlformats.org/officeDocument/2006/relationships/notesMaster" Target="/ppt/notesMasters/notesMaster1.xml" Id="R3f0f6bd73c0d42c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55ba1876c92450f" /><Relationship Type="http://schemas.openxmlformats.org/officeDocument/2006/relationships/notesMaster" Target="/ppt/notesMasters/notesMaster1.xml" Id="Rbe7084acc875428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c7661d54c6441cb" /><Relationship Type="http://schemas.openxmlformats.org/officeDocument/2006/relationships/notesMaster" Target="/ppt/notesMasters/notesMaster1.xml" Id="R302793b87718431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08879f9bf724af0" /><Relationship Type="http://schemas.openxmlformats.org/officeDocument/2006/relationships/notesMaster" Target="/ppt/notesMasters/notesMaster1.xml" Id="Rf777b5b1ae164fd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69ff4a1ee9e48ee" /><Relationship Type="http://schemas.openxmlformats.org/officeDocument/2006/relationships/notesMaster" Target="/ppt/notesMasters/notesMaster1.xml" Id="R165b9683a8d94c2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11ea8c8b0584d30" /><Relationship Type="http://schemas.openxmlformats.org/officeDocument/2006/relationships/notesMaster" Target="/ppt/notesMasters/notesMaster1.xml" Id="Re259d20974f44cb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6c208d3d87b4042" /><Relationship Type="http://schemas.openxmlformats.org/officeDocument/2006/relationships/notesMaster" Target="/ppt/notesMasters/notesMaster1.xml" Id="Rf6c4b6b3ecdc491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a5e0c2888c043ff" /><Relationship Type="http://schemas.openxmlformats.org/officeDocument/2006/relationships/notesMaster" Target="/ppt/notesMasters/notesMaster1.xml" Id="R2ef846294ea54bb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d229fe85bc845af" /><Relationship Type="http://schemas.openxmlformats.org/officeDocument/2006/relationships/notesMaster" Target="/ppt/notesMasters/notesMaster1.xml" Id="Rfa302a69abbc4ef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890c6210a8448c3" /><Relationship Type="http://schemas.openxmlformats.org/officeDocument/2006/relationships/notesMaster" Target="/ppt/notesMasters/notesMaster1.xml" Id="R97192755416544d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6d15e79bd8a4bd5" /><Relationship Type="http://schemas.openxmlformats.org/officeDocument/2006/relationships/notesMaster" Target="/ppt/notesMasters/notesMaster1.xml" Id="Rf5887c3cfcbb489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3edd9f6fd87488b" /><Relationship Type="http://schemas.openxmlformats.org/officeDocument/2006/relationships/notesMaster" Target="/ppt/notesMasters/notesMaster1.xml" Id="R6d83eab73a90447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3bdf0aec3c9424b" /><Relationship Type="http://schemas.openxmlformats.org/officeDocument/2006/relationships/notesMaster" Target="/ppt/notesMasters/notesMaster1.xml" Id="R55dba237ae98400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3e67990911844e0" /><Relationship Type="http://schemas.openxmlformats.org/officeDocument/2006/relationships/notesMaster" Target="/ppt/notesMasters/notesMaster1.xml" Id="Re90dbb6559b4448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b9c6a06b18c4789" /><Relationship Type="http://schemas.openxmlformats.org/officeDocument/2006/relationships/notesMaster" Target="/ppt/notesMasters/notesMaster1.xml" Id="R9e1e2e18acaa4fe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c2360c9bd844ce8" /><Relationship Type="http://schemas.openxmlformats.org/officeDocument/2006/relationships/notesMaster" Target="/ppt/notesMasters/notesMaster1.xml" Id="R9a0ce26f71a7459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e27d977ae7447f0" /><Relationship Type="http://schemas.openxmlformats.org/officeDocument/2006/relationships/notesMaster" Target="/ppt/notesMasters/notesMaster1.xml" Id="Ra58b84c8f3e74ab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64a4e2fdcdb4390" /><Relationship Type="http://schemas.openxmlformats.org/officeDocument/2006/relationships/notesMaster" Target="/ppt/notesMasters/notesMaster1.xml" Id="R764a68b03c624bc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a760cdd17394bae" /><Relationship Type="http://schemas.openxmlformats.org/officeDocument/2006/relationships/notesMaster" Target="/ppt/notesMasters/notesMaster1.xml" Id="R460e6289f3d64cb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32e7379c03c4555" /><Relationship Type="http://schemas.openxmlformats.org/officeDocument/2006/relationships/notesMaster" Target="/ppt/notesMasters/notesMaster1.xml" Id="Rffcc2e9038084a9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d024ed922724841" /><Relationship Type="http://schemas.openxmlformats.org/officeDocument/2006/relationships/notesMaster" Target="/ppt/notesMasters/notesMaster1.xml" Id="R6e6aaeb62a47476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6dc7bc50cea4622" /><Relationship Type="http://schemas.openxmlformats.org/officeDocument/2006/relationships/notesMaster" Target="/ppt/notesMasters/notesMaster1.xml" Id="R6e6af6fbd7a7471d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175c9e4e1cf4e04" /><Relationship Type="http://schemas.openxmlformats.org/officeDocument/2006/relationships/notesMaster" Target="/ppt/notesMasters/notesMaster1.xml" Id="R0b08719a14f841b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a20bed307d6146f2" /><Relationship Type="http://schemas.openxmlformats.org/officeDocument/2006/relationships/notesMaster" Target="/ppt/notesMasters/notesMaster1.xml" Id="Rf5fe58ebc84b4b1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48482fa325743cd" /><Relationship Type="http://schemas.openxmlformats.org/officeDocument/2006/relationships/notesMaster" Target="/ppt/notesMasters/notesMaster1.xml" Id="R42d3391c79274ca7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5d588fcb6e884800" /><Relationship Type="http://schemas.openxmlformats.org/officeDocument/2006/relationships/notesMaster" Target="/ppt/notesMasters/notesMaster1.xml" Id="R783cd4707f0d45e6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735d924bad744a86" /><Relationship Type="http://schemas.openxmlformats.org/officeDocument/2006/relationships/notesMaster" Target="/ppt/notesMasters/notesMaster1.xml" Id="R15b8b176b7f54474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3093e4a16cf14ffd" /><Relationship Type="http://schemas.openxmlformats.org/officeDocument/2006/relationships/notesMaster" Target="/ppt/notesMasters/notesMaster1.xml" Id="Rdaa1c78022334bf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Human and dog CTA evidence</a:t>
            </a:r>
          </a:p>
          <a:p xmlns:a="http://schemas.openxmlformats.org/drawingml/2006/main">
            <a:r>
              <a:t>One RNA ceiling. Neither requires an affirmative expression profile. Unassigned is an assessment status, not a biological category.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Safety and CTA identity</a:t>
            </a:r>
          </a:p>
          <a:p xmlns:a="http://schemas.openxmlformats.org/drawingml/2006/main">
            <a:r>
              <a:t>CTA requires acceptable safety, cancer expression, adult restriction and reproductive/developmental association. Only safety evidence can establish Unsafe. Cancer expression requires one sample without a normal comparison. See docs/cta-evidence-axes.md.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Adult restriction and cancer presence</a:t>
            </a:r>
          </a:p>
          <a:p xmlns:a="http://schemas.openxmlformats.org/drawingml/2006/main">
            <a:r>
              <a:t>Restriction compares reproductive nTPM with supported adult nTPM or developmental TPM with supported adult TPM. Vital/Protected/Manageable form the adverse comparator. Reproductive/Disposable are excluded. CP10K stays in the separate safety screen. Nominal cross-assay comparisons are not calibrated fold changes.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Published candidate lists</a:t>
            </a:r>
          </a:p>
          <a:p xmlns:a="http://schemas.openxmlformats.org/drawingml/2006/main">
            <a:r>
              <a:t>da Silva et al. (2017): https://doi.org/10.18632/oncotarget.21715</a:t>
            </a:r>
          </a:p>
          <a:p xmlns:a="http://schemas.openxmlformats.org/drawingml/2006/main">
            <a:r>
              <a:t>Wang et al. (2016): https://doi.org/10.1038/ncomms10499</a:t>
            </a:r>
          </a:p>
          <a:p xmlns:a="http://schemas.openxmlformats.org/drawingml/2006/main">
            <a:r>
              <a:t>Chang et al. (2019): https://doi.org/10.1002/cam4.2223</a:t>
            </a:r>
          </a:p>
          <a:p xmlns:a="http://schemas.openxmlformats.org/drawingml/2006/main">
            <a:r>
              <a:t>Gong et al. (2021): https://doi.org/10.1038/s41467-021-22695-y</a:t>
            </a:r>
          </a:p>
          <a:p xmlns:a="http://schemas.openxmlformats.org/drawingml/2006/main">
            <a:r>
              <a:t>Bruggeman et al. (2018): https://doi.org/10.1038/s41388-018-0357-2</a:t>
            </a:r>
          </a:p>
          <a:p xmlns:a="http://schemas.openxmlformats.org/drawingml/2006/main">
            <a:r>
              <a:t>Jamin et al. (2021): https://doi.org/10.1002/1878-0261.12900</a:t>
            </a:r>
          </a:p>
          <a:p xmlns:a="http://schemas.openxmlformats.org/drawingml/2006/main">
            <a:r>
              <a:t>Loriot et al. (2025): https://doi.org/10.1371/journal.pgen.1011734</a:t>
            </a:r>
          </a:p>
          <a:p xmlns:a="http://schemas.openxmlformats.org/drawingml/2006/main">
            <a:r>
              <a:t>Carter et al. (2023): https://doi.org/10.1136/jitc-2023-007935</a:t>
            </a:r>
          </a:p>
          <a:p xmlns:a="http://schemas.openxmlformats.org/drawingml/2006/main">
            <a:r>
              <a:t>Hirbo et al. (2015): https://doi.org/10.1371/journal.pone.0144155</a:t>
            </a:r>
          </a:p>
          <a:p xmlns:a="http://schemas.openxmlformats.org/drawingml/2006/main">
            <a:r>
              <a:t>Seager et al. (2024): https://doi.org/10.1186/s12967-024-04918-0</a:t>
            </a:r>
          </a:p>
          <a:p xmlns:a="http://schemas.openxmlformats.org/drawingml/2006/main">
            <a:r>
              <a:t>Sasaroli et al. (2011): https://doi.org/10.4161/cbt.12.3.16260</a:t>
            </a:r>
          </a:p>
          <a:p xmlns:a="http://schemas.openxmlformats.org/drawingml/2006/main">
            <a:r>
              <a:t>Garg et al. (2007): https://doi.org/10.1158/1078-0432.CCR-06-2340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Broader published nominations</a:t>
            </a:r>
          </a:p>
          <a:p xmlns:a="http://schemas.openxmlformats.org/drawingml/2006/main">
            <a:r>
              <a:t>Sasaroli et al. (2011) https://doi.org/10.4161/cbt.12.3.16260 . Hirbo et al. (2015) https://doi.org/10.1371/journal.pone.0144155 . Exact extracted rows and matching receipts accompany the report.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Overlap between published lists</a:t>
            </a:r>
          </a:p>
          <a:p xmlns:a="http://schemas.openxmlformats.org/drawingml/2006/main">
            <a:r>
              <a:t>Tables and author-recognized prior antigens within the same paper are unioned. Evidence roles, source IDs and pairwise counts accompany the report.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Reproductive and developmental association</a:t>
            </a:r>
          </a:p>
          <a:p xmlns:a="http://schemas.openxmlformats.org/drawingml/2006/main">
            <a:r>
              <a:t>Tyser et al. (2021): https://doi.org/10.1038/s41586-021-04158-y . HPA v23 https://v23.proteinatlas.org/about/download 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Normal and cancer measurement sources</a:t>
            </a:r>
          </a:p>
          <a:p xmlns:a="http://schemas.openxmlformats.org/drawingml/2006/main">
            <a:r>
              <a:t>HPA https://v23.proteinatlas.org/about/download ; DICE https://dice-database.org/ ; cornea https://www.ncbi.nlm.nih.gov/geo/query/acc.cgi?acc=GSE155683 ; Tyser https://doi.org/10.1038/s41586-021-04158-y . Full URLs and sample lineage accompany the report.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RNA cutoffs</a:t>
            </a:r>
          </a:p>
          <a:p xmlns:a="http://schemas.openxmlformats.org/drawingml/2006/main">
            <a:r>
              <a:t>The same nominal values apply across native TPM/nTPM assays. CP10K uses nominal /100, not a TPM conversion. Values are screening-policy choices, not measured toxicity limits.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Neither requires a measured expression profile</a:t>
            </a:r>
          </a:p>
          <a:p xmlns:a="http://schemas.openxmlformats.org/drawingml/2006/main">
            <a:r>
              <a:t>Low means below the common 2-unit expression floor in every measured source, with required normal panels and tumor/developmental measurements. Missing optional DICE/cornea is disclosed. No detected protein is not proof of absence in every unmeasured tissue.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Every filtering layer can contribute</a:t>
            </a:r>
          </a:p>
          <a:p xmlns:a="http://schemas.openxmlformats.org/drawingml/2006/main">
            <a:r>
              <a:t>The gray segment is held/unassigned evidence, not Neither. The final profile check assigns Neither. All layers evaluate every group; final categories are independent of display order.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Removals at each filter</a:t>
            </a:r>
          </a:p>
          <a:p xmlns:a="http://schemas.openxmlformats.org/drawingml/2006/main">
            <a:r>
              <a:t>Sequential first removals depend on the displayed order; the independent-layer table reports overlaps.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IHC matching to measured RNA compartments</a:t>
            </a:r>
          </a:p>
          <a:p xmlns:a="http://schemas.openxmlformats.org/drawingml/2006/main">
            <a:r>
              <a:t>HPA colon https://www.proteinatlas.org/learn/dictionary/normal/colon ; bronchus https://www.proteinatlas.org/learn/dictionary/normal/bronchus . Parent-compartment credit is a declared anatomical interpretation, not proof that all rare cells were sampled.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Selected CTA: reproductive versus embryonic RNA</a:t>
            </a:r>
          </a:p>
          <a:p xmlns:a="http://schemas.openxmlformats.org/drawingml/2006/main">
            <a:r>
              <a:t>Color uses the highest supported non-disposable healthy expression within the stated native unit. There is no mixed-unit maximum. Labels include widely studied antigens with mapped values. Companion panels label all selected groups ≥5 on both axes. Missing embryonic measurements appear in a separate categorical band; every selected group is represented without zero filling.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Selected CTA: healthy RNA in TPM</a:t>
            </a:r>
          </a:p>
          <a:p xmlns:a="http://schemas.openxmlformats.org/drawingml/2006/main">
            <a:r>
              <a:t>Color uses the highest supported non-disposable healthy expression within the stated native unit. There is no mixed-unit maximum. Labels include widely studied antigens with mapped values. Companion panels label all selected groups ≥5 on both axes. Missing embryonic measurements appear in a separate categorical band; every selected group is represented without zero filling.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Selected CTA: normal corneal RNA</a:t>
            </a:r>
          </a:p>
          <a:p xmlns:a="http://schemas.openxmlformats.org/drawingml/2006/main">
            <a:r>
              <a:t>Color uses the highest supported non-disposable healthy expression within the stated native unit. There is no mixed-unit maximum. Labels include widely studied antigens with mapped values. Companion panels label all selected groups ≥5 on both axes. Missing embryonic measurements appear in a separate categorical band; every selected group is represented without zero filling.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High reproductive and embryonic RNA: labels 1 of 3</a:t>
            </a:r>
          </a:p>
          <a:p xmlns:a="http://schemas.openxmlformats.org/drawingml/2006/main">
            <a:r>
              <a:t>The three panels use identical axes and together label all selected groups with reproductive nTPM ≥5 and measured embryonic lineage-mean TPM ≥5. This descriptive threshold does not replace developmental cell-support requirements. Color is the highest non-disposable healthy nTPM.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High reproductive and embryonic RNA: labels 2 of 3</a:t>
            </a:r>
          </a:p>
          <a:p xmlns:a="http://schemas.openxmlformats.org/drawingml/2006/main">
            <a:r>
              <a:t>The three panels use identical axes and together label all selected groups with reproductive nTPM ≥5 and measured embryonic lineage-mean TPM ≥5. This descriptive threshold does not replace developmental cell-support requirements. Color is the highest non-disposable healthy nTPM.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High reproductive and embryonic RNA: labels 3 of 3</a:t>
            </a:r>
          </a:p>
          <a:p xmlns:a="http://schemas.openxmlformats.org/drawingml/2006/main">
            <a:r>
              <a:t>The three panels use identical axes and together label all selected groups with reproductive nTPM ≥5 and measured embryonic lineage-mean TPM ≥5. This descriptive threshold does not replace developmental cell-support requirements. Color is the highest non-disposable healthy nTPM.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Complementary embryonic measurements</a:t>
            </a:r>
          </a:p>
          <a:p xmlns:a="http://schemas.openxmlformats.org/drawingml/2006/main">
            <a:r>
              <a:t>Tyser E-MTAB-9388 https://doi.org/10.1038/s41586-021-04158-y . Petropoulos E-MTAB-3929 https://www.ebi.ac.uk/gxa/sc/experiments/E-MTAB-3929/Results . Sources retain their own stage, cell support and donor counts.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Widely studied antigens: reproductive RNA</a:t>
            </a:r>
          </a:p>
          <a:p xmlns:a="http://schemas.openxmlformats.org/drawingml/2006/main">
            <a:r>
              <a:t>MAGE-A1 and MAGE-A3 are comparators, not admission controls. Full-width figures highlight PRAME, NY-ESO-1 (CTAG1A/B), XAGE1A/B, MAGE-A4, CT83, SSX2/B and TBXT. Missing embryonic measurements are in a separate band.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Widely studied antigens: embryonic RNA</a:t>
            </a:r>
          </a:p>
          <a:p xmlns:a="http://schemas.openxmlformats.org/drawingml/2006/main">
            <a:r>
              <a:t>MAGE-A1 and MAGE-A3 are comparators, not admission controls. Full-width figures highlight PRAME, NY-ESO-1 (CTAG1A/B), XAGE1A/B, MAGE-A4, CT83, SSX2/B and TBXT. Missing embryonic measurements are in a separate band.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Assessment status is separate from category</a:t>
            </a:r>
          </a:p>
          <a:p xmlns:a="http://schemas.openxmlformats.org/drawingml/2006/main">
            <a:r>
              <a:t>A category can be assigned despite gaps in optional or irrelevant sources. Screened does not mean clinically safe or fully measured. MAGE-A3 has measured colon counterevidence. An independent developmental measurement cannot erase it.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Which sources have incomplete evidence</a:t>
            </a:r>
          </a:p>
          <a:p xmlns:a="http://schemas.openxmlformats.org/drawingml/2006/main">
            <a:r>
              <a:t>Source versions, complete missing tissue/cell contexts, member ENSG IDs, historical IDs, synonyms and tumor cohort coverage: https://pirl-unc.github.io/oncoref/audits/cta-source-walkthrough-20261028/coverage/ . Counts overlap and do not sum to a total.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Dog evidence and integration gaps</a:t>
            </a:r>
          </a:p>
          <a:p xmlns:a="http://schemas.openxmlformats.org/drawingml/2006/main">
            <a:r>
              <a:t>Nemec et al. (2019) https://doi.org/10.1111/vco.12475 ; Hindriks et al. (2025) https://doi.org/10.1016/j.vetimm.2025.110946 . Issues https://github.com/pirl-unc/oncoref/issues/574 and https://github.com/pirl-unc/oncoref/issues/585 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Curated oncofetal sources</a:t>
            </a:r>
          </a:p>
          <a:p xmlns:a="http://schemas.openxmlformats.org/drawingml/2006/main">
            <a:r>
              <a:t>Shaw et al. (2024) https://doi.org/10.1038/s41467-024-47649-y ; TRIM71 liver study https://pmc.ncbi.nlm.nih.gov/articles/PMC11388079/ ; Cardoso-Moreira et al. (2019) https://pmc.ncbi.nlm.nih.gov/articles/PMC6658352/ . Newly identified sources are not in current selection counts.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Common API with native evidence underneath</a:t>
            </a:r>
          </a:p>
          <a:p xmlns:a="http://schemas.openxmlformats.org/drawingml/2006/main">
            <a:r>
              <a:t>Human, dog and mouse share schema and explicit unavailable states. Data are offline and checksum-verified. Frozen release reports remain unchanged.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Every source resolves to a concrete version</a:t>
            </a:r>
          </a:p>
          <a:p xmlns:a="http://schemas.openxmlformats.org/drawingml/2006/main">
            <a:r>
              <a:t>Data version API: https://pirl-unc.github.io/oncoref/data-versions/ . GTEx versions and pipelines: https://github.com/broadinstitute/gtex-pipeline/blob/master/rnaseq/README.md . HPA current RNA snapshot: https://github.com/pirl-unc/oncoref/releases/tag/reference-hpa-v25.1-20261028 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</a:t>
            </a:r>
          </a:p>
          <a:p xmlns:a="http://schemas.openxmlformats.org/drawingml/2006/main">
            <a:r>
              <a:t>Decision snapshot SHA256: 8060d4401bc5c9ea129e42a896575deb8a570c2cd1a72759be8f3a4d7fc23029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01189d1d6b4e5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9d5fc8f1d5411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9fcee3b424490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1615ed9ea14a5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74d98579174ae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f286237e4a46f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8A1ADA2-8AE0-4722-9175-D599C9E318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8A6923E-A42F-42EF-BF1F-8DEE32F52A8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500A575-1218-499D-98E9-71541B387F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3EF9FA1-8E13-49FC-97B4-97D38D321F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E7E38F5-58DC-4CD8-A4CE-2D30E150893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31DF39F-EE67-45B5-A57D-326CE6C5E1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8BDA84F-919B-4EC2-B90A-4C95076B94D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35FD290-B2BE-43E1-99CD-5DB37357D4B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D9DB41D-1821-471C-9699-2838B1DCDA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9A5A5A3-940D-452D-8EF1-A590909D6D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d573226a1454fd4" /><Relationship Type="http://schemas.openxmlformats.org/officeDocument/2006/relationships/slideLayout" Target="/ppt/slideLayouts/slideLayout1.xml" Id="Rc622a7f61c464879" /><Relationship Type="http://schemas.openxmlformats.org/officeDocument/2006/relationships/slideLayout" Target="/ppt/slideLayouts/slideLayout2.xml" Id="R4f4ae5929fbb49fa" /><Relationship Type="http://schemas.openxmlformats.org/officeDocument/2006/relationships/slideLayout" Target="/ppt/slideLayouts/slideLayout3.xml" Id="Rd1e7bcce25cd43a8" /><Relationship Type="http://schemas.openxmlformats.org/officeDocument/2006/relationships/slideLayout" Target="/ppt/slideLayouts/slideLayout4.xml" Id="R56b1c2c3872848de" /><Relationship Type="http://schemas.openxmlformats.org/officeDocument/2006/relationships/slideLayout" Target="/ppt/slideLayouts/slideLayout5.xml" Id="R15a7debafdc745ac" /><Relationship Type="http://schemas.openxmlformats.org/officeDocument/2006/relationships/slideLayout" Target="/ppt/slideLayouts/slideLayout6.xml" Id="Raccf07c979a4441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622a7f61c464879"/>
    <p:sldLayoutId xmlns:r="http://schemas.openxmlformats.org/officeDocument/2006/relationships" id="2147483650" r:id="R4f4ae5929fbb49fa"/>
    <p:sldLayoutId xmlns:r="http://schemas.openxmlformats.org/officeDocument/2006/relationships" id="2147483651" r:id="Rd1e7bcce25cd43a8"/>
    <p:sldLayoutId xmlns:r="http://schemas.openxmlformats.org/officeDocument/2006/relationships" id="2147483652" r:id="R56b1c2c3872848de"/>
    <p:sldLayoutId xmlns:r="http://schemas.openxmlformats.org/officeDocument/2006/relationships" id="2147483653" r:id="R15a7debafdc745ac"/>
    <p:sldLayoutId xmlns:r="http://schemas.openxmlformats.org/officeDocument/2006/relationships" id="2147483654" r:id="Raccf07c979a4441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feef090fc44e43" /><Relationship Type="http://schemas.openxmlformats.org/officeDocument/2006/relationships/notesSlide" Target="/ppt/notesSlides/notesSlide1.xml" Id="Rb91be30e559f44a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f444756e074b6b" /><Relationship Type="http://schemas.openxmlformats.org/officeDocument/2006/relationships/notesSlide" Target="/ppt/notesSlides/notesSlide2.xml" Id="Rdffc999feaf540b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0ecb3b44e194436" /><Relationship Type="http://schemas.openxmlformats.org/officeDocument/2006/relationships/notesSlide" Target="/ppt/notesSlides/notesSlide3.xml" Id="R2b0f381a92344d6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36a1089cc248a7" /><Relationship Type="http://schemas.openxmlformats.org/officeDocument/2006/relationships/notesSlide" Target="/ppt/notesSlides/notesSlide4.xml" Id="Rbeb0f9309c734ed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73d9990de84a42" /><Relationship Type="http://schemas.openxmlformats.org/officeDocument/2006/relationships/notesSlide" Target="/ppt/notesSlides/notesSlide5.xml" Id="Re40e792b90c4462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1db606d713648d5" /><Relationship Type="http://schemas.openxmlformats.org/officeDocument/2006/relationships/image" Target="/ppt/media/image.png" Id="R67e90dbe3a684cf5" /><Relationship Type="http://schemas.openxmlformats.org/officeDocument/2006/relationships/notesSlide" Target="/ppt/notesSlides/notesSlide6.xml" Id="R27a2a767e22240a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a5e6728c81489b" /><Relationship Type="http://schemas.openxmlformats.org/officeDocument/2006/relationships/notesSlide" Target="/ppt/notesSlides/notesSlide7.xml" Id="Ra86da80859364b7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f0a3151b8e4a42" /><Relationship Type="http://schemas.openxmlformats.org/officeDocument/2006/relationships/notesSlide" Target="/ppt/notesSlides/notesSlide8.xml" Id="Ra052d74219064df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329a3c81ad4f46" /><Relationship Type="http://schemas.openxmlformats.org/officeDocument/2006/relationships/notesSlide" Target="/ppt/notesSlides/notesSlide9.xml" Id="R135f5aa5ed574c8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e8bf895574465e" /><Relationship Type="http://schemas.openxmlformats.org/officeDocument/2006/relationships/notesSlide" Target="/ppt/notesSlides/notesSlide10.xml" Id="Rd7d1ef7b22894e7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0122498bf143c3" /><Relationship Type="http://schemas.openxmlformats.org/officeDocument/2006/relationships/chart" Target="/ppt/slides/charts/chart1.xml" Id="R2ca5d5dc7b7f4c9e" /><Relationship Type="http://schemas.openxmlformats.org/officeDocument/2006/relationships/notesSlide" Target="/ppt/notesSlides/notesSlide11.xml" Id="Re16372bdbe664b3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02b45826924697" /><Relationship Type="http://schemas.openxmlformats.org/officeDocument/2006/relationships/notesSlide" Target="/ppt/notesSlides/notesSlide12.xml" Id="R45cfe618cdda49b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abd1e4bb734240" /><Relationship Type="http://schemas.openxmlformats.org/officeDocument/2006/relationships/notesSlide" Target="/ppt/notesSlides/notesSlide13.xml" Id="Ra26c43cb316347d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3db59ea2f54183" /><Relationship Type="http://schemas.openxmlformats.org/officeDocument/2006/relationships/image" Target="/ppt/media/image2.png" Id="R31e37d5f12454fc5" /><Relationship Type="http://schemas.openxmlformats.org/officeDocument/2006/relationships/notesSlide" Target="/ppt/notesSlides/notesSlide14.xml" Id="R86e21fe2261842f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d864e884ea446f" /><Relationship Type="http://schemas.openxmlformats.org/officeDocument/2006/relationships/image" Target="/ppt/media/image3.png" Id="Ra4510532fa544d04" /><Relationship Type="http://schemas.openxmlformats.org/officeDocument/2006/relationships/notesSlide" Target="/ppt/notesSlides/notesSlide15.xml" Id="Rdaeb1ab69583494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65e9dc147443ef" /><Relationship Type="http://schemas.openxmlformats.org/officeDocument/2006/relationships/image" Target="/ppt/media/image4.png" Id="Rbc39c0c0095f4dfa" /><Relationship Type="http://schemas.openxmlformats.org/officeDocument/2006/relationships/notesSlide" Target="/ppt/notesSlides/notesSlide16.xml" Id="Rf781268c6d3d401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efbd0bcc724042" /><Relationship Type="http://schemas.openxmlformats.org/officeDocument/2006/relationships/image" Target="/ppt/media/image5.png" Id="Rf2d17e87df0b4222" /><Relationship Type="http://schemas.openxmlformats.org/officeDocument/2006/relationships/notesSlide" Target="/ppt/notesSlides/notesSlide17.xml" Id="Rf20cf614ffa44ec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4437eb88b874c4b" /><Relationship Type="http://schemas.openxmlformats.org/officeDocument/2006/relationships/image" Target="/ppt/media/image6.png" Id="Rcac4557a1fee4181" /><Relationship Type="http://schemas.openxmlformats.org/officeDocument/2006/relationships/notesSlide" Target="/ppt/notesSlides/notesSlide18.xml" Id="R0d59472ac8c24db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b8b1dfab61e4691" /><Relationship Type="http://schemas.openxmlformats.org/officeDocument/2006/relationships/image" Target="/ppt/media/image7.png" Id="R135013ebffbb4e27" /><Relationship Type="http://schemas.openxmlformats.org/officeDocument/2006/relationships/notesSlide" Target="/ppt/notesSlides/notesSlide19.xml" Id="R17f5d9e73758457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3895e6fbc948bc" /><Relationship Type="http://schemas.openxmlformats.org/officeDocument/2006/relationships/notesSlide" Target="/ppt/notesSlides/notesSlide20.xml" Id="R3e3e25902f684bd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f0132fcc5242f2" /><Relationship Type="http://schemas.openxmlformats.org/officeDocument/2006/relationships/image" Target="/ppt/media/image8.png" Id="Ra3af9f4bb85a48b3" /><Relationship Type="http://schemas.openxmlformats.org/officeDocument/2006/relationships/notesSlide" Target="/ppt/notesSlides/notesSlide21.xml" Id="R3108eae78a7544a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02b13cd62f4bf4" /><Relationship Type="http://schemas.openxmlformats.org/officeDocument/2006/relationships/image" Target="/ppt/media/image9.png" Id="R08c5bb21f1df4051" /><Relationship Type="http://schemas.openxmlformats.org/officeDocument/2006/relationships/notesSlide" Target="/ppt/notesSlides/notesSlide22.xml" Id="R60f7c93a13ba45b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56a3624dc594250" /><Relationship Type="http://schemas.openxmlformats.org/officeDocument/2006/relationships/notesSlide" Target="/ppt/notesSlides/notesSlide23.xml" Id="R9c47c695ee6a446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d9fea803ba429b" /><Relationship Type="http://schemas.openxmlformats.org/officeDocument/2006/relationships/notesSlide" Target="/ppt/notesSlides/notesSlide24.xml" Id="R20d388fdf78245e8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c7bed439f844cd" /><Relationship Type="http://schemas.openxmlformats.org/officeDocument/2006/relationships/notesSlide" Target="/ppt/notesSlides/notesSlide25.xml" Id="Re1b681c9b87147e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72354a67184653" /><Relationship Type="http://schemas.openxmlformats.org/officeDocument/2006/relationships/notesSlide" Target="/ppt/notesSlides/notesSlide26.xml" Id="Rbab9f89a4a56426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229188a3e441d8" /><Relationship Type="http://schemas.openxmlformats.org/officeDocument/2006/relationships/notesSlide" Target="/ppt/notesSlides/notesSlide27.xml" Id="R4472695ffe2442d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f36e1f59bf4014" /><Relationship Type="http://schemas.openxmlformats.org/officeDocument/2006/relationships/notesSlide" Target="/ppt/notesSlides/notesSlide28.xml" Id="R18d00f9d29f349f4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stacked"/>
        <c:varyColors val="0"/>
        <c:ser>
          <c:idx val="0"/>
          <c:order val="0"/>
          <c:tx>
            <c:v>Eligible so far</c:v>
          </c:tx>
          <c:spPr>
            <a:solidFill xmlns:a="http://schemas.openxmlformats.org/drawingml/2006/main">
              <a:srgbClr val="087E8B"/>
            </a:solidFill>
          </c:spPr>
          <c:invertIfNegative val="0"/>
          <c:cat>
            <c:strRef>
              <c:f>'Chart Data'!$A$2:$A$16</c:f>
              <c:strCache>
                <c:ptCount val="15"/>
                <c:pt idx="0">
                  <c:v>Neither profiles</c:v>
                </c:pt>
                <c:pt idx="1">
                  <c:v>External IHC</c:v>
                </c:pt>
                <c:pt idx="2">
                  <c:v>Clinical safety</c:v>
                </c:pt>
                <c:pt idx="3">
                  <c:v>Curated protein</c:v>
                </c:pt>
                <c:pt idx="4">
                  <c:v>Cornea</c:v>
                </c:pt>
                <c:pt idx="5">
                  <c:v>DICE</c:v>
                </c:pt>
                <c:pt idx="6">
                  <c:v>Monaco</c:v>
                </c:pt>
                <c:pt idx="7">
                  <c:v>HPA immune</c:v>
                </c:pt>
                <c:pt idx="8">
                  <c:v>Tissue clusters</c:v>
                </c:pt>
                <c:pt idx="9">
                  <c:v>Bulk RNA</c:v>
                </c:pt>
                <c:pt idx="10">
                  <c:v>Coverage</c:v>
                </c:pt>
                <c:pt idx="11">
                  <c:v>HPA protein</c:v>
                </c:pt>
                <c:pt idx="12">
                  <c:v>Restriction</c:v>
                </c:pt>
                <c:pt idx="13">
                  <c:v>Tumor</c:v>
                </c:pt>
                <c:pt idx="14">
                  <c:v>Association</c:v>
                </c:pt>
              </c:strCache>
            </c:strRef>
          </c:cat>
          <c:val>
            <c:numRef>
              <c:f>'Chart Data'!$B$2:$B$16</c:f>
              <c:numCache>
                <c:formatCode>General</c:formatCode>
                <c:ptCount val="15"/>
                <c:pt idx="0">
                  <c:v>546</c:v>
                </c:pt>
                <c:pt idx="1">
                  <c:v>546</c:v>
                </c:pt>
                <c:pt idx="2">
                  <c:v>546</c:v>
                </c:pt>
                <c:pt idx="3">
                  <c:v>547</c:v>
                </c:pt>
                <c:pt idx="4">
                  <c:v>548</c:v>
                </c:pt>
                <c:pt idx="5">
                  <c:v>551</c:v>
                </c:pt>
                <c:pt idx="6">
                  <c:v>566</c:v>
                </c:pt>
                <c:pt idx="7">
                  <c:v>569</c:v>
                </c:pt>
                <c:pt idx="8">
                  <c:v>576</c:v>
                </c:pt>
                <c:pt idx="9">
                  <c:v>706</c:v>
                </c:pt>
                <c:pt idx="10">
                  <c:v>1990</c:v>
                </c:pt>
                <c:pt idx="11">
                  <c:v>2061</c:v>
                </c:pt>
                <c:pt idx="12">
                  <c:v>5102</c:v>
                </c:pt>
                <c:pt idx="13">
                  <c:v>15314</c:v>
                </c:pt>
                <c:pt idx="14">
                  <c:v>15327</c:v>
                </c:pt>
              </c:numCache>
            </c:numRef>
          </c:val>
        </c:ser>
        <c:ser>
          <c:idx val="1"/>
          <c:order val="1"/>
          <c:tx>
            <c:v>Unsafe</c:v>
          </c:tx>
          <c:spPr>
            <a:solidFill xmlns:a="http://schemas.openxmlformats.org/drawingml/2006/main">
              <a:srgbClr val="AC493B"/>
            </a:solidFill>
          </c:spPr>
          <c:invertIfNegative val="0"/>
          <c:cat>
            <c:strRef>
              <c:f>'Chart Data'!$C$2:$C$16</c:f>
              <c:strCache>
                <c:ptCount val="15"/>
                <c:pt idx="0">
                  <c:v>Neither profiles</c:v>
                </c:pt>
                <c:pt idx="1">
                  <c:v>External IHC</c:v>
                </c:pt>
                <c:pt idx="2">
                  <c:v>Clinical safety</c:v>
                </c:pt>
                <c:pt idx="3">
                  <c:v>Curated protein</c:v>
                </c:pt>
                <c:pt idx="4">
                  <c:v>Cornea</c:v>
                </c:pt>
                <c:pt idx="5">
                  <c:v>DICE</c:v>
                </c:pt>
                <c:pt idx="6">
                  <c:v>Monaco</c:v>
                </c:pt>
                <c:pt idx="7">
                  <c:v>HPA immune</c:v>
                </c:pt>
                <c:pt idx="8">
                  <c:v>Tissue clusters</c:v>
                </c:pt>
                <c:pt idx="9">
                  <c:v>Bulk RNA</c:v>
                </c:pt>
                <c:pt idx="10">
                  <c:v>Coverage</c:v>
                </c:pt>
                <c:pt idx="11">
                  <c:v>HPA protein</c:v>
                </c:pt>
                <c:pt idx="12">
                  <c:v>Restriction</c:v>
                </c:pt>
                <c:pt idx="13">
                  <c:v>Tumor</c:v>
                </c:pt>
                <c:pt idx="14">
                  <c:v>Association</c:v>
                </c:pt>
              </c:strCache>
            </c:strRef>
          </c:cat>
          <c:val>
            <c:numRef>
              <c:f>'Chart Data'!$D$2:$D$16</c:f>
              <c:numCache>
                <c:formatCode>General</c:formatCode>
                <c:ptCount val="15"/>
                <c:pt idx="0">
                  <c:v>18031</c:v>
                </c:pt>
                <c:pt idx="1">
                  <c:v>18031</c:v>
                </c:pt>
                <c:pt idx="2">
                  <c:v>18031</c:v>
                </c:pt>
                <c:pt idx="3">
                  <c:v>18030</c:v>
                </c:pt>
                <c:pt idx="4">
                  <c:v>18028</c:v>
                </c:pt>
                <c:pt idx="5">
                  <c:v>18016</c:v>
                </c:pt>
                <c:pt idx="6">
                  <c:v>17961</c:v>
                </c:pt>
                <c:pt idx="7">
                  <c:v>17944</c:v>
                </c:pt>
                <c:pt idx="8">
                  <c:v>17914</c:v>
                </c:pt>
                <c:pt idx="9">
                  <c:v>17500</c:v>
                </c:pt>
                <c:pt idx="10">
                  <c:v>10094</c:v>
                </c:pt>
                <c:pt idx="11">
                  <c:v>10094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</c:numCache>
            </c:numRef>
          </c:val>
        </c:ser>
        <c:ser>
          <c:idx val="2"/>
          <c:order val="2"/>
          <c:tx>
            <c:v>Neither</c:v>
          </c:tx>
          <c:spPr>
            <a:solidFill xmlns:a="http://schemas.openxmlformats.org/drawingml/2006/main">
              <a:srgbClr val="A28C68"/>
            </a:solidFill>
          </c:spPr>
          <c:invertIfNegative val="0"/>
          <c:cat>
            <c:strRef>
              <c:f>'Chart Data'!$E$2:$E$16</c:f>
              <c:strCache>
                <c:ptCount val="15"/>
                <c:pt idx="0">
                  <c:v>Neither profiles</c:v>
                </c:pt>
                <c:pt idx="1">
                  <c:v>External IHC</c:v>
                </c:pt>
                <c:pt idx="2">
                  <c:v>Clinical safety</c:v>
                </c:pt>
                <c:pt idx="3">
                  <c:v>Curated protein</c:v>
                </c:pt>
                <c:pt idx="4">
                  <c:v>Cornea</c:v>
                </c:pt>
                <c:pt idx="5">
                  <c:v>DICE</c:v>
                </c:pt>
                <c:pt idx="6">
                  <c:v>Monaco</c:v>
                </c:pt>
                <c:pt idx="7">
                  <c:v>HPA immune</c:v>
                </c:pt>
                <c:pt idx="8">
                  <c:v>Tissue clusters</c:v>
                </c:pt>
                <c:pt idx="9">
                  <c:v>Bulk RNA</c:v>
                </c:pt>
                <c:pt idx="10">
                  <c:v>Coverage</c:v>
                </c:pt>
                <c:pt idx="11">
                  <c:v>HPA protein</c:v>
                </c:pt>
                <c:pt idx="12">
                  <c:v>Restriction</c:v>
                </c:pt>
                <c:pt idx="13">
                  <c:v>Tumor</c:v>
                </c:pt>
                <c:pt idx="14">
                  <c:v>Association</c:v>
                </c:pt>
              </c:strCache>
            </c:strRef>
          </c:cat>
          <c:val>
            <c:numRef>
              <c:f>'Chart Data'!$F$2:$F$16</c:f>
              <c:numCache>
                <c:formatCode>General</c:formatCode>
                <c:ptCount val="15"/>
                <c:pt idx="0">
                  <c:v>20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</c:numCache>
            </c:numRef>
          </c:val>
        </c:ser>
        <c:ser>
          <c:idx val="3"/>
          <c:order val="3"/>
          <c:tx>
            <c:v>Unassigned</c:v>
          </c:tx>
          <c:spPr>
            <a:solidFill xmlns:a="http://schemas.openxmlformats.org/drawingml/2006/main">
              <a:srgbClr val="B9C3CD"/>
            </a:solidFill>
          </c:spPr>
          <c:invertIfNegative val="0"/>
          <c:cat>
            <c:strRef>
              <c:f>'Chart Data'!$G$2:$G$16</c:f>
              <c:strCache>
                <c:ptCount val="15"/>
                <c:pt idx="0">
                  <c:v>Neither profiles</c:v>
                </c:pt>
                <c:pt idx="1">
                  <c:v>External IHC</c:v>
                </c:pt>
                <c:pt idx="2">
                  <c:v>Clinical safety</c:v>
                </c:pt>
                <c:pt idx="3">
                  <c:v>Curated protein</c:v>
                </c:pt>
                <c:pt idx="4">
                  <c:v>Cornea</c:v>
                </c:pt>
                <c:pt idx="5">
                  <c:v>DICE</c:v>
                </c:pt>
                <c:pt idx="6">
                  <c:v>Monaco</c:v>
                </c:pt>
                <c:pt idx="7">
                  <c:v>HPA immune</c:v>
                </c:pt>
                <c:pt idx="8">
                  <c:v>Tissue clusters</c:v>
                </c:pt>
                <c:pt idx="9">
                  <c:v>Bulk RNA</c:v>
                </c:pt>
                <c:pt idx="10">
                  <c:v>Coverage</c:v>
                </c:pt>
                <c:pt idx="11">
                  <c:v>HPA protein</c:v>
                </c:pt>
                <c:pt idx="12">
                  <c:v>Restriction</c:v>
                </c:pt>
                <c:pt idx="13">
                  <c:v>Tumor</c:v>
                </c:pt>
                <c:pt idx="14">
                  <c:v>Association</c:v>
                </c:pt>
              </c:strCache>
            </c:strRef>
          </c:cat>
          <c:val>
            <c:numRef>
              <c:f>'Chart Data'!$H$2:$H$16</c:f>
              <c:numCache>
                <c:formatCode>General</c:formatCode>
                <c:ptCount val="15"/>
                <c:pt idx="0">
                  <c:v>1266</c:v>
                </c:pt>
                <c:pt idx="1">
                  <c:v>1286</c:v>
                </c:pt>
                <c:pt idx="2">
                  <c:v>1286</c:v>
                </c:pt>
                <c:pt idx="3">
                  <c:v>1286</c:v>
                </c:pt>
                <c:pt idx="4">
                  <c:v>1287</c:v>
                </c:pt>
                <c:pt idx="5">
                  <c:v>1296</c:v>
                </c:pt>
                <c:pt idx="6">
                  <c:v>1336</c:v>
                </c:pt>
                <c:pt idx="7">
                  <c:v>1350</c:v>
                </c:pt>
                <c:pt idx="8">
                  <c:v>1373</c:v>
                </c:pt>
                <c:pt idx="9">
                  <c:v>1657</c:v>
                </c:pt>
                <c:pt idx="10">
                  <c:v>7779</c:v>
                </c:pt>
                <c:pt idx="11">
                  <c:v>7708</c:v>
                </c:pt>
                <c:pt idx="12">
                  <c:v>14761</c:v>
                </c:pt>
                <c:pt idx="13">
                  <c:v>4549</c:v>
                </c:pt>
                <c:pt idx="14">
                  <c:v>4536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B55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  <c:dLblPos val="inEnd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173B55"/>
              </a:solidFill>
              <a:latin typeface="Helvetica Neue"/>
              <a:ea typeface="Helvetica Neue"/>
              <a:cs typeface="Helvetica Neue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9B569C-51F2-4651-A240-2C6C18104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CURRENT SELECTION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B9AEA4-E9D8-40A2-B6E4-48F798834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Human and dog CTA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E8D2B6-908C-48A7-A7FC-F1570BEE1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295A6B-4E11-4F93-8AC0-882C56AE4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07A72B-1185-4399-8507-7A004A96A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546 human CTA groups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AA0C12-5D04-45F0-BB12-1AD385655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90875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582 loci   /   18,031 Unsafe   /   20 Neither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CD0810-1BE1-4872-BCED-07647D4E9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109728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1,266 unassigned; dog selection remains unassessed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C19107-6F20-4FFC-941D-10B091734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Sources, expression profiles, single-cutoff filtering and measured tissue evidence.</a:t>
            </a:r>
          </a:p>
        </p:txBody>
      </p:sp>
    </p:spTree>
    <p:extLst>
      <p:ext uri="{BB962C8B-B14F-4D97-AF65-F5344CB8AC3E}">
        <p14:creationId xmlns:p14="http://schemas.microsoft.com/office/powerpoint/2010/main" val="104512461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92991B-2DF9-462F-A184-6D52A093B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FOUR SEPARATE REQUIREMENTS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8A3031-C3EE-4421-9D03-8401D0CFB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Safety and CTA identity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7A7E87-4A2F-40F5-90F1-FF73FB732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6419A5-512B-459E-A551-204B0E46E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7D177E-A4A5-48A0-B443-A98CF1E55DF5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619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4781550"/>
                <a:gridCol w="3333750"/>
              </a:tblGrid>
              <a:tr h="7239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Assessment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Question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Current rule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Safety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Concerning healthy-tissue protein production?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Absolute RNA / IHC and clinical rules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Cancer expression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Expressed in a measured cancer?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One sample ≥2 TPM or pTPM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Adult restriction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Preferential to relevant adult normal expression?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Qualifying association signal &gt; supported same-unit adult normal RNA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Reproductive / developmental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Affirmative expression in a qualifying context?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Reproductive ≥5 nTPM or supported developmental ≥5 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7EAF3C-D96E-4690-B3A3-D58A379F1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Only safety can establish Unsafe. Other failed requirements block CTA. Missing evidence remains unknown.</a:t>
            </a:r>
          </a:p>
        </p:txBody>
      </p:sp>
    </p:spTree>
    <p:extLst>
      <p:ext uri="{BB962C8B-B14F-4D97-AF65-F5344CB8AC3E}">
        <p14:creationId xmlns:p14="http://schemas.microsoft.com/office/powerpoint/2010/main" val="73149960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AD2B35-8D2E-4600-A62A-6EF48DE53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INDEPENDENT ASSESSMENTS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EB1D58-A37F-40CD-9826-B55C732AA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Adult restriction and cancer presence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73C0AD-0302-49C9-921B-C2A4261CB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B91413-4C38-4FE0-BE18-F76351294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22A529-71E4-4E5C-AEF8-D857726AD55E}"/>
              </a:ext>
            </a:extLst>
          </p:cNvPr>
          <p:cNvGraphicFramePr/>
          <p:nvPr/>
        </p:nvGraphicFramePr>
        <p:xfrm>
          <a:off xmlns:a="http://schemas.openxmlformats.org/drawingml/2006/main" x="609600" y="1666875"/>
          <a:ext xmlns:a="http://schemas.openxmlformats.org/drawingml/2006/main" cx="1097280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90875"/>
                <a:gridCol w="7781925"/>
              </a:tblGrid>
              <a:tr h="6667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Assessment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Comparator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Cancer expression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One qualifying sample. No normal ratio.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Reproductive restriction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Qualifying reproductive nTPM &gt; supported adult nTPM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Developmental restriction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Qualifying developmental TPM &gt; supported adult 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8BC5A5-F8EC-4DC7-BFC1-4F702DB4B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Safety is absolute. Adult restriction is relative.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EEEED6-E107-498F-8D2D-D54DAC18E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Compare supported Vital / Protected / Manageable expression. Exclude Reproductive / Disposable. Keep native units separate.</a:t>
            </a:r>
          </a:p>
        </p:txBody>
      </p:sp>
    </p:spTree>
    <p:extLst>
      <p:ext uri="{BB962C8B-B14F-4D97-AF65-F5344CB8AC3E}">
        <p14:creationId xmlns:p14="http://schemas.microsoft.com/office/powerpoint/2010/main" val="18491445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34C4C4-39D1-4DF3-9480-948CB4C6D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HUMAN ANNOTATIONS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C76543-BC26-4E63-B1BA-11D3C6B9E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Published candidate lists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8A3110-9CC0-4CBC-A830-3FA85E6E6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9367B8-7E84-4F49-A394-ECB172F29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321637-10F6-4112-8F69-0ABD9CBCD4C0}"/>
              </a:ext>
            </a:extLst>
          </p:cNvPr>
          <p:cNvGraphicFramePr/>
          <p:nvPr/>
        </p:nvGraphicFramePr>
        <p:xfrm>
          <a:off xmlns:a="http://schemas.openxmlformats.org/drawingml/2006/main" x="609600" y="1504950"/>
          <a:ext xmlns:a="http://schemas.openxmlformats.org/drawingml/2006/main" cx="109728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14750"/>
                <a:gridCol w="1428750"/>
                <a:gridCol w="1333500"/>
                <a:gridCol w="1524000"/>
                <a:gridCol w="1428750"/>
                <a:gridCol w="1543050"/>
              </a:tblGrid>
              <a:tr h="307731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Paper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Groups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CTA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Unsafe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Neither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Unassigned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da Silva et al. (2017)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1,017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376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401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239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Wang et al. (2016)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988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264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640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Chang et al. (2019)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985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285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639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Gong et al. (2021)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729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337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306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Bruggeman et al. (2018)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692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663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Jamin et al. (2021)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469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427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Loriot et al. (2025)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202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Carter et al. (2023)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Hirbo et al. (2015)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Seager et al. (2024)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Sasaroli et al. (2011)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Garg et al. (2007)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2E6B16-23A1-4D88-9B2E-654F30375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Union: 2,514 groups / 2,570 loci. 438 selected groups have an annotation; 108 do not.</a:t>
            </a:r>
          </a:p>
        </p:txBody>
      </p:sp>
    </p:spTree>
    <p:extLst>
      <p:ext uri="{BB962C8B-B14F-4D97-AF65-F5344CB8AC3E}">
        <p14:creationId xmlns:p14="http://schemas.microsoft.com/office/powerpoint/2010/main" val="9495613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DFED23-9FD2-477A-9701-D48E6B407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PUBLICATION 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CD2267-34A3-47F8-B7DE-252EF28A3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Broader published nominations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448E44-ACA3-4A58-80B3-679C59D20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841412-3967-495B-8502-E9541315B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40B7F3-AE33-4A0E-A722-4EBC68BDDA33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62250"/>
                <a:gridCol w="5429250"/>
                <a:gridCol w="2781300"/>
              </a:tblGrid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Paper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Published scope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Identity accounting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Sasaroli et al. (2011)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 detailed tumor-vascular candidates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 matched genes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Hirbo et al. (2015)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86 placenta-enriched genes, including 30 fast-evolving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82 matched, 4 unresolved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Compact source view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Bai, Boël and Bradley covered by larger sets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All memberships retained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Garg et al. (2007)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Still uniquely contributes SPAG9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Retained in main view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B4CF2F-571B-4CA1-A710-F5E67E67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Vascular and placental nominations retain their scope. Paper membership never bypasses the quantitative funnel.</a:t>
            </a:r>
          </a:p>
        </p:txBody>
      </p:sp>
    </p:spTree>
    <p:extLst>
      <p:ext uri="{BB962C8B-B14F-4D97-AF65-F5344CB8AC3E}">
        <p14:creationId xmlns:p14="http://schemas.microsoft.com/office/powerpoint/2010/main" val="190328430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72EAFD-24A4-4D96-A07C-595539BBF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HUMAN ANNOTATIONS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165596-D054-4D0B-9F08-4ADF2BA99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Overlap between published lists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3779A6-A5CA-4CAC-A082-F97334C5C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848610-37C5-4277-B971-3D5282F17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2B1664-E410-4C73-BC6B-31A4A73702D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e90dbe3a684cf5"/>
          <a:stretch xmlns:a="http://schemas.openxmlformats.org/drawingml/2006/main"/>
        </p:blipFill>
        <p:spPr>
          <a:xfrm xmlns:a="http://schemas.openxmlformats.org/drawingml/2006/main">
            <a:off x="1333500" y="1447800"/>
            <a:ext cx="952500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660048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7F10D4-76B5-4E24-A54F-A78513757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POSITIVE EXPRESSION CONTEXTS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576E83-C170-4D8C-835B-6A9F66CED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Reproductive and developmental association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A0B090-9E53-431A-B556-2B6483529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48E53C-4BF8-492B-9CDE-66737595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FE3C22-4572-47F1-B791-812C155A3D82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905500"/>
                <a:gridCol w="2533650"/>
                <a:gridCol w="2533650"/>
              </a:tblGrid>
              <a:tr h="6667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Qualifying route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Entrants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Final CTA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Reproductive only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2,322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298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Developmental only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2,095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Both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10,910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54E91B-A1D6-4C80-AABD-7148B6200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Whole-reference RNA measurements create this set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29C0A6-2DF4-4745-BC0F-BDA5845A3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This is not a 12,000-gene literature list. Embryonic presence does not establish developmental restriction.</a:t>
            </a:r>
          </a:p>
        </p:txBody>
      </p:sp>
    </p:spTree>
    <p:extLst>
      <p:ext uri="{BB962C8B-B14F-4D97-AF65-F5344CB8AC3E}">
        <p14:creationId xmlns:p14="http://schemas.microsoft.com/office/powerpoint/2010/main" val="85802411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4849A6-1E18-4118-8A41-1ACEC0736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HUMAN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197DF1-8FFE-4C6A-A04C-003528FE8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Normal and cancer measurement sources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8EAAAA-867B-4D2C-BA4C-A78A768F0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560F31-08C5-4ECD-93C3-831FEB130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150F59-533D-410D-A046-A3751690C987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857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5429250"/>
                <a:gridCol w="2590800"/>
              </a:tblGrid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Evidence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Source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Quantity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/ reproductive bulk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consensus + HPA brain + direct GTEx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nTPM / 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tissue cells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clusters, at least 20 reads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Immune cells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/ Monaco / original DICE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Native nTPM / 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Adult cornea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Collin et al., GSE155683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CP10K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protein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+ curated external IHC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Staining / reagent confidence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Cancer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132 compatible OncoRef cohort views + HPA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TPM / protein-coding 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Developmental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Tyser gastrulation + Petropoulos preimplantation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Stage / lineage mean 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5E40CE-5AD3-446B-92F6-C46E38293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DICE and corneal coverage are optional. Measured counterevidence still contributes.</a:t>
            </a:r>
          </a:p>
        </p:txBody>
      </p:sp>
    </p:spTree>
    <p:extLst>
      <p:ext uri="{BB962C8B-B14F-4D97-AF65-F5344CB8AC3E}">
        <p14:creationId xmlns:p14="http://schemas.microsoft.com/office/powerpoint/2010/main" val="73273344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61B712-DDF4-471B-B553-7B90E8909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CURRENT POLICY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94B21A-4B7E-4BEE-84A4-1E86DCF5E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RNA cutoffs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5FC59F-A84F-4CE4-9F78-EA5DDE416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1B0115-A516-4938-B2EE-F8446E373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8EEFA8-4ADB-4DC3-8966-D7BD4D24F743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2714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2333625"/>
                <a:gridCol w="1895475"/>
                <a:gridCol w="1895475"/>
                <a:gridCol w="1895475"/>
              </a:tblGrid>
              <a:tr h="678656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Ceiling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Missing / unusable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Approved −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Supported −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Enhanced −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78656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Vital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8656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Protected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78656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Manageable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2D1E20-D73D-45B3-AC28-41B74BA60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One boundary: above-cutoff Vital / Protected is Unsafe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09B99C-827B-4E40-9549-8265B3D32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Manageable excess blocks CTA. Bowel epithelium and identified fibroblasts use Manageable. Equality passes.</a:t>
            </a:r>
          </a:p>
        </p:txBody>
      </p:sp>
    </p:spTree>
    <p:extLst>
      <p:ext uri="{BB962C8B-B14F-4D97-AF65-F5344CB8AC3E}">
        <p14:creationId xmlns:p14="http://schemas.microsoft.com/office/powerpoint/2010/main" val="92463087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89448E-FC15-4E7B-B57D-FAE2931AD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CATEGORY DEFINITIONS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486603-A2E9-4405-B4A5-502C3BD89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Neither requires a measured expression profile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A5BAE5-AAC4-4495-9946-8AE538B5C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038A48-609C-4CA8-B7CC-BD9953008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00DA19-5864-41EF-8FCB-8966A27AEE2E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7115175"/>
                <a:gridCol w="1333500"/>
              </a:tblGrid>
              <a:tr h="9525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Profile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Required evidence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Groups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Low expression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RNA below 2 across measured normal / reproductive / embryonic / tumor panels; no detected protein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Diffuse Manageable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association route; RNA ≥2 in at least two Manageable tissue concepts; no Vital / Protected exclusion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C8BA8E-50FA-4CAF-B51E-80B5A2084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Both require complete normal RNA coverage and resolved evidence. Other failures remain unassigned.</a:t>
            </a:r>
          </a:p>
        </p:txBody>
      </p:sp>
    </p:spTree>
    <p:extLst>
      <p:ext uri="{BB962C8B-B14F-4D97-AF65-F5344CB8AC3E}">
        <p14:creationId xmlns:p14="http://schemas.microsoft.com/office/powerpoint/2010/main" val="6964254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3EB60E-F17D-4B08-ABD3-5D171CE0B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HUMAN FUNNEL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1EA205-5ECF-4D59-9F82-28D5FB43C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Every filtering layer can contribute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905F6D-1267-43E7-9BFF-453BF814E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9A1057-B442-4EFC-92AC-E9E3F9754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AD51778D-1C00-4D87-B129-4E57438800E6}"/>
              </a:ext>
            </a:extLst>
          </p:cNvPr>
          <p:cNvGraphicFramePr/>
          <p:nvPr/>
        </p:nvGraphicFramePr>
        <p:xfrm>
          <a:off xmlns:a="http://schemas.openxmlformats.org/drawingml/2006/main" x="609600" y="1504950"/>
          <a:ext xmlns:a="http://schemas.openxmlformats.org/drawingml/2006/main" cx="10972800" cy="4143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ca5d5dc7b7f4c9e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51AAE5-3250-4585-B8FB-3D6E6C38F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Final: 546 CTA / 18,031 Unsafe / 20 Neither / 1,266 unassigned.</a:t>
            </a:r>
          </a:p>
        </p:txBody>
      </p:sp>
    </p:spTree>
    <p:extLst>
      <p:ext uri="{BB962C8B-B14F-4D97-AF65-F5344CB8AC3E}">
        <p14:creationId xmlns:p14="http://schemas.microsoft.com/office/powerpoint/2010/main" val="140933678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092E4E-932B-4861-A8E1-4F2385FC1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HUMAN FUNNEL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DE39A0-B283-411C-8231-2077179B1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Removals at each filter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6EAFA0-1ED2-424A-89AD-C0F83524F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730801-D6A0-43D9-945F-829BD738E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12B7BC-8476-497D-A451-DE878A8C4996}"/>
              </a:ext>
            </a:extLst>
          </p:cNvPr>
          <p:cNvGraphicFramePr/>
          <p:nvPr/>
        </p:nvGraphicFramePr>
        <p:xfrm>
          <a:off xmlns:a="http://schemas.openxmlformats.org/drawingml/2006/main" x="609600" y="150495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76875"/>
                <a:gridCol w="1809750"/>
                <a:gridCol w="1809750"/>
                <a:gridCol w="1876425"/>
              </a:tblGrid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Layer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First removals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Eligible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Unsafe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Association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4,536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15,327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Tumor sample ≥2 TPM/pTPM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15,314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Adult restriction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10,212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5,102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normal protein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3,041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2,061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10,094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Required RNA coverage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1,990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10,094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bulk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1,284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706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17,500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tissue clusters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576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17,914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immune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569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17,944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Monaco immune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566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17,961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DICE immune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551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18,016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Adult cornea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548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18,028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Accepted normal-protein evidence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547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18,030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Clinical safety exclusion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546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18,031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External validated normal protein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546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18,031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Neither expression profiles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546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18,031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795D86-5FF0-454C-A39A-C37EC2BE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Every group remains available to every later evidence layer.</a:t>
            </a:r>
          </a:p>
        </p:txBody>
      </p:sp>
    </p:spTree>
    <p:extLst>
      <p:ext uri="{BB962C8B-B14F-4D97-AF65-F5344CB8AC3E}">
        <p14:creationId xmlns:p14="http://schemas.microsoft.com/office/powerpoint/2010/main" val="159886134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76B303-E47A-486D-BDA3-93E21CEA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ANATOMY AND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0CBF22-5DB7-46B4-A4F1-524B5ABB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IHC matching to measured RNA compartments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0D97E7-CCBE-4B29-8098-85EBD23C2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FB5829-5C38-4190-B07B-10F05CE8E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13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FDCB9B-0542-466D-A7F7-EBB7A7FF92C0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76625"/>
                <a:gridCol w="7496175"/>
              </a:tblGrid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Context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Evidence and current ceiling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PRAME colon epithelial cells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20.3 nTPM / 96 reads; Enhanced-negative glandular IHC; Manageable 128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PRAME adrenal bulk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3.6 nTPM; incomplete compartment IHC coverage; Vital 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CTAG2 bronchial basal cells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24.9 nTPM / 58 reads; Enhanced-negative respiratory IHC; Vital 32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Unrelated cells in the same tissue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negative-IHC credit without exact or declared compartment coverage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67BE9F-C067-4DC0-9829-DC891C1A7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PRAME and CTAG2 pass this policy. Parent-compartment sensitivity and PRAME’s Low adrenal protein remain explicit limitations.</a:t>
            </a:r>
          </a:p>
        </p:txBody>
      </p:sp>
    </p:spTree>
    <p:extLst>
      <p:ext uri="{BB962C8B-B14F-4D97-AF65-F5344CB8AC3E}">
        <p14:creationId xmlns:p14="http://schemas.microsoft.com/office/powerpoint/2010/main" val="212232625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158361-B55B-4F32-896D-6A7738C94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EXPRESSION DISTRIBUTIONS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7E2180-6733-4BBA-90CC-A2B587DEC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Selected CTA: reproductive versus embryonic RNA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32B9FE-C137-455F-80C2-4C28F32A8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D85755-C0FA-4E27-AE31-BA4D6D313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14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12D55B-8CCE-48FF-AA7D-2CC55CFC438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e37d5f12454fc5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0F00AF-7A37-467F-BA3E-4EB5D25CA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Gray: healthy measurement unavailable. The lower band has no embryonic-expression value.</a:t>
            </a:r>
          </a:p>
        </p:txBody>
      </p:sp>
    </p:spTree>
    <p:extLst>
      <p:ext uri="{BB962C8B-B14F-4D97-AF65-F5344CB8AC3E}">
        <p14:creationId xmlns:p14="http://schemas.microsoft.com/office/powerpoint/2010/main" val="17125461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ADBC8E-8CB6-4B6C-B522-E994BE695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EXPRESSION DISTRIBUTIONS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458D91-2233-4D45-BF69-C4983A1CE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Selected CTA: healthy RNA in TPM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F03AB9-8102-43C7-B24F-67CB611DA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FE86CA-632B-456B-864B-2326C7C92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15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B4E0A2-5758-4E63-ABBB-1F9E0057A76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510532fa544d04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C49F51-D41E-4CF7-9913-4149119F5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Gray: healthy measurement unavailable. The lower band has no embryonic-expression value.</a:t>
            </a:r>
          </a:p>
        </p:txBody>
      </p:sp>
    </p:spTree>
    <p:extLst>
      <p:ext uri="{BB962C8B-B14F-4D97-AF65-F5344CB8AC3E}">
        <p14:creationId xmlns:p14="http://schemas.microsoft.com/office/powerpoint/2010/main" val="141731206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451921-D115-45D7-BEF6-1FC925B6A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EXPRESSION DISTRIBUTIONS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C667B6-4293-426A-A194-C30D1448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Selected CTA: normal corneal RNA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435D49-6652-442C-938B-DD4C1F97B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F2E26B-4105-4B55-9335-DA3B1D5AB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16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89213F-3F66-432C-BE4D-3B29F8159EB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39c0c0095f4dfa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CCF3BC-CEA0-42EF-B4A9-C4640A9B6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Gray: healthy measurement unavailable. The lower band has no embryonic-expression value.</a:t>
            </a:r>
          </a:p>
        </p:txBody>
      </p:sp>
    </p:spTree>
    <p:extLst>
      <p:ext uri="{BB962C8B-B14F-4D97-AF65-F5344CB8AC3E}">
        <p14:creationId xmlns:p14="http://schemas.microsoft.com/office/powerpoint/2010/main" val="158899020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1228E9-0AC2-4E32-840E-D634EB187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SELECTED CTA DETAIL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9F3479-1A4C-4387-A4F3-601CCC51A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High reproductive and embryonic RNA: labels 1 of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88B72C-3915-42F7-AFB5-3EEB705F8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60A064-9720-4F3C-AF68-240313D4D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17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62043D-FF4C-4F83-A95D-217B75BDC86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d17e87df0b4222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46455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010397-54E3-4615-809B-AF036F4FF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SELECTED CTA DETAIL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461F7D-C112-495E-9FF6-79649DC78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High reproductive and embryonic RNA: labels 2 of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24FD17-57DC-4839-907D-2A8443F63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BAD3B2-5758-4B1E-8A42-C9B4B08B6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18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5A1BE5-2B26-4A37-B9F8-00789DAAA0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c4557a1fee4181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21530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667A17-105C-4966-934E-179B057D8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SELECTED CTA DETAIL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1ACA7E-A208-4911-91C4-586D3965E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High reproductive and embryonic RNA: labels 3 of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6E98F0-FFEE-4EF6-ADB7-285983E23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E91CF1-FD33-4EC9-B816-10AF435A3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19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DE5F54-EE00-46A3-9F11-7ADEA90EAD9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5013ebffbb4e27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124306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BCA6D1-5A64-42C2-A1E4-CE2634382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DEVELOPMENTAL COVERAGE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2FBAC3-64C2-49C5-A91D-E3C61DB71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Complementary embryonic measurements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410AFD-5B07-4584-B08C-FA1089BA6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199329-905B-4AD0-92E3-1056C5F32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20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072D8A-7C25-43D2-9279-89980B028AF0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048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4000500"/>
                <a:gridCol w="3543300"/>
              </a:tblGrid>
              <a:tr h="7620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Source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Measured cells / embryos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Developmental scope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Tyser et al. (2021)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1,195 cells / 1 embryo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Gastrulation, Carnegie stage 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Petropoulos et al. (2016)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1,519 cells / 88 embryos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Preimplantation, days 3–7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Recovered coverage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683 of 1,006 earlier missing groups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Measured TPM, including familiar CTAs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5E1028-1E54-4981-9896-2A87F38C5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PRAME, MAGE-A4, CTAG1A/B, XAGE1A/B and CT83 now have TPM rows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04EB0D-A2DA-40D0-AC73-5357B3692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Each source keeps its own stages. Neither atlas covers all fetal or pediatric development.</a:t>
            </a:r>
          </a:p>
        </p:txBody>
      </p:sp>
    </p:spTree>
    <p:extLst>
      <p:ext uri="{BB962C8B-B14F-4D97-AF65-F5344CB8AC3E}">
        <p14:creationId xmlns:p14="http://schemas.microsoft.com/office/powerpoint/2010/main" val="113548487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09D146-555B-4637-BAB2-1AD39C815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CURRENT ASSIGNMENTS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0F5938-C26F-4EED-96AE-C0C5E337D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Widely studied antigens: reproductive RNA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F7D1C9-CBF3-4AF0-90B8-33074D163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2A7466-3469-42FA-A75B-71D7E95C9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21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61BBFA-FE24-42B1-9B9E-AF52DD8EB25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af9f4bb85a48b3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92432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7BE93C-5E98-4FF0-8032-8A3BDC938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CURRENT ASSIGNMENTS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AF0673-38A7-4E8F-AD7A-BC04A6B00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Widely studied antigens: embryonic RNA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2D3463-3951-4D28-9302-7A86874B1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8BEE3B-4232-47EF-89E3-F509750B0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22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C150D8-894A-4396-A3EB-6D0E4E1AC08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c5bb21f1df4051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74984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43D6CD-611A-4C0E-A317-7AF643EB7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READING THE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462237-CE8B-47DD-BAA7-2B2EA5B2C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Assessment status is separate from category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2B9465-24EA-4EF9-BBB8-542738C77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970036-A975-4091-86ED-FD2496623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23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81C06F-A5DE-41FD-A98A-A1924607A5E5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190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5924550"/>
                <a:gridCol w="1619250"/>
              </a:tblGrid>
              <a:tr h="6381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API status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Meaning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Human groups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screened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CTA, Unsafe or Neither assigned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18,597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incomplete_evidence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Unassigned with missing coverage or unresolved evidence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617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outside_category_definitions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Tracked coverage checks pass; no definition fits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649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unassessed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species-specific selection policy applied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E14433-DDD8-4686-A3BA-BC5431B14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721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Neither requires a measured biological profile. Unassigned does not mean Unsafe or low expression.</a:t>
            </a:r>
          </a:p>
        </p:txBody>
      </p:sp>
    </p:spTree>
    <p:extLst>
      <p:ext uri="{BB962C8B-B14F-4D97-AF65-F5344CB8AC3E}">
        <p14:creationId xmlns:p14="http://schemas.microsoft.com/office/powerpoint/2010/main" val="49823806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D33BA-49AA-4408-A137-165E53C49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COVERAGE AUDIT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374718-97ED-4DFF-949F-C8153302A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Which sources have incomplete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A8750B-010C-4438-BD11-BFB9E239F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1A183C-0C79-4ACF-A048-3A7972F5D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24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65DE2F-3D7D-4A5B-AA8C-8D841AF7C60B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762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9239250"/>
                <a:gridCol w="1733550"/>
              </a:tblGrid>
              <a:tr h="3762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Source or unresolved evidence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Groups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3762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v23 consensus bulk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414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62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Combined normal bulk: HPA consensus + HPA brain + direct GTEx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366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762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v23 tissue-cell clusters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335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62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v23 immune cells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304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762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Monaco immune cells via HPA v23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304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62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Combined Tyser + Petropoulos TPM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296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762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tumor measurement: OncoRef + HPA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62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Measured tumor, incomplete group profile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762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v23 Uncertain normal-tissue IHC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C6D17D-CCED-4428-AD3D-373F2BBA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Overlapping gaps within 617 unassigned groups. DICE and corneal coverage are optional.</a:t>
            </a:r>
          </a:p>
        </p:txBody>
      </p:sp>
    </p:spTree>
    <p:extLst>
      <p:ext uri="{BB962C8B-B14F-4D97-AF65-F5344CB8AC3E}">
        <p14:creationId xmlns:p14="http://schemas.microsoft.com/office/powerpoint/2010/main" val="206670361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1846EF-93E5-49E9-B88D-514768501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SPECIES-SPECIFIC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9AD961-4F1F-4A9B-B544-80A6D08FF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Dog evidence and integration gaps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5AAFCA-1059-40FC-AB0F-52E862381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8DEF36-56E2-4C63-8189-0D6EDEEC5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25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754284-DA60-49D5-8D94-4942F1C3C55A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62250"/>
                <a:gridCol w="8210550"/>
              </a:tblGrid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Layer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Available evidence / remaining gap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Nominations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 + 10 − 1 shared = 14 native nominations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Identity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 unique mappings; one ambiguous MAGE-family assay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/ developmental RNA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Bgee TPM and BarkBase TMM-CPM need reference reconciliation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Tumor RNA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GSE304066 count/FPKM and reference conflicts remain unresolved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protein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Limited study IHC; Pfizer pooled iBAQ is not cell-resolved IHC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Selection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All 14 unassigned / unassessed; no canine quantitative policy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DCB630-92EB-4243-96A6-3DDD58461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Human thresholds, antibody grades and normal-tissue absence never transfer by orthology.</a:t>
            </a:r>
          </a:p>
        </p:txBody>
      </p:sp>
    </p:spTree>
    <p:extLst>
      <p:ext uri="{BB962C8B-B14F-4D97-AF65-F5344CB8AC3E}">
        <p14:creationId xmlns:p14="http://schemas.microsoft.com/office/powerpoint/2010/main" val="7555347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AA748C-33FA-4FB5-BC7D-C82B47501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DEVELOPMENTAL NOMINATIONS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06736A-A604-44C0-B0B5-A13BB1618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Curated oncofetal sources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68D5EF-C209-49EC-8863-BAF47E01F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2A69B4-EF41-42E1-B835-371BA90D8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26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2A25FF-64F5-4784-96FF-AF9112D5D8F1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19500"/>
                <a:gridCol w="7353300"/>
              </a:tblGrid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Source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Scope and integration status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Tyser + Petropoulos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Current gastrulation and preimplantation TPM sources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Shaw et al. (2024)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157 cancer-specific targets; six oncofetal annotations. Exon-specific scope retained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TRIM71 liver study (2024)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Liver oncofetal signature; requires identity and measurement ingestion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Cardoso-Moreira et al. (2019)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Developmental organ trajectories with child/adult comparisons; not integrated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D2018D-7E3D-4603-B06E-0757ADED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Published nominations need independent normal/tumor filtering and postnatal coverage.</a:t>
            </a:r>
          </a:p>
        </p:txBody>
      </p:sp>
    </p:spTree>
    <p:extLst>
      <p:ext uri="{BB962C8B-B14F-4D97-AF65-F5344CB8AC3E}">
        <p14:creationId xmlns:p14="http://schemas.microsoft.com/office/powerpoint/2010/main" val="35880392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12B43D-E078-4B52-8B85-3F69BE57A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API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700E17-1F8E-4ECB-A1E6-FB302918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Common API with native evidence underneath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52FF24-35FF-4881-8321-F5F5F46C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B1F25A-4E23-4E62-8945-A9E36458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FC70B8-8E12-4581-B7C9-415B7E593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results = cta_selection.results(species="human")</a:t>
            </a:r>
          </a:p>
          <a:p xmlns:a="http://schemas.openxmlformats.org/drawingml/2006/main">
            <a: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audit = cta_selection.audit(species="human")</a:t>
            </a:r>
          </a:p>
          <a:p xmlns:a="http://schemas.openxmlformats.org/drawingml/2006/main">
            <a: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audit.sources    audit.overlaps    audit.funnel</a:t>
            </a:r>
          </a:p>
          <a:p xmlns:a="http://schemas.openxmlformats.org/drawingml/2006/main">
            <a: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audit.explain("PRAME")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8CC0FD-154D-44FC-84B6-51708552CF11}"/>
              </a:ext>
            </a:extLst>
          </p:cNvPr>
          <p:cNvGraphicFramePr/>
          <p:nvPr/>
        </p:nvGraphicFramePr>
        <p:xfrm>
          <a:off xmlns:a="http://schemas.openxmlformats.org/drawingml/2006/main" x="609600" y="3810000"/>
          <a:ext xmlns:a="http://schemas.openxmlformats.org/drawingml/2006/main" cx="10972800" cy="1809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90875"/>
                <a:gridCol w="7781925"/>
              </a:tblGrid>
              <a:tr h="45243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Field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Meaning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category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CTA / Unsafe / Neither, or null when unassigned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assessment_status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Screened, incomplete evidence, outside definitions, or unassessed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gene_ids / gene_identities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All group members, stable IDs, history and curated synonyms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616297-7253-423B-9220-A89566564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Source-specific native units, tissue/cell context, confidence and coverage remain inspectable.</a:t>
            </a:r>
          </a:p>
        </p:txBody>
      </p:sp>
    </p:spTree>
    <p:extLst>
      <p:ext uri="{BB962C8B-B14F-4D97-AF65-F5344CB8AC3E}">
        <p14:creationId xmlns:p14="http://schemas.microsoft.com/office/powerpoint/2010/main" val="155968117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86A7CB-C0F5-4E13-BAA6-71C4490ED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DATA API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7577A2-FEAA-4EDF-A3BB-112563F2D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Every source resolves to a concrete version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A89A51-6057-47A3-A610-ED2D3A8F4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AC10AE-6621-4609-B6D6-20757667F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6BEB0F-0CB6-4653-9916-A1C7DD790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47825"/>
            <a:ext cx="109728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catalog.ensure("gtex_tissue_rna")               # v11</a:t>
            </a:r>
          </a:p>
          <a:p xmlns:a="http://schemas.openxmlformats.org/drawingml/2006/main">
            <a: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catalog.ensure("gtex_tissue_rna", version="v10")</a:t>
            </a:r>
          </a:p>
          <a:p xmlns:a="http://schemas.openxmlformats.org/drawingml/2006/main">
            <a: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catalog.provenance("gtex_tissue_rna", "v11")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2AC1A9-2B03-45C2-AB89-03EFE5CEE206}"/>
              </a:ext>
            </a:extLst>
          </p:cNvPr>
          <p:cNvGraphicFramePr/>
          <p:nvPr/>
        </p:nvGraphicFramePr>
        <p:xfrm>
          <a:off xmlns:a="http://schemas.openxmlformats.org/drawingml/2006/main" x="609600" y="3238500"/>
          <a:ext xmlns:a="http://schemas.openxmlformats.org/drawingml/2006/main" cx="10972800" cy="2238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8020050"/>
              </a:tblGrid>
              <a:tr h="4476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Shared choice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Source-specific meaning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4476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Default / latest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Newest registered release; saved runs keep explicit pins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76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Concrete version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GTEx v11; HPA v25.1; a study snapshot or OncoRef build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4476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Provenance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Version, content checksum, native unit, annotation and pipeline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76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Species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The same selector applies to native dog and mouse assets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F10BD8-8B96-4F09-9DB2-2A7FF86D7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This analysis pins GTEx v11 and HPA v23 normal panels. A newer public default does not rewrite it.</a:t>
            </a:r>
          </a:p>
        </p:txBody>
      </p:sp>
    </p:spTree>
    <p:extLst>
      <p:ext uri="{BB962C8B-B14F-4D97-AF65-F5344CB8AC3E}">
        <p14:creationId xmlns:p14="http://schemas.microsoft.com/office/powerpoint/2010/main" val="206118947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2026-10-29T14:29:32.1460000Z</dcterms:created>
  <dcterms:modified xsi:type="dcterms:W3CDTF">2026-10-29T14:29:32.1460000Z</dcterms:modified>
</coreProperties>
</file>