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772b33bd61492b" /><Relationship Type="http://schemas.openxmlformats.org/officeDocument/2006/relationships/extended-properties" Target="/docProps/app.xml" Id="R21b4c1f311b74f55" /><Relationship Type="http://schemas.openxmlformats.org/officeDocument/2006/relationships/officeDocument" Target="/ppt/presentation.xml" Id="R89189ae5e0274e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b387cbeddf441d"/>
  </p:sldMasterIdLst>
  <p:notesMasterIdLst>
    <p:notesMasterId xmlns:r="http://schemas.openxmlformats.org/officeDocument/2006/relationships" r:id="R194c95d747cf4040"/>
  </p:notesMasterIdLst>
  <p:sldIdLst>
    <p:sldId xmlns:r="http://schemas.openxmlformats.org/officeDocument/2006/relationships" id="256" r:id="R19df4e6c8d8a4344"/>
    <p:sldId xmlns:r="http://schemas.openxmlformats.org/officeDocument/2006/relationships" id="257" r:id="R2b6defd4064d440e"/>
    <p:sldId xmlns:r="http://schemas.openxmlformats.org/officeDocument/2006/relationships" id="258" r:id="Rf008829f75604e24"/>
    <p:sldId xmlns:r="http://schemas.openxmlformats.org/officeDocument/2006/relationships" id="259" r:id="R489855348a364b78"/>
    <p:sldId xmlns:r="http://schemas.openxmlformats.org/officeDocument/2006/relationships" id="260" r:id="R91ae7734d0f54dec"/>
    <p:sldId xmlns:r="http://schemas.openxmlformats.org/officeDocument/2006/relationships" id="261" r:id="Ra776b1b3811f44f9"/>
    <p:sldId xmlns:r="http://schemas.openxmlformats.org/officeDocument/2006/relationships" id="262" r:id="R657afdf4e2f94c02"/>
    <p:sldId xmlns:r="http://schemas.openxmlformats.org/officeDocument/2006/relationships" id="263" r:id="Rd2b583a1ee39402b"/>
    <p:sldId xmlns:r="http://schemas.openxmlformats.org/officeDocument/2006/relationships" id="264" r:id="Rd5b2f41086a74b8c"/>
    <p:sldId xmlns:r="http://schemas.openxmlformats.org/officeDocument/2006/relationships" id="265" r:id="R3fb2f52f9d98400a"/>
    <p:sldId xmlns:r="http://schemas.openxmlformats.org/officeDocument/2006/relationships" id="266" r:id="Rfb321217cb9647d1"/>
    <p:sldId xmlns:r="http://schemas.openxmlformats.org/officeDocument/2006/relationships" id="267" r:id="R2f34de8ee1de4f0b"/>
    <p:sldId xmlns:r="http://schemas.openxmlformats.org/officeDocument/2006/relationships" id="268" r:id="Rd2b1a35449a7423e"/>
    <p:sldId xmlns:r="http://schemas.openxmlformats.org/officeDocument/2006/relationships" id="269" r:id="R7ab1fb060786471c"/>
    <p:sldId xmlns:r="http://schemas.openxmlformats.org/officeDocument/2006/relationships" id="270" r:id="R31042621b1c649c7"/>
    <p:sldId xmlns:r="http://schemas.openxmlformats.org/officeDocument/2006/relationships" id="271" r:id="Red2f7507867b4fc4"/>
    <p:sldId xmlns:r="http://schemas.openxmlformats.org/officeDocument/2006/relationships" id="272" r:id="R879a823fe26c4f7e"/>
    <p:sldId xmlns:r="http://schemas.openxmlformats.org/officeDocument/2006/relationships" id="273" r:id="R9baf1e44c1da462e"/>
    <p:sldId xmlns:r="http://schemas.openxmlformats.org/officeDocument/2006/relationships" id="274" r:id="R8e198d05a1ef4378"/>
    <p:sldId xmlns:r="http://schemas.openxmlformats.org/officeDocument/2006/relationships" id="275" r:id="R33992839d36f4c7a"/>
    <p:sldId xmlns:r="http://schemas.openxmlformats.org/officeDocument/2006/relationships" id="276" r:id="Rea7e7f842a784f92"/>
    <p:sldId xmlns:r="http://schemas.openxmlformats.org/officeDocument/2006/relationships" id="277" r:id="R7c275f5c94c74a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9447160c984abb" /><Relationship Type="http://schemas.openxmlformats.org/officeDocument/2006/relationships/slideMaster" Target="/ppt/slideMasters/slideMaster1.xml" Id="Rd9b387cbeddf441d" /><Relationship Type="http://schemas.openxmlformats.org/officeDocument/2006/relationships/notesMaster" Target="/ppt/notesMasters/notesMaster1.xml" Id="R194c95d747cf4040" /><Relationship Type="http://schemas.openxmlformats.org/officeDocument/2006/relationships/presProps" Target="/ppt/presProps.xml" Id="Rca680ecad1504294" /><Relationship Type="http://schemas.openxmlformats.org/officeDocument/2006/relationships/tableStyles" Target="/ppt/tableStyles.xml" Id="R5ab95506e1ec41f5" /><Relationship Type="http://schemas.openxmlformats.org/officeDocument/2006/relationships/slide" Target="/ppt/slides/slide1.xml" Id="R19df4e6c8d8a4344" /><Relationship Type="http://schemas.openxmlformats.org/officeDocument/2006/relationships/slide" Target="/ppt/slides/slide2.xml" Id="R2b6defd4064d440e" /><Relationship Type="http://schemas.openxmlformats.org/officeDocument/2006/relationships/slide" Target="/ppt/slides/slide3.xml" Id="Rf008829f75604e24" /><Relationship Type="http://schemas.openxmlformats.org/officeDocument/2006/relationships/slide" Target="/ppt/slides/slide4.xml" Id="R489855348a364b78" /><Relationship Type="http://schemas.openxmlformats.org/officeDocument/2006/relationships/slide" Target="/ppt/slides/slide5.xml" Id="R91ae7734d0f54dec" /><Relationship Type="http://schemas.openxmlformats.org/officeDocument/2006/relationships/slide" Target="/ppt/slides/slide6.xml" Id="Ra776b1b3811f44f9" /><Relationship Type="http://schemas.openxmlformats.org/officeDocument/2006/relationships/slide" Target="/ppt/slides/slide7.xml" Id="R657afdf4e2f94c02" /><Relationship Type="http://schemas.openxmlformats.org/officeDocument/2006/relationships/slide" Target="/ppt/slides/slide8.xml" Id="Rd2b583a1ee39402b" /><Relationship Type="http://schemas.openxmlformats.org/officeDocument/2006/relationships/slide" Target="/ppt/slides/slide9.xml" Id="Rd5b2f41086a74b8c" /><Relationship Type="http://schemas.openxmlformats.org/officeDocument/2006/relationships/slide" Target="/ppt/slides/slide10.xml" Id="R3fb2f52f9d98400a" /><Relationship Type="http://schemas.openxmlformats.org/officeDocument/2006/relationships/slide" Target="/ppt/slides/slide11.xml" Id="Rfb321217cb9647d1" /><Relationship Type="http://schemas.openxmlformats.org/officeDocument/2006/relationships/slide" Target="/ppt/slides/slide12.xml" Id="R2f34de8ee1de4f0b" /><Relationship Type="http://schemas.openxmlformats.org/officeDocument/2006/relationships/slide" Target="/ppt/slides/slide13.xml" Id="Rd2b1a35449a7423e" /><Relationship Type="http://schemas.openxmlformats.org/officeDocument/2006/relationships/slide" Target="/ppt/slides/slide14.xml" Id="R7ab1fb060786471c" /><Relationship Type="http://schemas.openxmlformats.org/officeDocument/2006/relationships/slide" Target="/ppt/slides/slide15.xml" Id="R31042621b1c649c7" /><Relationship Type="http://schemas.openxmlformats.org/officeDocument/2006/relationships/slide" Target="/ppt/slides/slide16.xml" Id="Red2f7507867b4fc4" /><Relationship Type="http://schemas.openxmlformats.org/officeDocument/2006/relationships/slide" Target="/ppt/slides/slide17.xml" Id="R879a823fe26c4f7e" /><Relationship Type="http://schemas.openxmlformats.org/officeDocument/2006/relationships/slide" Target="/ppt/slides/slide18.xml" Id="R9baf1e44c1da462e" /><Relationship Type="http://schemas.openxmlformats.org/officeDocument/2006/relationships/slide" Target="/ppt/slides/slide19.xml" Id="R8e198d05a1ef4378" /><Relationship Type="http://schemas.openxmlformats.org/officeDocument/2006/relationships/slide" Target="/ppt/slides/slide20.xml" Id="R33992839d36f4c7a" /><Relationship Type="http://schemas.openxmlformats.org/officeDocument/2006/relationships/slide" Target="/ppt/slides/slide21.xml" Id="Rea7e7f842a784f92" /><Relationship Type="http://schemas.openxmlformats.org/officeDocument/2006/relationships/slide" Target="/ppt/slides/slide22.xml" Id="R7c275f5c94c74a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7a6004240d4f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96c738bef04bf3" /><Relationship Type="http://schemas.openxmlformats.org/officeDocument/2006/relationships/notesMaster" Target="/ppt/notesMasters/notesMaster1.xml" Id="R328f3165403348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b9bf4f6a744ad5" /><Relationship Type="http://schemas.openxmlformats.org/officeDocument/2006/relationships/notesMaster" Target="/ppt/notesMasters/notesMaster1.xml" Id="R1909d640cfed4f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334dfe1de429a" /><Relationship Type="http://schemas.openxmlformats.org/officeDocument/2006/relationships/notesMaster" Target="/ppt/notesMasters/notesMaster1.xml" Id="Raf4fd2eb3dfb4f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f7d238b9764119" /><Relationship Type="http://schemas.openxmlformats.org/officeDocument/2006/relationships/notesMaster" Target="/ppt/notesMasters/notesMaster1.xml" Id="Rf873d8f581e142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ab87ebdee74e48" /><Relationship Type="http://schemas.openxmlformats.org/officeDocument/2006/relationships/notesMaster" Target="/ppt/notesMasters/notesMaster1.xml" Id="Rdf517e1021004e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b7cf41aafc44ad" /><Relationship Type="http://schemas.openxmlformats.org/officeDocument/2006/relationships/notesMaster" Target="/ppt/notesMasters/notesMaster1.xml" Id="R68f68474b84649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6749c94d324985" /><Relationship Type="http://schemas.openxmlformats.org/officeDocument/2006/relationships/notesMaster" Target="/ppt/notesMasters/notesMaster1.xml" Id="R884ed1e9b10641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7f25223b0247d4" /><Relationship Type="http://schemas.openxmlformats.org/officeDocument/2006/relationships/notesMaster" Target="/ppt/notesMasters/notesMaster1.xml" Id="Rf0a736cb341448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3099b4afe54867" /><Relationship Type="http://schemas.openxmlformats.org/officeDocument/2006/relationships/notesMaster" Target="/ppt/notesMasters/notesMaster1.xml" Id="R88de079012fa49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0aad702e0d4c8a" /><Relationship Type="http://schemas.openxmlformats.org/officeDocument/2006/relationships/notesMaster" Target="/ppt/notesMasters/notesMaster1.xml" Id="R709e04f021bd4f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bfbc67dd984de9" /><Relationship Type="http://schemas.openxmlformats.org/officeDocument/2006/relationships/notesMaster" Target="/ppt/notesMasters/notesMaster1.xml" Id="R57fafa183f7945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00090aa58c4185" /><Relationship Type="http://schemas.openxmlformats.org/officeDocument/2006/relationships/notesMaster" Target="/ppt/notesMasters/notesMaster1.xml" Id="R7cb9badf08f24c3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450a9f631a54684" /><Relationship Type="http://schemas.openxmlformats.org/officeDocument/2006/relationships/notesMaster" Target="/ppt/notesMasters/notesMaster1.xml" Id="Rb19e006c56c741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6c95eef5614dfe" /><Relationship Type="http://schemas.openxmlformats.org/officeDocument/2006/relationships/notesMaster" Target="/ppt/notesMasters/notesMaster1.xml" Id="R4a937879bc3e4ce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d54ce45a3c4f2e" /><Relationship Type="http://schemas.openxmlformats.org/officeDocument/2006/relationships/notesMaster" Target="/ppt/notesMasters/notesMaster1.xml" Id="R7853597cb8384c8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dfb56c58a9a4967" /><Relationship Type="http://schemas.openxmlformats.org/officeDocument/2006/relationships/notesMaster" Target="/ppt/notesMasters/notesMaster1.xml" Id="R06dea1134f5b4df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490150cd9b3449b" /><Relationship Type="http://schemas.openxmlformats.org/officeDocument/2006/relationships/notesMaster" Target="/ppt/notesMasters/notesMaster1.xml" Id="R75e6cd685b5646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6eabf6829a848b0" /><Relationship Type="http://schemas.openxmlformats.org/officeDocument/2006/relationships/notesMaster" Target="/ppt/notesMasters/notesMaster1.xml" Id="R751198d78a18408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d690a0b581149d4" /><Relationship Type="http://schemas.openxmlformats.org/officeDocument/2006/relationships/notesMaster" Target="/ppt/notesMasters/notesMaster1.xml" Id="R7d4b6975d8fb46c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8b809b9772d4c65" /><Relationship Type="http://schemas.openxmlformats.org/officeDocument/2006/relationships/notesMaster" Target="/ppt/notesMasters/notesMaster1.xml" Id="R24a37c24a19143a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319945e6bf4329" /><Relationship Type="http://schemas.openxmlformats.org/officeDocument/2006/relationships/notesMaster" Target="/ppt/notesMasters/notesMaster1.xml" Id="Rd4bca99e655846b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4203ffea2b54f7b" /><Relationship Type="http://schemas.openxmlformats.org/officeDocument/2006/relationships/notesMaster" Target="/ppt/notesMasters/notesMaster1.xml" Id="R9dbb477c9e2640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Neither requires an affirmative expression profile.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Bradley et al. (2020): https://doi.org/10.1038/s41467-020-19141-w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Boël et al. (1995): https://doi.org/10.1016/s1074-7613(95)80053-0</a:t>
            </a:r>
          </a:p>
          <a:p xmlns:a="http://schemas.openxmlformats.org/drawingml/2006/main">
            <a:r>
              <a:t>Bai et al. (2016): https://doi.org/10.1158/0008-5472.CAN-16-0225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 the small paper sets actually contain</a:t>
            </a:r>
          </a:p>
          <a:p xmlns:a="http://schemas.openxmlformats.org/drawingml/2006/main">
            <a:r>
              <a:t>Garg et al. (2007), Discussion https://doi.org/10.1158/1078-0432.CCR-06-2340 ; Boël et al. (1995), Abstract https://pubmed.ncbi.nlm.nih.gov/7895173/ ; Bai et al. (2016) https://pubmed.ncbi.nlm.nih.gov/27803106/ . Prior recognized antigens have a separate evidence role and do not inherit new-target validation.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and developmental association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Neither requires a measured expression profile</a:t>
            </a:r>
          </a:p>
          <a:p xmlns:a="http://schemas.openxmlformats.org/drawingml/2006/main">
            <a:r>
              <a:t>Low means below the common 2-unit expression floor in every measured source, with required normal panels and tumor/developmental measurements. Missing optional DICE/cornea is disclosed. No detected protein is not proof of absence in every unmeasured tissue.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Neither. The final profile check assigns Neither. All layers evaluate every group;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reproductive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 and all genes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immune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 and all genes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 and all genes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familiar CTAs lack an atlas TPM row</a:t>
            </a:r>
          </a:p>
          <a:p xmlns:a="http://schemas.openxmlformats.org/drawingml/2006/main">
            <a:r>
              <a:t>Author raw counts: https://github.com/ScialdoneLab/human-gastrula-shiny/tree/3e6ab8546e57decc5ec09770720709b5fa6428ef . All values below are raw-count observations, not TPM. The 25,330-row atlas download is gene-filtered; the author table has 57,490 columns and the same number of cells. Different quantification pipelines remain separate.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reproductive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a colon hold plus missing embryonic measurements; the missing measurement is not the cause of the colon hold.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Which sources have incomplete evidence</a:t>
            </a:r>
          </a:p>
          <a:p xmlns:a="http://schemas.openxmlformats.org/drawingml/2006/main">
            <a:r>
              <a:t>Source versions, complete missing tissue/cell contexts, member ENSG IDs, historical IDs, synonyms and tumor cohort coverage: https://pirl-unc.github.io/oncoref/audits/cta-source-walkthrough-20261028/coverage/ . Counts overlap and do not sum to a total.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oncoref.cta-selection.2026-10-28</a:t>
            </a:r>
          </a:p>
          <a:p xmlns:a="http://schemas.openxmlformats.org/drawingml/2006/main">
            <a:r>
              <a:t>Decision snapshot SHA256: 56725e3c3b28dd2793a2da63d6f2222da1088d96af0a60ce30bc4966e3c636c3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bc4c94178e4f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bc0657b26342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50db45a7d49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923bc7b5b4e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b602b68ace42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a138d0409f41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F72547-8A25-4AE3-9527-F38EAE8AB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8A44BDC-A6B7-4DB9-A7D8-46359994124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33A552B-0662-4E54-9656-9EE8FB35DD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FB2777-F8D0-4881-A134-88909F6053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2DF937-E05B-481C-B11C-0821372921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8DBA6E2-716B-4F91-94CC-443D5C12A9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517F1EE-952D-49CA-92C2-0D9D9FF03C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E3350DE-215D-4792-ABC4-F10CE8C877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A422A33-FC99-4CFE-A9E0-F7EA2D4262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3BA26A-BB00-4CF8-B1CA-B83D69A376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27a4a4e8d54842" /><Relationship Type="http://schemas.openxmlformats.org/officeDocument/2006/relationships/slideLayout" Target="/ppt/slideLayouts/slideLayout1.xml" Id="R56fef54bc3254012" /><Relationship Type="http://schemas.openxmlformats.org/officeDocument/2006/relationships/slideLayout" Target="/ppt/slideLayouts/slideLayout2.xml" Id="R7ed9919a69034517" /><Relationship Type="http://schemas.openxmlformats.org/officeDocument/2006/relationships/slideLayout" Target="/ppt/slideLayouts/slideLayout3.xml" Id="R4f05ee486e4b4c1d" /><Relationship Type="http://schemas.openxmlformats.org/officeDocument/2006/relationships/slideLayout" Target="/ppt/slideLayouts/slideLayout4.xml" Id="R3663beaf57fb4680" /><Relationship Type="http://schemas.openxmlformats.org/officeDocument/2006/relationships/slideLayout" Target="/ppt/slideLayouts/slideLayout5.xml" Id="Rb53188220a5c43a5" /><Relationship Type="http://schemas.openxmlformats.org/officeDocument/2006/relationships/slideLayout" Target="/ppt/slideLayouts/slideLayout6.xml" Id="R2a51fbb9f81640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fef54bc3254012"/>
    <p:sldLayoutId xmlns:r="http://schemas.openxmlformats.org/officeDocument/2006/relationships" id="2147483650" r:id="R7ed9919a69034517"/>
    <p:sldLayoutId xmlns:r="http://schemas.openxmlformats.org/officeDocument/2006/relationships" id="2147483651" r:id="R4f05ee486e4b4c1d"/>
    <p:sldLayoutId xmlns:r="http://schemas.openxmlformats.org/officeDocument/2006/relationships" id="2147483652" r:id="R3663beaf57fb4680"/>
    <p:sldLayoutId xmlns:r="http://schemas.openxmlformats.org/officeDocument/2006/relationships" id="2147483653" r:id="Rb53188220a5c43a5"/>
    <p:sldLayoutId xmlns:r="http://schemas.openxmlformats.org/officeDocument/2006/relationships" id="2147483654" r:id="R2a51fbb9f81640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6cd84752b547bc" /><Relationship Type="http://schemas.openxmlformats.org/officeDocument/2006/relationships/notesSlide" Target="/ppt/notesSlides/notesSlide1.xml" Id="R4dab3a734d8348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03771a96e24845" /><Relationship Type="http://schemas.openxmlformats.org/officeDocument/2006/relationships/notesSlide" Target="/ppt/notesSlides/notesSlide2.xml" Id="Rc21ad3252c334e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b69d0ad48c465a" /><Relationship Type="http://schemas.openxmlformats.org/officeDocument/2006/relationships/notesSlide" Target="/ppt/notesSlides/notesSlide3.xml" Id="R6831394bab314f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b2fca850344c43" /><Relationship Type="http://schemas.openxmlformats.org/officeDocument/2006/relationships/image" Target="/ppt/media/image.png" Id="R7828a8f8ee8d4930" /><Relationship Type="http://schemas.openxmlformats.org/officeDocument/2006/relationships/notesSlide" Target="/ppt/notesSlides/notesSlide4.xml" Id="R8d2ba13f0c024a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855929275642a5" /><Relationship Type="http://schemas.openxmlformats.org/officeDocument/2006/relationships/notesSlide" Target="/ppt/notesSlides/notesSlide5.xml" Id="R35fbc71ffcd645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f08daf0a75441f" /><Relationship Type="http://schemas.openxmlformats.org/officeDocument/2006/relationships/notesSlide" Target="/ppt/notesSlides/notesSlide6.xml" Id="Rdeecc305827643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076dc03bc9431b" /><Relationship Type="http://schemas.openxmlformats.org/officeDocument/2006/relationships/notesSlide" Target="/ppt/notesSlides/notesSlide7.xml" Id="Rd5dd566934b245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fd065f48f24d63" /><Relationship Type="http://schemas.openxmlformats.org/officeDocument/2006/relationships/notesSlide" Target="/ppt/notesSlides/notesSlide8.xml" Id="R2c487718a6dc4a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2cbca734664fe9" /><Relationship Type="http://schemas.openxmlformats.org/officeDocument/2006/relationships/chart" Target="/ppt/slides/charts/chart1.xml" Id="Rb6b21bab454a457a" /><Relationship Type="http://schemas.openxmlformats.org/officeDocument/2006/relationships/notesSlide" Target="/ppt/notesSlides/notesSlide9.xml" Id="R606500becbeb4d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e8f3e0728040b3" /><Relationship Type="http://schemas.openxmlformats.org/officeDocument/2006/relationships/notesSlide" Target="/ppt/notesSlides/notesSlide10.xml" Id="R1da4581281a840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b659a7499e476c" /><Relationship Type="http://schemas.openxmlformats.org/officeDocument/2006/relationships/notesSlide" Target="/ppt/notesSlides/notesSlide11.xml" Id="R195509cee7f442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cd8dd565034fc2" /><Relationship Type="http://schemas.openxmlformats.org/officeDocument/2006/relationships/image" Target="/ppt/media/image2.png" Id="Rba8b55caf4464943" /><Relationship Type="http://schemas.openxmlformats.org/officeDocument/2006/relationships/notesSlide" Target="/ppt/notesSlides/notesSlide12.xml" Id="R5d5a103a83e447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480d228baa410f" /><Relationship Type="http://schemas.openxmlformats.org/officeDocument/2006/relationships/image" Target="/ppt/media/image3.png" Id="Rab9c61d51aa04b27" /><Relationship Type="http://schemas.openxmlformats.org/officeDocument/2006/relationships/notesSlide" Target="/ppt/notesSlides/notesSlide13.xml" Id="R3eff4ecb311b42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b59ce0f3be4b71" /><Relationship Type="http://schemas.openxmlformats.org/officeDocument/2006/relationships/image" Target="/ppt/media/image4.png" Id="R5a553ce6daaf4f1d" /><Relationship Type="http://schemas.openxmlformats.org/officeDocument/2006/relationships/notesSlide" Target="/ppt/notesSlides/notesSlide14.xml" Id="Rb8325c78377e47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f8b7502fc94940" /><Relationship Type="http://schemas.openxmlformats.org/officeDocument/2006/relationships/notesSlide" Target="/ppt/notesSlides/notesSlide15.xml" Id="Rf98755b6dae34d9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088dc6c6ba409d" /><Relationship Type="http://schemas.openxmlformats.org/officeDocument/2006/relationships/image" Target="/ppt/media/image5.png" Id="R777a4d3e6e224aff" /><Relationship Type="http://schemas.openxmlformats.org/officeDocument/2006/relationships/notesSlide" Target="/ppt/notesSlides/notesSlide16.xml" Id="Rb3e03fa78fe547c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b34bd0244142d1" /><Relationship Type="http://schemas.openxmlformats.org/officeDocument/2006/relationships/image" Target="/ppt/media/image6.png" Id="R044275a9b5a64f55" /><Relationship Type="http://schemas.openxmlformats.org/officeDocument/2006/relationships/notesSlide" Target="/ppt/notesSlides/notesSlide17.xml" Id="R2b1b0740ecde40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40582404b84d4d" /><Relationship Type="http://schemas.openxmlformats.org/officeDocument/2006/relationships/notesSlide" Target="/ppt/notesSlides/notesSlide18.xml" Id="Re50a781ac8b447b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ddfcc6db084350" /><Relationship Type="http://schemas.openxmlformats.org/officeDocument/2006/relationships/notesSlide" Target="/ppt/notesSlides/notesSlide19.xml" Id="R7ebad1fa0b4c408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a968f98f454928" /><Relationship Type="http://schemas.openxmlformats.org/officeDocument/2006/relationships/notesSlide" Target="/ppt/notesSlides/notesSlide20.xml" Id="Rd4a05cc74735479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9cc10de85c485b" /><Relationship Type="http://schemas.openxmlformats.org/officeDocument/2006/relationships/notesSlide" Target="/ppt/notesSlides/notesSlide21.xml" Id="R6111813c577d42d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3390b9b66343ed" /><Relationship Type="http://schemas.openxmlformats.org/officeDocument/2006/relationships/notesSlide" Target="/ppt/notesSlides/notesSlide22.xml" Id="R6378b69aa6a44e0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Data'!$B$2:$B$15</c:f>
              <c:numCache>
                <c:formatCode>General</c:formatCode>
                <c:ptCount val="14"/>
                <c:pt idx="0">
                  <c:v>466</c:v>
                </c:pt>
                <c:pt idx="1">
                  <c:v>466</c:v>
                </c:pt>
                <c:pt idx="2">
                  <c:v>466</c:v>
                </c:pt>
                <c:pt idx="3">
                  <c:v>466</c:v>
                </c:pt>
                <c:pt idx="4">
                  <c:v>467</c:v>
                </c:pt>
                <c:pt idx="5">
                  <c:v>471</c:v>
                </c:pt>
                <c:pt idx="6">
                  <c:v>492</c:v>
                </c:pt>
                <c:pt idx="7">
                  <c:v>503</c:v>
                </c:pt>
                <c:pt idx="8">
                  <c:v>511</c:v>
                </c:pt>
                <c:pt idx="9">
                  <c:v>904</c:v>
                </c:pt>
                <c:pt idx="10">
                  <c:v>3192</c:v>
                </c:pt>
                <c:pt idx="11">
                  <c:v>3284</c:v>
                </c:pt>
                <c:pt idx="12">
                  <c:v>12135</c:v>
                </c:pt>
                <c:pt idx="13">
                  <c:v>12141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Data'!$D$2:$D$15</c:f>
              <c:numCache>
                <c:formatCode>General</c:formatCode>
                <c:ptCount val="14"/>
                <c:pt idx="0">
                  <c:v>17718</c:v>
                </c:pt>
                <c:pt idx="1">
                  <c:v>17718</c:v>
                </c:pt>
                <c:pt idx="2">
                  <c:v>17718</c:v>
                </c:pt>
                <c:pt idx="3">
                  <c:v>17717</c:v>
                </c:pt>
                <c:pt idx="4">
                  <c:v>17715</c:v>
                </c:pt>
                <c:pt idx="5">
                  <c:v>17697</c:v>
                </c:pt>
                <c:pt idx="6">
                  <c:v>17609</c:v>
                </c:pt>
                <c:pt idx="7">
                  <c:v>17571</c:v>
                </c:pt>
                <c:pt idx="8">
                  <c:v>17523</c:v>
                </c:pt>
                <c:pt idx="9">
                  <c:v>16535</c:v>
                </c:pt>
                <c:pt idx="10">
                  <c:v>10094</c:v>
                </c:pt>
                <c:pt idx="11">
                  <c:v>10094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ser>
          <c:idx val="2"/>
          <c:order val="2"/>
          <c:tx>
            <c:v>Neither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Data'!$F$2:$F$15</c:f>
              <c:numCache>
                <c:formatCode>General</c:formatCode>
                <c:ptCount val="14"/>
                <c:pt idx="0">
                  <c:v>17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Data'!$G$2:$G$15</c:f>
              <c:strCache>
                <c:ptCount val="14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Tumor</c:v>
                </c:pt>
                <c:pt idx="13">
                  <c:v>Association</c:v>
                </c:pt>
              </c:strCache>
            </c:strRef>
          </c:cat>
          <c:val>
            <c:numRef>
              <c:f>'Chart Data'!$H$2:$H$15</c:f>
              <c:numCache>
                <c:formatCode>General</c:formatCode>
                <c:ptCount val="14"/>
                <c:pt idx="0">
                  <c:v>1662</c:v>
                </c:pt>
                <c:pt idx="1">
                  <c:v>1679</c:v>
                </c:pt>
                <c:pt idx="2">
                  <c:v>1679</c:v>
                </c:pt>
                <c:pt idx="3">
                  <c:v>1680</c:v>
                </c:pt>
                <c:pt idx="4">
                  <c:v>1681</c:v>
                </c:pt>
                <c:pt idx="5">
                  <c:v>1695</c:v>
                </c:pt>
                <c:pt idx="6">
                  <c:v>1762</c:v>
                </c:pt>
                <c:pt idx="7">
                  <c:v>1789</c:v>
                </c:pt>
                <c:pt idx="8">
                  <c:v>1829</c:v>
                </c:pt>
                <c:pt idx="9">
                  <c:v>2424</c:v>
                </c:pt>
                <c:pt idx="10">
                  <c:v>6577</c:v>
                </c:pt>
                <c:pt idx="11">
                  <c:v>6485</c:v>
                </c:pt>
                <c:pt idx="12">
                  <c:v>7728</c:v>
                </c:pt>
                <c:pt idx="13">
                  <c:v>7722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CB986-9396-4FCC-B547-85A76B18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4671DA-88A2-4FC8-9F62-1200B39D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D3AAA-FA34-41B7-9A48-5539F58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DC29B-2330-43A6-9501-933D04EA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351A9-6BF1-440A-AEDB-D4CBAA9E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466 human CTA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5655A-E9C0-4771-AEE5-E6AE0578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484 loci   /   17,718 Unsafe   /   17 Neither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9C1AE-E7D7-4AE8-9F63-88E2DD0E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1,662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78FFF-9A1D-4308-BEE6-0AD73274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12971226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099BC8-DD7E-4B60-A79C-5A58393F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5156E-2DDB-4D03-81B0-0B4B7828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DC9EB-0D1E-4583-ADF9-6573A62A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61C90-4298-470B-8BBC-67C88589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25F8B-A11C-447D-B4E0-DBC5CACA73D0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358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587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Bradley et al. (2020)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Boël et al. (1995)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F8A9B-1D6B-4114-97B8-1E209482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2,482 groups / 2,538 loci. 421 selected groups have an annotation; 45 do not.</a:t>
            </a:r>
          </a:p>
        </p:txBody>
      </p:sp>
    </p:spTree>
    <p:extLst>
      <p:ext uri="{BB962C8B-B14F-4D97-AF65-F5344CB8AC3E}">
        <p14:creationId xmlns:p14="http://schemas.microsoft.com/office/powerpoint/2010/main" val="1788212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6438A-976D-41FE-B1ED-19DC55FD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59252-6EC8-44E4-A80D-53A6AAEE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What the small paper sets actually contain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8649B-FDB1-43AD-9132-20E252D9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944B6-C75C-499B-8272-836C05F6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6A66D-BD58-42CF-B8D6-9EA84DDA1C57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2714625"/>
                <a:gridCol w="4191000"/>
                <a:gridCol w="1924050"/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Principal target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 CTAs recognized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Mapped / selected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EGFL6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larger CTA list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 / 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SPA17, SYCP1, NY-ESO-1, SSX4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/ 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Boël (1995)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BAGE: unresolved locus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MAGE-A1, MAGE-A3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 / 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EE8B14-1267-407F-81EB-36D13A48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Bai’s 538 correlated genes are not a CTA set. Added prior-CTA memberships change overlaps, not the overall union or selection.</a:t>
            </a:r>
          </a:p>
        </p:txBody>
      </p:sp>
    </p:spTree>
    <p:extLst>
      <p:ext uri="{BB962C8B-B14F-4D97-AF65-F5344CB8AC3E}">
        <p14:creationId xmlns:p14="http://schemas.microsoft.com/office/powerpoint/2010/main" val="12158317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C5CD9-7EFE-4CDE-8F4E-A4ABC7EA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A0F63-5EA8-4523-810F-C831C033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37543-EA7E-4D2F-A204-A58DA833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7149D-B2B1-4928-9AD2-8DB0D69D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9E3D05-3ED8-453C-BBD5-C8ECAAD0AF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28a8f8ee8d4930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995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1AEAB-214F-430C-B98B-5EB0CC7B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D32EF-CE07-43FE-BB07-110C2A76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and developmental association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C8C39-F6BC-41DD-8221-41986B01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4E68A-AE8D-414D-A22A-CBC73C3F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001A0-D05F-4B0C-BB6E-1EB6A5FC08E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1,230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9,483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1,428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4167D-51C5-48ED-B5C7-E953D2AA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Whole-reference RNA measurements create this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ABBB6E-4E16-4AAC-BC0E-F8437298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is not a 12,000-gene literature list. Embryonic presence does not establish developmental restriction.</a:t>
            </a:r>
          </a:p>
        </p:txBody>
      </p:sp>
    </p:spTree>
    <p:extLst>
      <p:ext uri="{BB962C8B-B14F-4D97-AF65-F5344CB8AC3E}">
        <p14:creationId xmlns:p14="http://schemas.microsoft.com/office/powerpoint/2010/main" val="19591893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4F278-B5D5-4731-B7A5-EE4BF669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9FC30-ED8B-4049-8D71-9B02E4CF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1031B7-A482-4185-906A-8CDC2AE3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2DF8E-5498-4309-B3D5-72AEF01A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802CD-22C0-4200-88F7-DEAFB1CE7C7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consensus with GTEx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/ Monaco / original 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et al. (2021), one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DA50B-EC3F-4476-869B-0868627A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DICE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858057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DDC66-0F8D-4B2B-B8D7-6B74FAF6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D10C50-1FBA-481B-8B62-F725BB0D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858A2-1788-47D7-A26D-7E1FCDFC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228CA-B8E1-4236-8321-0467EC1F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D80BF-9414-442E-ADFD-3BBDC578283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0C557A-494F-48EA-BA09-1179C232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2886D-1E60-4B79-999F-4D5633CA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1309552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4C8598-04ED-4B0A-81A5-D582980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CATEGORY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99E08-6E49-4679-B2D9-87705C09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Neither requires a measured expression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C6CFB-48D0-42CE-9CAE-C01B3651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E5716-2443-4220-9F3A-B7ACEB86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B926A-13E2-437C-9A09-47BB0555CB8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7115175"/>
                <a:gridCol w="1333500"/>
              </a:tblGrid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RNA below 2 across measured normal / reproductive / embryonic / tumor panels; no detected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association route; RNA ≥2 in at least two Manageable tissue concepts; no Vital / Protected exclusion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C858D-72EE-4B44-B1A6-69F10299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Both require complete normal RNA coverage and resolved evidence. Other failures remain unassigned.</a:t>
            </a:r>
          </a:p>
        </p:txBody>
      </p:sp>
    </p:spTree>
    <p:extLst>
      <p:ext uri="{BB962C8B-B14F-4D97-AF65-F5344CB8AC3E}">
        <p14:creationId xmlns:p14="http://schemas.microsoft.com/office/powerpoint/2010/main" val="6763497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B21A6B-804E-49C1-8879-B91D5FE8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27A5F-ED5F-484E-9D69-61D75A36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3E31C-B442-44CE-B685-C6BB2AC9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B11F4-D317-48C6-B13D-9848E543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541D8AE3-0A8B-4436-8BA3-7B310A44FF9B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b21bab454a457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371B0-449A-42C9-9385-9C15B121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466 CTA / 17,718 Unsafe / 17 Neither / 1,662 unassigned.</a:t>
            </a:r>
          </a:p>
        </p:txBody>
      </p:sp>
    </p:spTree>
    <p:extLst>
      <p:ext uri="{BB962C8B-B14F-4D97-AF65-F5344CB8AC3E}">
        <p14:creationId xmlns:p14="http://schemas.microsoft.com/office/powerpoint/2010/main" val="6480253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82163-1D90-4840-9E5E-4C118F4D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21BE9-E872-4BCE-9DA2-7B3E6D28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B3166-F707-49F9-8F71-C84A67F8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F0EF1-290A-4835-BFF2-47F631C3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A2C32-76B4-466F-9B8A-A620E975A166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7,722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12,141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sample ≥2 TPM/pTPM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12,135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8,851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3,284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3,192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2,288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16,535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17,609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DICE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17,697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 expression profiles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17,718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C79659-0155-483C-BC06-9573FE6B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Every group remains available to every later evidence layer.</a:t>
            </a:r>
          </a:p>
        </p:txBody>
      </p:sp>
    </p:spTree>
    <p:extLst>
      <p:ext uri="{BB962C8B-B14F-4D97-AF65-F5344CB8AC3E}">
        <p14:creationId xmlns:p14="http://schemas.microsoft.com/office/powerpoint/2010/main" val="5808996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0EDCA-2FD2-4498-9EB3-D299BB96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F5A81-F6D2-480C-9737-FC2EAAAD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1CCA8-100F-4783-9DB8-DC88F9B7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525AB-0F44-4311-B4E7-F54DF446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9B4BC-9390-4C91-8A6C-F335197AF35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compartment IHC coverage; Vital 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CEA57-76CC-490E-A042-C36945FC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598736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5AD38C-E9C4-4EC6-81F5-1E631EEF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CD5B3-1739-4B19-AF5C-C30CB9E1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reproductive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298CD-A5B2-48DC-AF71-B2390612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91E0B-AA24-4929-9B42-82A97623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3CE0F-AA82-4478-8727-B5EA50B7B4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b55caf4464943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2B9E6-EE80-46BC-860F-87DFB059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2128869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20067-6CA1-420F-BF0E-7B414CF2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0AC31-0CF1-4E8E-AC8C-68D5B21E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immune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28EEA-2A6C-4366-BA1E-C4CB9856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EE15B-2C01-4AEF-8493-AE805A08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E40F0-C8DB-4D9C-ABAA-8A840A5452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c61d51aa04b27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AB6C8-177F-4B15-B543-F959203E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9634748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FF308-3626-4463-9460-3B2FF861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44399-B771-41DB-8B0A-5FEB0BF1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44DB1-8B69-4AD4-A71D-2A3392D0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C2136-E818-46ED-8886-E34F3474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5562E-7CD3-4494-BD22-9B62962206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53ce6daaf4f1d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A00A3-69E9-484F-B198-4016CEAE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7698542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915159-A3BD-4D20-A8E1-8119A52F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EMBRYONIC MEASUREMENT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6D6ED-7975-4701-96AE-314DAC65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Why familiar CTAs lack an atlas TPM 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62399-5B60-42FD-AEA3-7A1F1E59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B4E23-BCB3-4A7F-BAB7-B8F39AE3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B5052-EC33-42ED-8AA7-A7F30EE3E35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2667000"/>
                <a:gridCol w="3352800"/>
              </a:tblGrid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Author gene column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Reported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Positive cells / 1,195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PRAME, CT83, CTAG1A, CTAG1B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 for each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 for each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XAGE1B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MAGE-A4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TBXT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31,149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226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XAGE1A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separate column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Unknown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62C86-36DC-42BF-90D2-F7B3CE9D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One early embryo: nondetection does not establish absence throughout fetal development. Counts are not substituted for TPM.</a:t>
            </a:r>
          </a:p>
        </p:txBody>
      </p:sp>
    </p:spTree>
    <p:extLst>
      <p:ext uri="{BB962C8B-B14F-4D97-AF65-F5344CB8AC3E}">
        <p14:creationId xmlns:p14="http://schemas.microsoft.com/office/powerpoint/2010/main" val="9126519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B6588-1E28-4451-A7A7-8EA4E143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019FE-C6B4-42E7-994A-089CA85D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reproductive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6E3F0A-1372-4920-8F62-0B5BBF21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C744D-4E33-4751-B9C7-F3A0449C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1E3A8-F83F-447D-B3E9-5F0FD7DC3F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a4d3e6e224aff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64269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4431C-DE0C-4418-A71F-BDC99CCE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6ABB6-B062-46CF-94A0-D39507F8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7D412-3E1E-4DB9-9DFA-8E173FDE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74A00-CD3C-4998-B101-496AF1EA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86A67-8372-45F1-82F2-A910B08B00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275a9b5a64f55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1889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FA574-B812-4E92-AD8A-9A5C09DD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A9D16A-C327-4CF2-B259-FA5BB3F8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4AB4B-93A9-409C-9AB5-871192B5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D118F-139E-4D0A-AC46-BF244E1C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0243F-2AFB-4538-AB32-13233D9559C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CTA, Unsafe or Neither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18,201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1,325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outside_category_definitions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Tracked coverage checks pass; no definition fits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8BD3E-1960-4D2D-B3EB-1BA9B504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Neither requires a measured biological profile.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5798947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208BF7-96DD-4AEE-91CC-F69D626B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4BCD0D-A603-4392-A289-ACCC830D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Which sources have incomplete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60032-E2EE-4E5C-8171-9D15CCBC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6544B-3BAB-432F-B41D-233890B6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6196A-70CD-45E3-BA23-311234F9518E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733550"/>
              </a:tblGrid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or unresolved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consensus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tissue-cell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352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 cells via HPA v23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E-MTAB-9388 filtered 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tumor measurement: OncoRef + HPA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tumor, incomplete group 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42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Uncertain normal-tissue IHC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411A1-6834-47B3-828A-1D46BF3F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Overlapping gaps within 1,325 unassigned groups. DICE and corneal coverage are optional.</a:t>
            </a:r>
          </a:p>
        </p:txBody>
      </p:sp>
    </p:spTree>
    <p:extLst>
      <p:ext uri="{BB962C8B-B14F-4D97-AF65-F5344CB8AC3E}">
        <p14:creationId xmlns:p14="http://schemas.microsoft.com/office/powerpoint/2010/main" val="14614538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95ACF-2FD4-4B80-B515-C3C58B8B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A9234-614B-4D7E-880A-E54FA7BA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B54BE2-E2C7-4E5D-B688-960D2DBA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CFD8-CA0F-4320-AA01-F772508A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70DE5-6845-4FE6-ACB3-BC6B159598DE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D9D22-A086-4DB7-9A0C-EE5FDD74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18029356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5EF2F-A89A-401C-9E1E-5BE122F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9CFC59-C009-42D3-9A79-A9317551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BB589-F965-4B22-A209-D6DDD982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A57C5-79EA-4C55-9546-8186167B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AF869-42FA-4B4C-9CDD-D266B7692A2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embryonic-expression route; one early embryo, not a restricted-gene list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4A80A-96DB-4392-AA81-CABB42AF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58940428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5947D-AFAF-4C27-9C87-889918D0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E5356-A34D-4FB4-99C4-BE7B1B20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3272E-A1E3-453D-BFE8-AA49AEDF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28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AAE77-3BC0-4A19-859A-0F7D13A4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A725F-0A66-47D1-A979-73EC406E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8B049-E8CC-4689-A088-9878541FDD69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Neither, or null when 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outside definitions,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gene_ids / gene_identities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group members, stable IDs, history and curated synonyms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1B7EC-8BB7-4426-9B23-60ACBADD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45955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2026-10-28T18:36:50.2810000Z</dcterms:created>
  <dcterms:modified xsi:type="dcterms:W3CDTF">2026-10-28T18:36:50.2810000Z</dcterms:modified>
</coreProperties>
</file>