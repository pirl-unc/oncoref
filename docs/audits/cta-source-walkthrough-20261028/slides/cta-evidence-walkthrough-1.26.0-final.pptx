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47341ea3845e4" /><Relationship Type="http://schemas.openxmlformats.org/officeDocument/2006/relationships/extended-properties" Target="/docProps/app.xml" Id="R7677a1f96e40463f" /><Relationship Type="http://schemas.openxmlformats.org/officeDocument/2006/relationships/officeDocument" Target="/ppt/presentation.xml" Id="R075365cfbcc749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dd19e0c3024540"/>
  </p:sldMasterIdLst>
  <p:notesMasterIdLst>
    <p:notesMasterId xmlns:r="http://schemas.openxmlformats.org/officeDocument/2006/relationships" r:id="Racca343962ea4f30"/>
  </p:notesMasterIdLst>
  <p:sldIdLst>
    <p:sldId xmlns:r="http://schemas.openxmlformats.org/officeDocument/2006/relationships" id="256" r:id="Rf244cf28e81743a6"/>
    <p:sldId xmlns:r="http://schemas.openxmlformats.org/officeDocument/2006/relationships" id="257" r:id="R4d37840ef4594596"/>
    <p:sldId xmlns:r="http://schemas.openxmlformats.org/officeDocument/2006/relationships" id="258" r:id="Re71e017bdbea4cb9"/>
    <p:sldId xmlns:r="http://schemas.openxmlformats.org/officeDocument/2006/relationships" id="259" r:id="Ra9375bd7e8b14808"/>
    <p:sldId xmlns:r="http://schemas.openxmlformats.org/officeDocument/2006/relationships" id="260" r:id="Rec6592da6d984e2e"/>
    <p:sldId xmlns:r="http://schemas.openxmlformats.org/officeDocument/2006/relationships" id="261" r:id="R4f0415fc5c224ae6"/>
    <p:sldId xmlns:r="http://schemas.openxmlformats.org/officeDocument/2006/relationships" id="262" r:id="R4846a98b2bef466e"/>
    <p:sldId xmlns:r="http://schemas.openxmlformats.org/officeDocument/2006/relationships" id="263" r:id="R577c89665ffc4421"/>
    <p:sldId xmlns:r="http://schemas.openxmlformats.org/officeDocument/2006/relationships" id="264" r:id="R8409c2bb47584c93"/>
    <p:sldId xmlns:r="http://schemas.openxmlformats.org/officeDocument/2006/relationships" id="265" r:id="R4eb00e4c28be483e"/>
    <p:sldId xmlns:r="http://schemas.openxmlformats.org/officeDocument/2006/relationships" id="266" r:id="R0e9242cb0a074b62"/>
    <p:sldId xmlns:r="http://schemas.openxmlformats.org/officeDocument/2006/relationships" id="267" r:id="Rf396db6b90744b74"/>
    <p:sldId xmlns:r="http://schemas.openxmlformats.org/officeDocument/2006/relationships" id="268" r:id="R5ea9d0020c374da6"/>
    <p:sldId xmlns:r="http://schemas.openxmlformats.org/officeDocument/2006/relationships" id="269" r:id="R6342254c9c1e4d1d"/>
    <p:sldId xmlns:r="http://schemas.openxmlformats.org/officeDocument/2006/relationships" id="270" r:id="Rc4ae5ccf7414499b"/>
    <p:sldId xmlns:r="http://schemas.openxmlformats.org/officeDocument/2006/relationships" id="271" r:id="Ra06949740d4947e2"/>
    <p:sldId xmlns:r="http://schemas.openxmlformats.org/officeDocument/2006/relationships" id="272" r:id="Re0108a928e734015"/>
    <p:sldId xmlns:r="http://schemas.openxmlformats.org/officeDocument/2006/relationships" id="273" r:id="R9fb04c432acb4bc2"/>
    <p:sldId xmlns:r="http://schemas.openxmlformats.org/officeDocument/2006/relationships" id="274" r:id="Rf55520f514c64ee0"/>
    <p:sldId xmlns:r="http://schemas.openxmlformats.org/officeDocument/2006/relationships" id="275" r:id="R5df2fe905f5e4189"/>
    <p:sldId xmlns:r="http://schemas.openxmlformats.org/officeDocument/2006/relationships" id="276" r:id="R6fb3d1761e354111"/>
    <p:sldId xmlns:r="http://schemas.openxmlformats.org/officeDocument/2006/relationships" id="277" r:id="Rf87632a3ed2a49ac"/>
    <p:sldId xmlns:r="http://schemas.openxmlformats.org/officeDocument/2006/relationships" id="278" r:id="Rf199405ac6054e11"/>
    <p:sldId xmlns:r="http://schemas.openxmlformats.org/officeDocument/2006/relationships" id="279" r:id="R1f3a51ff610147bb"/>
    <p:sldId xmlns:r="http://schemas.openxmlformats.org/officeDocument/2006/relationships" id="280" r:id="R0c414c1d273c48a3"/>
    <p:sldId xmlns:r="http://schemas.openxmlformats.org/officeDocument/2006/relationships" id="281" r:id="R8152fe23823f46ab"/>
    <p:sldId xmlns:r="http://schemas.openxmlformats.org/officeDocument/2006/relationships" id="282" r:id="R1c588153369c48bb"/>
    <p:sldId xmlns:r="http://schemas.openxmlformats.org/officeDocument/2006/relationships" id="283" r:id="R6044f5293b0d4f46"/>
    <p:sldId xmlns:r="http://schemas.openxmlformats.org/officeDocument/2006/relationships" id="284" r:id="R80800888aff64452"/>
    <p:sldId xmlns:r="http://schemas.openxmlformats.org/officeDocument/2006/relationships" id="285" r:id="R3c8675293dee4d27"/>
    <p:sldId xmlns:r="http://schemas.openxmlformats.org/officeDocument/2006/relationships" id="286" r:id="R28f4708952174773"/>
    <p:sldId xmlns:r="http://schemas.openxmlformats.org/officeDocument/2006/relationships" id="287" r:id="R00cb6f359ab04936"/>
    <p:sldId xmlns:r="http://schemas.openxmlformats.org/officeDocument/2006/relationships" id="288" r:id="R24ce53cc4461419e"/>
    <p:sldId xmlns:r="http://schemas.openxmlformats.org/officeDocument/2006/relationships" id="289" r:id="Ra36be9684ecc418c"/>
    <p:sldId xmlns:r="http://schemas.openxmlformats.org/officeDocument/2006/relationships" id="290" r:id="R8a09d0cc3ca14562"/>
    <p:sldId xmlns:r="http://schemas.openxmlformats.org/officeDocument/2006/relationships" id="291" r:id="Rd8c150d0f93f4b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1aad4f8714309" /><Relationship Type="http://schemas.openxmlformats.org/officeDocument/2006/relationships/slideMaster" Target="/ppt/slideMasters/slideMaster1.xml" Id="R19dd19e0c3024540" /><Relationship Type="http://schemas.openxmlformats.org/officeDocument/2006/relationships/notesMaster" Target="/ppt/notesMasters/notesMaster1.xml" Id="Racca343962ea4f30" /><Relationship Type="http://schemas.openxmlformats.org/officeDocument/2006/relationships/presProps" Target="/ppt/presProps.xml" Id="Rb2d5c2322ce4408d" /><Relationship Type="http://schemas.openxmlformats.org/officeDocument/2006/relationships/tableStyles" Target="/ppt/tableStyles.xml" Id="R8440aac5839048c2" /><Relationship Type="http://schemas.openxmlformats.org/officeDocument/2006/relationships/slide" Target="/ppt/slides/slide1.xml" Id="Rf244cf28e81743a6" /><Relationship Type="http://schemas.openxmlformats.org/officeDocument/2006/relationships/slide" Target="/ppt/slides/slide2.xml" Id="R4d37840ef4594596" /><Relationship Type="http://schemas.openxmlformats.org/officeDocument/2006/relationships/slide" Target="/ppt/slides/slide3.xml" Id="Re71e017bdbea4cb9" /><Relationship Type="http://schemas.openxmlformats.org/officeDocument/2006/relationships/slide" Target="/ppt/slides/slide4.xml" Id="Ra9375bd7e8b14808" /><Relationship Type="http://schemas.openxmlformats.org/officeDocument/2006/relationships/slide" Target="/ppt/slides/slide5.xml" Id="Rec6592da6d984e2e" /><Relationship Type="http://schemas.openxmlformats.org/officeDocument/2006/relationships/slide" Target="/ppt/slides/slide6.xml" Id="R4f0415fc5c224ae6" /><Relationship Type="http://schemas.openxmlformats.org/officeDocument/2006/relationships/slide" Target="/ppt/slides/slide7.xml" Id="R4846a98b2bef466e" /><Relationship Type="http://schemas.openxmlformats.org/officeDocument/2006/relationships/slide" Target="/ppt/slides/slide8.xml" Id="R577c89665ffc4421" /><Relationship Type="http://schemas.openxmlformats.org/officeDocument/2006/relationships/slide" Target="/ppt/slides/slide9.xml" Id="R8409c2bb47584c93" /><Relationship Type="http://schemas.openxmlformats.org/officeDocument/2006/relationships/slide" Target="/ppt/slides/slide10.xml" Id="R4eb00e4c28be483e" /><Relationship Type="http://schemas.openxmlformats.org/officeDocument/2006/relationships/slide" Target="/ppt/slides/slide11.xml" Id="R0e9242cb0a074b62" /><Relationship Type="http://schemas.openxmlformats.org/officeDocument/2006/relationships/slide" Target="/ppt/slides/slide12.xml" Id="Rf396db6b90744b74" /><Relationship Type="http://schemas.openxmlformats.org/officeDocument/2006/relationships/slide" Target="/ppt/slides/slide13.xml" Id="R5ea9d0020c374da6" /><Relationship Type="http://schemas.openxmlformats.org/officeDocument/2006/relationships/slide" Target="/ppt/slides/slide14.xml" Id="R6342254c9c1e4d1d" /><Relationship Type="http://schemas.openxmlformats.org/officeDocument/2006/relationships/slide" Target="/ppt/slides/slide15.xml" Id="Rc4ae5ccf7414499b" /><Relationship Type="http://schemas.openxmlformats.org/officeDocument/2006/relationships/slide" Target="/ppt/slides/slide16.xml" Id="Ra06949740d4947e2" /><Relationship Type="http://schemas.openxmlformats.org/officeDocument/2006/relationships/slide" Target="/ppt/slides/slide17.xml" Id="Re0108a928e734015" /><Relationship Type="http://schemas.openxmlformats.org/officeDocument/2006/relationships/slide" Target="/ppt/slides/slide18.xml" Id="R9fb04c432acb4bc2" /><Relationship Type="http://schemas.openxmlformats.org/officeDocument/2006/relationships/slide" Target="/ppt/slides/slide19.xml" Id="Rf55520f514c64ee0" /><Relationship Type="http://schemas.openxmlformats.org/officeDocument/2006/relationships/slide" Target="/ppt/slides/slide20.xml" Id="R5df2fe905f5e4189" /><Relationship Type="http://schemas.openxmlformats.org/officeDocument/2006/relationships/slide" Target="/ppt/slides/slide21.xml" Id="R6fb3d1761e354111" /><Relationship Type="http://schemas.openxmlformats.org/officeDocument/2006/relationships/slide" Target="/ppt/slides/slide22.xml" Id="Rf87632a3ed2a49ac" /><Relationship Type="http://schemas.openxmlformats.org/officeDocument/2006/relationships/slide" Target="/ppt/slides/slide23.xml" Id="Rf199405ac6054e11" /><Relationship Type="http://schemas.openxmlformats.org/officeDocument/2006/relationships/slide" Target="/ppt/slides/slide24.xml" Id="R1f3a51ff610147bb" /><Relationship Type="http://schemas.openxmlformats.org/officeDocument/2006/relationships/slide" Target="/ppt/slides/slide25.xml" Id="R0c414c1d273c48a3" /><Relationship Type="http://schemas.openxmlformats.org/officeDocument/2006/relationships/slide" Target="/ppt/slides/slide26.xml" Id="R8152fe23823f46ab" /><Relationship Type="http://schemas.openxmlformats.org/officeDocument/2006/relationships/slide" Target="/ppt/slides/slide27.xml" Id="R1c588153369c48bb" /><Relationship Type="http://schemas.openxmlformats.org/officeDocument/2006/relationships/slide" Target="/ppt/slides/slide28.xml" Id="R6044f5293b0d4f46" /><Relationship Type="http://schemas.openxmlformats.org/officeDocument/2006/relationships/slide" Target="/ppt/slides/slide29.xml" Id="R80800888aff64452" /><Relationship Type="http://schemas.openxmlformats.org/officeDocument/2006/relationships/slide" Target="/ppt/slides/slide30.xml" Id="R3c8675293dee4d27" /><Relationship Type="http://schemas.openxmlformats.org/officeDocument/2006/relationships/slide" Target="/ppt/slides/slide31.xml" Id="R28f4708952174773" /><Relationship Type="http://schemas.openxmlformats.org/officeDocument/2006/relationships/slide" Target="/ppt/slides/slide32.xml" Id="R00cb6f359ab04936" /><Relationship Type="http://schemas.openxmlformats.org/officeDocument/2006/relationships/slide" Target="/ppt/slides/slide33.xml" Id="R24ce53cc4461419e" /><Relationship Type="http://schemas.openxmlformats.org/officeDocument/2006/relationships/slide" Target="/ppt/slides/slide34.xml" Id="Ra36be9684ecc418c" /><Relationship Type="http://schemas.openxmlformats.org/officeDocument/2006/relationships/slide" Target="/ppt/slides/slide35.xml" Id="R8a09d0cc3ca14562" /><Relationship Type="http://schemas.openxmlformats.org/officeDocument/2006/relationships/slide" Target="/ppt/slides/slide36.xml" Id="Rd8c150d0f93f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a7669499f7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4b2c366f24476" /><Relationship Type="http://schemas.openxmlformats.org/officeDocument/2006/relationships/notesMaster" Target="/ppt/notesMasters/notesMaster1.xml" Id="R4bbc61d09bc944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2f7e4c0ef14ea1" /><Relationship Type="http://schemas.openxmlformats.org/officeDocument/2006/relationships/notesMaster" Target="/ppt/notesMasters/notesMaster1.xml" Id="R637e9f86b4cd44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836d97f3cc4b47" /><Relationship Type="http://schemas.openxmlformats.org/officeDocument/2006/relationships/notesMaster" Target="/ppt/notesMasters/notesMaster1.xml" Id="R77dc0215700a46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84e47733194caf" /><Relationship Type="http://schemas.openxmlformats.org/officeDocument/2006/relationships/notesMaster" Target="/ppt/notesMasters/notesMaster1.xml" Id="R26c2ff6963f842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5df7231434ba7" /><Relationship Type="http://schemas.openxmlformats.org/officeDocument/2006/relationships/notesMaster" Target="/ppt/notesMasters/notesMaster1.xml" Id="R98a5b1dbba8e43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0b36619e694d4c" /><Relationship Type="http://schemas.openxmlformats.org/officeDocument/2006/relationships/notesMaster" Target="/ppt/notesMasters/notesMaster1.xml" Id="Rc5604016857b47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1d38832daf41fa" /><Relationship Type="http://schemas.openxmlformats.org/officeDocument/2006/relationships/notesMaster" Target="/ppt/notesMasters/notesMaster1.xml" Id="Rbaef20cf760e45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2b603f9e11438e" /><Relationship Type="http://schemas.openxmlformats.org/officeDocument/2006/relationships/notesMaster" Target="/ppt/notesMasters/notesMaster1.xml" Id="Ra4d6d659b45a4d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a34ef2e9c04e18" /><Relationship Type="http://schemas.openxmlformats.org/officeDocument/2006/relationships/notesMaster" Target="/ppt/notesMasters/notesMaster1.xml" Id="R1bb459f26c5b4f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7783e1a189436c" /><Relationship Type="http://schemas.openxmlformats.org/officeDocument/2006/relationships/notesMaster" Target="/ppt/notesMasters/notesMaster1.xml" Id="Ra8ba5d3469954c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de510c970433b" /><Relationship Type="http://schemas.openxmlformats.org/officeDocument/2006/relationships/notesMaster" Target="/ppt/notesMasters/notesMaster1.xml" Id="Rd5e2781e8fd549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8ae8f034784450" /><Relationship Type="http://schemas.openxmlformats.org/officeDocument/2006/relationships/notesMaster" Target="/ppt/notesMasters/notesMaster1.xml" Id="R3058812b713d48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781675d0a94f30" /><Relationship Type="http://schemas.openxmlformats.org/officeDocument/2006/relationships/notesMaster" Target="/ppt/notesMasters/notesMaster1.xml" Id="R0f4579509e1d49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e14bf3645147a2" /><Relationship Type="http://schemas.openxmlformats.org/officeDocument/2006/relationships/notesMaster" Target="/ppt/notesMasters/notesMaster1.xml" Id="R3fea4d8b065642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972a7250d440fc" /><Relationship Type="http://schemas.openxmlformats.org/officeDocument/2006/relationships/notesMaster" Target="/ppt/notesMasters/notesMaster1.xml" Id="Rd7ad92f13d2e42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e766968eba44bd" /><Relationship Type="http://schemas.openxmlformats.org/officeDocument/2006/relationships/notesMaster" Target="/ppt/notesMasters/notesMaster1.xml" Id="R5a6537cf33a844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fd147080c94792" /><Relationship Type="http://schemas.openxmlformats.org/officeDocument/2006/relationships/notesMaster" Target="/ppt/notesMasters/notesMaster1.xml" Id="Rbf73ce55a1ed4e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0ce0dcb3fe4e6d" /><Relationship Type="http://schemas.openxmlformats.org/officeDocument/2006/relationships/notesMaster" Target="/ppt/notesMasters/notesMaster1.xml" Id="R7ce5eafa0ec34d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4ae2815beb485a" /><Relationship Type="http://schemas.openxmlformats.org/officeDocument/2006/relationships/notesMaster" Target="/ppt/notesMasters/notesMaster1.xml" Id="R19f71a45268643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00f58034f94689" /><Relationship Type="http://schemas.openxmlformats.org/officeDocument/2006/relationships/notesMaster" Target="/ppt/notesMasters/notesMaster1.xml" Id="Rd87c712d1a514c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045ee431734f5c" /><Relationship Type="http://schemas.openxmlformats.org/officeDocument/2006/relationships/notesMaster" Target="/ppt/notesMasters/notesMaster1.xml" Id="Rd76f09263b2c41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c75dc0c52444a9" /><Relationship Type="http://schemas.openxmlformats.org/officeDocument/2006/relationships/notesMaster" Target="/ppt/notesMasters/notesMaster1.xml" Id="R569240db8aab46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bc66dce789453c" /><Relationship Type="http://schemas.openxmlformats.org/officeDocument/2006/relationships/notesMaster" Target="/ppt/notesMasters/notesMaster1.xml" Id="R500a4af01cc448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1e1fc5ae684158" /><Relationship Type="http://schemas.openxmlformats.org/officeDocument/2006/relationships/notesMaster" Target="/ppt/notesMasters/notesMaster1.xml" Id="R4f960163116d4d1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3055344ff64cf6" /><Relationship Type="http://schemas.openxmlformats.org/officeDocument/2006/relationships/notesMaster" Target="/ppt/notesMasters/notesMaster1.xml" Id="R3142700b2f03415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beb5ff84f443fc" /><Relationship Type="http://schemas.openxmlformats.org/officeDocument/2006/relationships/notesMaster" Target="/ppt/notesMasters/notesMaster1.xml" Id="R2799924f42db46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58c739fc264f4c" /><Relationship Type="http://schemas.openxmlformats.org/officeDocument/2006/relationships/notesMaster" Target="/ppt/notesMasters/notesMaster1.xml" Id="R24c05defcd944d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fda5b876574b38" /><Relationship Type="http://schemas.openxmlformats.org/officeDocument/2006/relationships/notesMaster" Target="/ppt/notesMasters/notesMaster1.xml" Id="Re38a008b91e14e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6825c02e05f44ef" /><Relationship Type="http://schemas.openxmlformats.org/officeDocument/2006/relationships/notesMaster" Target="/ppt/notesMasters/notesMaster1.xml" Id="Rc17ae7449ad44aa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e41cb208534aa3" /><Relationship Type="http://schemas.openxmlformats.org/officeDocument/2006/relationships/notesMaster" Target="/ppt/notesMasters/notesMaster1.xml" Id="Re2a03236e37a41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c820bac5b084ea3" /><Relationship Type="http://schemas.openxmlformats.org/officeDocument/2006/relationships/notesMaster" Target="/ppt/notesMasters/notesMaster1.xml" Id="Rac36dda7b93845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3bf2d96c814440" /><Relationship Type="http://schemas.openxmlformats.org/officeDocument/2006/relationships/notesMaster" Target="/ppt/notesMasters/notesMaster1.xml" Id="R302cbb5db1894c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d430affa194097" /><Relationship Type="http://schemas.openxmlformats.org/officeDocument/2006/relationships/notesMaster" Target="/ppt/notesMasters/notesMaster1.xml" Id="Rb958734d3e124f9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4b58d08dbf94cd6" /><Relationship Type="http://schemas.openxmlformats.org/officeDocument/2006/relationships/notesMaster" Target="/ppt/notesMasters/notesMaster1.xml" Id="Rb10a73da8da34fe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3934c7e5344681" /><Relationship Type="http://schemas.openxmlformats.org/officeDocument/2006/relationships/notesMaster" Target="/ppt/notesMasters/notesMaster1.xml" Id="R11ae2ead6468488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7614f1c44584773" /><Relationship Type="http://schemas.openxmlformats.org/officeDocument/2006/relationships/notesMaster" Target="/ppt/notesMasters/notesMaster1.xml" Id="Rfd84ca94b44f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and dog CTA evidence</a:t>
            </a:r>
          </a:p>
          <a:p xmlns:a="http://schemas.openxmlformats.org/drawingml/2006/main">
            <a:r>
              <a:t>One RNA ceiling. Other is the assessed normal-pass, noncandidate fallback. Unassigned is an assessment status, not a biological category.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Safety, cancer and Reproductive evidence</a:t>
            </a:r>
          </a:p>
          <a:p xmlns:a="http://schemas.openxmlformats.org/drawingml/2006/main">
            <a:r>
              <a:t>Only safety supplies Unsafe evidence. Reproductive is the umbrella for adult reproductive, placental, extraembryonic, embryonic and fetal contexts.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Diffuse expression is an identity question</a:t>
            </a:r>
          </a:p>
          <a:p xmlns:a="http://schemas.openxmlformats.org/drawingml/2006/main">
            <a:r>
              <a:t>The old normal-maximum veto is removed. Diffuseness averages N/(N+R) across fixed weighted normal contexts, including Disposable. The active 10% adult/placental identity boundary requires complete HPA measurements and an RNA- or IHC-supported positive reference. Thymus is Permissive and excluded. Supported embryonic evidence retains its separate route with unassessed concentration.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fixed GTEx core for every protein</a:t>
            </a:r>
          </a:p>
          <a:p xmlns:a="http://schemas.openxmlformats.org/drawingml/2006/main">
            <a:r>
              <a:t>GTEx v11 uses 52 native bulk contexts, 9 Reproductive and 43 other. Every member locus must be measured. 19,119 / 19,863 proteins have full coverage; no intermediate coverage profiles occur.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ZNF730: panel composition matters</a:t>
            </a:r>
          </a:p>
          <a:p xmlns:a="http://schemas.openxmlformats.org/drawingml/2006/main">
            <a:r>
              <a:t>Full tissue tables: https://pirl-unc.github.io/oncoref/audits/cta-unassigned-20261029/znf730/ . Original panels differ; scores are not a controlled assay comparison.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candidate lists</a:t>
            </a:r>
          </a:p>
          <a:p xmlns:a="http://schemas.openxmlformats.org/drawingml/2006/main">
            <a:r>
              <a:t>da Silva et al. (2017): https://doi.org/10.18632/oncotarget.21715</a:t>
            </a:r>
          </a:p>
          <a:p xmlns:a="http://schemas.openxmlformats.org/drawingml/2006/main">
            <a:r>
              <a:t>Wang et al. (2016): https://doi.org/10.1038/ncomms10499</a:t>
            </a:r>
          </a:p>
          <a:p xmlns:a="http://schemas.openxmlformats.org/drawingml/2006/main">
            <a:r>
              <a:t>Chang et al. (2019): https://doi.org/10.1002/cam4.2223</a:t>
            </a:r>
          </a:p>
          <a:p xmlns:a="http://schemas.openxmlformats.org/drawingml/2006/main">
            <a:r>
              <a:t>Gong et al. (2021): https://doi.org/10.1038/s41467-021-22695-y</a:t>
            </a:r>
          </a:p>
          <a:p xmlns:a="http://schemas.openxmlformats.org/drawingml/2006/main">
            <a:r>
              <a:t>Bruggeman et al. (2018): https://doi.org/10.1038/s41388-018-0357-2</a:t>
            </a:r>
          </a:p>
          <a:p xmlns:a="http://schemas.openxmlformats.org/drawingml/2006/main">
            <a:r>
              <a:t>Jamin et al. (2021): https://doi.org/10.1002/1878-0261.12900</a:t>
            </a:r>
          </a:p>
          <a:p xmlns:a="http://schemas.openxmlformats.org/drawingml/2006/main">
            <a:r>
              <a:t>Loriot et al. (2025): https://doi.org/10.1371/journal.pgen.1011734</a:t>
            </a:r>
          </a:p>
          <a:p xmlns:a="http://schemas.openxmlformats.org/drawingml/2006/main">
            <a:r>
              <a:t>Carter et al. (2023): https://doi.org/10.1136/jitc-2023-007935</a:t>
            </a:r>
          </a:p>
          <a:p xmlns:a="http://schemas.openxmlformats.org/drawingml/2006/main">
            <a:r>
              <a:t>Hirbo et al. (2015): https://doi.org/10.1371/journal.pone.0144155</a:t>
            </a:r>
          </a:p>
          <a:p xmlns:a="http://schemas.openxmlformats.org/drawingml/2006/main">
            <a:r>
              <a:t>Seager et al. (2024): https://doi.org/10.1186/s12967-024-04918-0</a:t>
            </a:r>
          </a:p>
          <a:p xmlns:a="http://schemas.openxmlformats.org/drawingml/2006/main">
            <a:r>
              <a:t>Sasaroli et al. (2011): https://doi.org/10.4161/cbt.12.3.16260</a:t>
            </a:r>
          </a:p>
          <a:p xmlns:a="http://schemas.openxmlformats.org/drawingml/2006/main">
            <a:r>
              <a:t>Garg et al. (2007): https://doi.org/10.1158/1078-0432.CCR-06-2340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Broader published nominations</a:t>
            </a:r>
          </a:p>
          <a:p xmlns:a="http://schemas.openxmlformats.org/drawingml/2006/main">
            <a:r>
              <a:t>Sasaroli et al. (2011) https://doi.org/10.4161/cbt.12.3.16260 . Hirbo et al. (2015) https://doi.org/10.1371/journal.pone.0144155 . Exact extracted rows and matching receipts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Overlap between published lists</a:t>
            </a:r>
          </a:p>
          <a:p xmlns:a="http://schemas.openxmlformats.org/drawingml/2006/main">
            <a:r>
              <a:t>Tables and author-recognized prior antigens within the same paper are unioned. Evidence roles, source IDs and pairwise counts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Reproductive evidence: measured branches</a:t>
            </a:r>
          </a:p>
          <a:p xmlns:a="http://schemas.openxmlformats.org/drawingml/2006/main">
            <a:r>
              <a:t>Tyser et al. (2021): https://doi.org/10.1038/s41586-021-04158-y . HPA v23 https://v23.proteinatlas.org/about/download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 and cancer measurement sources</a:t>
            </a:r>
          </a:p>
          <a:p xmlns:a="http://schemas.openxmlformats.org/drawingml/2006/main">
            <a:r>
              <a:t>HPA https://v23.proteinatlas.org/about/download ; DICE https://dice-database.org/ ; cornea https://www.ncbi.nlm.nih.gov/geo/query/acc.cgi?acc=GSE155683 ; Tyser https://doi.org/10.1038/s41586-021-04158-y . Full URLs and sample lineage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RNA cutoffs</a:t>
            </a:r>
          </a:p>
          <a:p xmlns:a="http://schemas.openxmlformats.org/drawingml/2006/main">
            <a:r>
              <a:t>The same nominal values apply across native TPM/nTPM assays. CP10K uses nominal /100, not a TPM conversion. Values are screening-policy choices, not measured toxicity limits.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evidence adjusts RNA ceilings</a:t>
            </a:r>
          </a:p>
          <a:p xmlns:a="http://schemas.openxmlformats.org/drawingml/2006/main">
            <a:r>
              <a:t>One step for reviewed treated-cohort evidence without identified grade 4-5 specificity-related toxicity; cap at Enhanced. Unknown or suspected specificity injury blocks product credit. Exact peptide/HLA/receptor limits remain. Clinical trial and SAE review: https://pirl-unc.github.io/oncoref/audits/cta-tcr-trials-20261029/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Serious events and antigen specificity</a:t>
            </a:r>
          </a:p>
          <a:p xmlns:a="http://schemas.openxmlformats.org/drawingml/2006/main">
            <a:r>
              <a:t>Letetresgene Autoleucel in Advanced/Metastatic Myxoid/Round Cell Liposarcoma: https://doi.org/10.1200/JCO-24-01466</a:t>
            </a:r>
          </a:p>
          <a:p xmlns:a="http://schemas.openxmlformats.org/drawingml/2006/main">
            <a:r>
              <a:t>Autologous T cell therapy for PRAME+ advanced solid tumors in HLA-A*02+ patients: a phase 1 trial: https://doi.org/10.1038/s41591-025-03650-6</a:t>
            </a:r>
          </a:p>
          <a:p xmlns:a="http://schemas.openxmlformats.org/drawingml/2006/main">
            <a:r>
              <a:t>Autologous T cell therapy for MAGE-A4+ solid cancers in HLA-A*02+ patients: a phase 1 trial: https://doi.org/10.1038/s41591-022-02128-z</a:t>
            </a:r>
          </a:p>
          <a:p xmlns:a="http://schemas.openxmlformats.org/drawingml/2006/main">
            <a:r>
              <a:t>SPEARHEAD-1: a single-arm phase 2 trial of afamitresgene autoleucel in advanced synovial sarcoma and myxoid/round cell liposarcoma: https://doi.org/10.1016/S0140-6736(24)00319-2</a:t>
            </a:r>
          </a:p>
          <a:p xmlns:a="http://schemas.openxmlformats.org/drawingml/2006/main">
            <a:r>
              <a:t>Identification of a Titin-Derived HLA-A1-Presented Peptide as a Cross-Reactive Target for Engineered MAGE A3-Directed T Cells: https://doi.org/10.1126/scitranslmed.3006034</a:t>
            </a:r>
          </a:p>
          <a:p xmlns:a="http://schemas.openxmlformats.org/drawingml/2006/main">
            <a:r>
              <a:t>Guillain-Barre syndrome observed with adoptive transfer of lymphocytes genetically engineered with an NY-ESO-1 reactive T-cell receptor: https://doi.org/10.1186/s40425-019-0759-x</a:t>
            </a:r>
          </a:p>
          <a:p xmlns:a="http://schemas.openxmlformats.org/drawingml/2006/main">
            <a:r>
              <a:t>NCT03709706 protocol: NY-ESO-1/LAGE-1A shared peptide and c259 receptor: https://cdn.clinicaltrials.gov/large-docs/06/NCT03709706/Prot_000.pdf</a:t>
            </a:r>
          </a:p>
          <a:p xmlns:a="http://schemas.openxmlformats.org/drawingml/2006/main">
            <a:r>
              <a:t>NCT03132922 protocol: MAGE-A4 c1032 target peptide: https://cdn.clinicaltrials.gov/large-docs/22/NCT03132922/Prot_000.pdf</a:t>
            </a:r>
          </a:p>
          <a:p xmlns:a="http://schemas.openxmlformats.org/drawingml/2006/main">
            <a:r>
              <a:t>First-in-human dose escalation trial to evaluate the clinical safety and efficacy of an anti-MAGEA1 autologous TCR-transgenic T cell therapy in relapsed and refractory solid tumors: https://doi.org/10.1136/jitc-2023-008668</a:t>
            </a:r>
          </a:p>
          <a:p xmlns:a="http://schemas.openxmlformats.org/drawingml/2006/main">
            <a:r>
              <a:t>Phase I clinical trial evaluating the safety and efficacy of ADP-A2M10 SPEAR T cells in patients with MAGE-A10+ advanced non-small cell lung cancer: https://doi.org/10.1136/jitc-2021-003581</a:t>
            </a:r>
          </a:p>
          <a:p xmlns:a="http://schemas.openxmlformats.org/drawingml/2006/main">
            <a:r>
              <a:t>NY-ESO-1-specific redirected T cells with endogenous TCR knockdown mediate tumor response and cytokine release syndrome: https://doi.org/10.1136/jitc-2021-003811</a:t>
            </a:r>
          </a:p>
          <a:p xmlns:a="http://schemas.openxmlformats.org/drawingml/2006/main">
            <a:r>
              <a:t>Cancer regression and neurological toxicity following anti-MAGE-A3 TCR gene therapy: https://pubmed.ncbi.nlm.nih.gov/23377668/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Other categories: identity and cancer</a:t>
            </a:r>
          </a:p>
          <a:p xmlns:a="http://schemas.openxmlformats.org/drawingml/2006/main">
            <a:r>
              <a:t>Every Other protein passes the required normal screen. Categories are disjoint in the documented priority order. Low does not mean never expressed; normal expression is not proof of injury.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Other categories: normal expression</a:t>
            </a:r>
          </a:p>
          <a:p xmlns:a="http://schemas.openxmlformats.org/drawingml/2006/main">
            <a:r>
              <a:t>Every Other protein passes the required normal screen. Categories are disjoint in the documented priority order. Low does not mean never expressed; normal expression is not proof of injury.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Reproductive cell evidence</a:t>
            </a:r>
          </a:p>
          <a:p xmlns:a="http://schemas.openxmlformats.org/drawingml/2006/main">
            <a:r>
              <a:t>HPA v23 https://v23.proteinatlas.org/about/download ; passenger transcripts: https://pmc.ncbi.nlm.nih.gov/articles/PMC7459098/ ; normal interferon induction: https://pmc.ncbi.nlm.nih.gov/articles/PMC6457222/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normal-cell knowledge</a:t>
            </a:r>
          </a:p>
          <a:p xmlns:a="http://schemas.openxmlformats.org/drawingml/2006/main">
            <a:r>
              <a:t>OncoRef 1.26.0: https://pirl-unc.github.io/oncoref/audits/cta-other-literature-20261030/ ; pDC protein: https://www.frontiersin.org/journals/immunology/articles/10.3389/fimmu.2022.814627/full ; human olfactory atlas: https://pmc.ncbi.nlm.nih.gov/articles/PMC7065961/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Other:Tumor-supported</a:t>
            </a:r>
          </a:p>
          <a:p xmlns:a="http://schemas.openxmlformats.org/drawingml/2006/main">
            <a:r>
              <a:t>Two distinct tumor samples at &gt;=10 native TPM, or reviewed reliable tumor protein. Restriction also requires low measured normal/developmental expression and adequate coverage of relevant rare cells and states.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filtering layer can contribute</a:t>
            </a:r>
          </a:p>
          <a:p xmlns:a="http://schemas.openxmlformats.org/drawingml/2006/main">
            <a:r>
              <a:t>The gray segment is held/unassigned evidence, not Other. The final profile check assigns Other. All layers evaluate every protein; final categories are independent of display order.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Removals at each filter</a:t>
            </a:r>
          </a:p>
          <a:p xmlns:a="http://schemas.openxmlformats.org/drawingml/2006/main">
            <a:r>
              <a:t>Sequential first removals depend on the displayed order; the independent-layer table reports overlaps.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IHC matching to measured RNA compartments</a:t>
            </a:r>
          </a:p>
          <a:p xmlns:a="http://schemas.openxmlformats.org/drawingml/2006/main">
            <a:r>
              <a:t>HPA colon https://www.proteinatlas.org/learn/dictionary/normal/colon ; bronchus https://www.proteinatlas.org/learn/dictionary/normal/bronchus . Parent-compartment credit is a declared anatomical interpretation, not proof that all rare cells were sampled.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adult/placental versus embryonic RNA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proteins ≥5 on both axes. Missing embryonic measurements appear in a separate categorical band; every selected protein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healthy RNA in TPM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proteins ≥5 on both axes. Missing embryonic measurements appear in a separate categorical band; every selected protein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normal corneal RNA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proteins ≥5 on both axes. Missing embryonic measurements appear in a separate categorical band; every selected protein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adult/placental and embryonic RNA: labels 1 of 3</a:t>
            </a:r>
          </a:p>
          <a:p xmlns:a="http://schemas.openxmlformats.org/drawingml/2006/main">
            <a:r>
              <a:t>The three panels use identical axes and together label all selected proteins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adult/placental and embryonic RNA: labels 2 of 3</a:t>
            </a:r>
          </a:p>
          <a:p xmlns:a="http://schemas.openxmlformats.org/drawingml/2006/main">
            <a:r>
              <a:t>The three panels use identical axes and together label all selected proteins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adult/placental and embryonic RNA: labels 3 of 3</a:t>
            </a:r>
          </a:p>
          <a:p xmlns:a="http://schemas.openxmlformats.org/drawingml/2006/main">
            <a:r>
              <a:t>The three panels use identical axes and together label all selected proteins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Complementary embryonic measurements</a:t>
            </a:r>
          </a:p>
          <a:p xmlns:a="http://schemas.openxmlformats.org/drawingml/2006/main">
            <a:r>
              <a:t>Tyser E-MTAB-9388 https://doi.org/10.1038/s41586-021-04158-y . Petropoulos E-MTAB-3929 https://www.ebi.ac.uk/gxa/sc/experiments/E-MTAB-3929/Results . Sources retain their own stage, cell support and donor counts.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antigens: adult/placental RNA</a:t>
            </a:r>
          </a:p>
          <a:p xmlns:a="http://schemas.openxmlformats.org/drawingml/2006/main">
            <a:r>
              <a:t>MAGE-A1 and MAGE-A3 are comparators, not admission controls. Full-width figures highlight PRAME, NY-ESO-1 (CTAG1A/B), XAGE1A/B, MAGE-A4, CT83, SSX2/B and TBXT. Missing embryonic measurements are in a separate band.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antigens: embryonic RNA</a:t>
            </a:r>
          </a:p>
          <a:p xmlns:a="http://schemas.openxmlformats.org/drawingml/2006/main">
            <a:r>
              <a:t>MAGE-A1 and MAGE-A3 are comparators, not admission controls. Full-width figures highlight PRAME, NY-ESO-1 (CTAG1A/B), XAGE1A/B, MAGE-A4, CT83, SSX2/B and TBXT. Missing embryonic measurements are in a separate band.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status is separate from category</a:t>
            </a:r>
          </a:p>
          <a:p xmlns:a="http://schemas.openxmlformats.org/drawingml/2006/main">
            <a:r>
              <a:t>A category can be assigned despite gaps in optional or irrelevant sources. Screened does not mean clinically safe or fully measured. MAGE-A3 has measured colon counterevidence. An independent developmental measurement cannot erase it.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Which sources have incomplete evidence</a:t>
            </a:r>
          </a:p>
          <a:p xmlns:a="http://schemas.openxmlformats.org/drawingml/2006/main">
            <a:r>
              <a:t>Source versions, complete missing tissue/cell contexts, member ENSG IDs, historical IDs, synonyms and tumor cohort coverage: https://pirl-unc.github.io/oncoref/audits/cta-source-walkthrough-20261028/coverage/ . Counts overlap and do not sum to a total.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Dog evidence and integration gaps</a:t>
            </a:r>
          </a:p>
          <a:p xmlns:a="http://schemas.openxmlformats.org/drawingml/2006/main">
            <a:r>
              <a:t>Nemec et al. (2019) https://doi.org/10.1111/vco.12475 ; Hindriks et al. (2025) https://doi.org/10.1016/j.vetimm.2025.110946 . Issues https://github.com/pirl-unc/oncoref/issues/574 and https://github.com/pirl-unc/oncoref/issues/585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Curated oncofetal sources</a:t>
            </a:r>
          </a:p>
          <a:p xmlns:a="http://schemas.openxmlformats.org/drawingml/2006/main">
            <a:r>
              <a:t>Shaw et al. (2024) https://doi.org/10.1038/s41467-024-47649-y ; TRIM71 liver study https://pmc.ncbi.nlm.nih.gov/articles/PMC11388079/ ; Cardoso-Moreira et al. (2019) https://pmc.ncbi.nlm.nih.gov/articles/PMC6658352/ . Newly identified sources are not in current selection counts.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API with native evidence underneath</a:t>
            </a:r>
          </a:p>
          <a:p xmlns:a="http://schemas.openxmlformats.org/drawingml/2006/main">
            <a:r>
              <a:t>Human, dog and mouse share schema and explicit unavailable states. Data are offline and checksum-verified. Frozen release reports remain unchanged.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source resolves to a concrete version</a:t>
            </a:r>
          </a:p>
          <a:p xmlns:a="http://schemas.openxmlformats.org/drawingml/2006/main">
            <a:r>
              <a:t>Data version API: https://pirl-unc.github.io/oncoref/data-versions/ . GTEx versions and pipelines: https://github.com/broadinstitute/gtex-pipeline/blob/master/rnaseq/README.md . HPA current RNA snapshot: https://github.com/pirl-unc/oncoref/releases/tag/reference-hpa-v25.1-20261028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oncoref.cta-selection.2026-10-30.3</a:t>
            </a:r>
          </a:p>
          <a:p xmlns:a="http://schemas.openxmlformats.org/drawingml/2006/main">
            <a:r>
              <a:t>Decision snapshot SHA256: 6df7702042763caa1ae6542fecfba5ba4e8a41c9610698ecbb5f730752c08fdf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32b034b3141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a5defbb364e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53f4fc7774f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6572a67a54f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f1d7985034c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1527a1243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C70DE-2904-4238-9079-DD67F1A01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AB1521-3545-48B1-96D0-3FB17D514B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642F5F-CCFA-48D6-820B-35C14B8CA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3C5C5D-BA66-448C-AA6F-CA892C515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468014-5C61-486F-B248-6E0D1A06A7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0B2610-8097-4071-A107-8CD4AA970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ED7B40-B9E3-4FCE-974E-68529A01A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9B719D-FBA4-4A69-A69A-3AB8FBE959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525F3B-C23E-496B-A3E2-9E30770A9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5CAB63-CBE1-4280-9DEA-E1E4C964A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b636a4f84d4d6b" /><Relationship Type="http://schemas.openxmlformats.org/officeDocument/2006/relationships/slideLayout" Target="/ppt/slideLayouts/slideLayout1.xml" Id="R1dc45adef44949f3" /><Relationship Type="http://schemas.openxmlformats.org/officeDocument/2006/relationships/slideLayout" Target="/ppt/slideLayouts/slideLayout2.xml" Id="R2474db08807c48ea" /><Relationship Type="http://schemas.openxmlformats.org/officeDocument/2006/relationships/slideLayout" Target="/ppt/slideLayouts/slideLayout3.xml" Id="R65503b629fc14931" /><Relationship Type="http://schemas.openxmlformats.org/officeDocument/2006/relationships/slideLayout" Target="/ppt/slideLayouts/slideLayout4.xml" Id="Rf70bac409f1e42ec" /><Relationship Type="http://schemas.openxmlformats.org/officeDocument/2006/relationships/slideLayout" Target="/ppt/slideLayouts/slideLayout5.xml" Id="R4513445611024951" /><Relationship Type="http://schemas.openxmlformats.org/officeDocument/2006/relationships/slideLayout" Target="/ppt/slideLayouts/slideLayout6.xml" Id="R931240f24bff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45adef44949f3"/>
    <p:sldLayoutId xmlns:r="http://schemas.openxmlformats.org/officeDocument/2006/relationships" id="2147483650" r:id="R2474db08807c48ea"/>
    <p:sldLayoutId xmlns:r="http://schemas.openxmlformats.org/officeDocument/2006/relationships" id="2147483651" r:id="R65503b629fc14931"/>
    <p:sldLayoutId xmlns:r="http://schemas.openxmlformats.org/officeDocument/2006/relationships" id="2147483652" r:id="Rf70bac409f1e42ec"/>
    <p:sldLayoutId xmlns:r="http://schemas.openxmlformats.org/officeDocument/2006/relationships" id="2147483653" r:id="R4513445611024951"/>
    <p:sldLayoutId xmlns:r="http://schemas.openxmlformats.org/officeDocument/2006/relationships" id="2147483654" r:id="R931240f24bff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576ab7c09490d" /><Relationship Type="http://schemas.openxmlformats.org/officeDocument/2006/relationships/notesSlide" Target="/ppt/notesSlides/notesSlide1.xml" Id="R8dcbaa993a33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3a00017504d7c" /><Relationship Type="http://schemas.openxmlformats.org/officeDocument/2006/relationships/notesSlide" Target="/ppt/notesSlides/notesSlide2.xml" Id="R4d456d0fd093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13a4446f349da" /><Relationship Type="http://schemas.openxmlformats.org/officeDocument/2006/relationships/hyperlink" Target="https://v23.proteinatlas.org/about/download" TargetMode="External" Id="Rffe6bde7e00144e8" /><Relationship Type="http://schemas.openxmlformats.org/officeDocument/2006/relationships/hyperlink" Target="https://v23.proteinatlas.org/about/download" TargetMode="External" Id="R87835ca253884b40" /><Relationship Type="http://schemas.openxmlformats.org/officeDocument/2006/relationships/notesSlide" Target="/ppt/notesSlides/notesSlide3.xml" Id="Rb1cbbad288a843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1aa4aee17449e" /><Relationship Type="http://schemas.openxmlformats.org/officeDocument/2006/relationships/hyperlink" Target="https://gtexportal.org/home/downloads/adult-gtex" TargetMode="External" Id="Ra2000c8dcc54421b" /><Relationship Type="http://schemas.openxmlformats.org/officeDocument/2006/relationships/hyperlink" Target="https://dice-database.org/" TargetMode="External" Id="R20bbf57c1a294b76" /><Relationship Type="http://schemas.openxmlformats.org/officeDocument/2006/relationships/notesSlide" Target="/ppt/notesSlides/notesSlide4.xml" Id="Rcbce91c4ab16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331f332be4c95" /><Relationship Type="http://schemas.openxmlformats.org/officeDocument/2006/relationships/notesSlide" Target="/ppt/notesSlides/notesSlide5.xml" Id="R825a0ad4abe149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2f13be6ef44d9" /><Relationship Type="http://schemas.openxmlformats.org/officeDocument/2006/relationships/hyperlink" Target="https://doi.org/10.18632/oncotarget.21715" TargetMode="External" Id="R0f9e3a21a7ae4124" /><Relationship Type="http://schemas.openxmlformats.org/officeDocument/2006/relationships/hyperlink" Target="https://doi.org/10.1038/ncomms10499" TargetMode="External" Id="R9c1cede378c7434c" /><Relationship Type="http://schemas.openxmlformats.org/officeDocument/2006/relationships/hyperlink" Target="https://doi.org/10.1002/cam4.2223" TargetMode="External" Id="R519840c986614779" /><Relationship Type="http://schemas.openxmlformats.org/officeDocument/2006/relationships/hyperlink" Target="https://doi.org/10.1038/s41467-021-22695-y" TargetMode="External" Id="R26f33ed686934cdc" /><Relationship Type="http://schemas.openxmlformats.org/officeDocument/2006/relationships/hyperlink" Target="https://doi.org/10.1038/s41388-018-0357-2" TargetMode="External" Id="R6c949424c895479f" /><Relationship Type="http://schemas.openxmlformats.org/officeDocument/2006/relationships/hyperlink" Target="https://doi.org/10.1002/1878-0261.12900" TargetMode="External" Id="R3abdb07866d14b7f" /><Relationship Type="http://schemas.openxmlformats.org/officeDocument/2006/relationships/hyperlink" Target="https://doi.org/10.1371/journal.pgen.1011734" TargetMode="External" Id="R6fff4e6b2dfc42e0" /><Relationship Type="http://schemas.openxmlformats.org/officeDocument/2006/relationships/hyperlink" Target="https://doi.org/10.1136/jitc-2023-007935" TargetMode="External" Id="R4759173306524f2b" /><Relationship Type="http://schemas.openxmlformats.org/officeDocument/2006/relationships/hyperlink" Target="https://doi.org/10.1371/journal.pone.0144155" TargetMode="External" Id="R951131d773b84352" /><Relationship Type="http://schemas.openxmlformats.org/officeDocument/2006/relationships/hyperlink" Target="https://doi.org/10.1186/s12967-024-04918-0" TargetMode="External" Id="R5ebc2d143e8e49be" /><Relationship Type="http://schemas.openxmlformats.org/officeDocument/2006/relationships/hyperlink" Target="https://doi.org/10.4161/cbt.12.3.16260" TargetMode="External" Id="Rc63fd527d23a44ff" /><Relationship Type="http://schemas.openxmlformats.org/officeDocument/2006/relationships/hyperlink" Target="https://doi.org/10.1158/1078-0432.CCR-06-2340" TargetMode="External" Id="Rb6f542ba9ec54105" /><Relationship Type="http://schemas.openxmlformats.org/officeDocument/2006/relationships/notesSlide" Target="/ppt/notesSlides/notesSlide6.xml" Id="Rc692d327a41e48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0feef43c84026" /><Relationship Type="http://schemas.openxmlformats.org/officeDocument/2006/relationships/hyperlink" Target="https://doi.org/10.4161/cbt.12.3.16260" TargetMode="External" Id="R76567bc5024a4fa3" /><Relationship Type="http://schemas.openxmlformats.org/officeDocument/2006/relationships/hyperlink" Target="https://doi.org/10.1371/journal.pone.0144155" TargetMode="External" Id="Ra1e25f7bef6947ef" /><Relationship Type="http://schemas.openxmlformats.org/officeDocument/2006/relationships/hyperlink" Target="https://doi.org/10.1158/1078-0432.CCR-06-2340" TargetMode="External" Id="R5f57b6b00a7844b1" /><Relationship Type="http://schemas.openxmlformats.org/officeDocument/2006/relationships/notesSlide" Target="/ppt/notesSlides/notesSlide7.xml" Id="Rf99f7c0960214b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a14e281304994" /><Relationship Type="http://schemas.openxmlformats.org/officeDocument/2006/relationships/image" Target="/ppt/media/image.png" Id="Rd67f58e6a26d4a01" /><Relationship Type="http://schemas.openxmlformats.org/officeDocument/2006/relationships/notesSlide" Target="/ppt/notesSlides/notesSlide8.xml" Id="R192d71b6d5e846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9f38940574f10" /><Relationship Type="http://schemas.openxmlformats.org/officeDocument/2006/relationships/notesSlide" Target="/ppt/notesSlides/notesSlide9.xml" Id="R05c704f7d06847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284adafb64190" /><Relationship Type="http://schemas.openxmlformats.org/officeDocument/2006/relationships/hyperlink" Target="https://v23.proteinatlas.org/about/download" TargetMode="External" Id="R409f44c4ccf84c32" /><Relationship Type="http://schemas.openxmlformats.org/officeDocument/2006/relationships/hyperlink" Target="https://gtexportal.org/home/downloads/adult-gtex" TargetMode="External" Id="R547e1c0e1e064e2f" /><Relationship Type="http://schemas.openxmlformats.org/officeDocument/2006/relationships/hyperlink" Target="https://v23.proteinatlas.org/about/download" TargetMode="External" Id="R15450feb2ba7493f" /><Relationship Type="http://schemas.openxmlformats.org/officeDocument/2006/relationships/hyperlink" Target="https://v23.proteinatlas.org/about/download" TargetMode="External" Id="R39717ab75c1f4872" /><Relationship Type="http://schemas.openxmlformats.org/officeDocument/2006/relationships/hyperlink" Target="https://dice-database.org/" TargetMode="External" Id="R4d01ca8c35574525" /><Relationship Type="http://schemas.openxmlformats.org/officeDocument/2006/relationships/hyperlink" Target="https://www.ncbi.nlm.nih.gov/geo/query/acc.cgi?acc=GSE155683" TargetMode="External" Id="Ree4728ae63e547c5" /><Relationship Type="http://schemas.openxmlformats.org/officeDocument/2006/relationships/hyperlink" Target="https://v23.proteinatlas.org/about/download" TargetMode="External" Id="R78a1c5df16124db5" /><Relationship Type="http://schemas.openxmlformats.org/officeDocument/2006/relationships/hyperlink" Target="https://dice-database.org/" TargetMode="External" Id="R4bc310db60754f4c" /><Relationship Type="http://schemas.openxmlformats.org/officeDocument/2006/relationships/notesSlide" Target="/ppt/notesSlides/notesSlide10.xml" Id="R913a344b671842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eba22a6b94d40" /><Relationship Type="http://schemas.openxmlformats.org/officeDocument/2006/relationships/notesSlide" Target="/ppt/notesSlides/notesSlide11.xml" Id="R5edb3e05432345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6bb7b42d54354" /><Relationship Type="http://schemas.openxmlformats.org/officeDocument/2006/relationships/notesSlide" Target="/ppt/notesSlides/notesSlide12.xml" Id="R4c8feaa27f534e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1db1331bd4e69" /><Relationship Type="http://schemas.openxmlformats.org/officeDocument/2006/relationships/hyperlink" Target="https://pirl-unc.github.io/oncoref/audits/cta-tcr-trials-20261029/" TargetMode="External" Id="Rd5de70f731ef4380" /><Relationship Type="http://schemas.openxmlformats.org/officeDocument/2006/relationships/notesSlide" Target="/ppt/notesSlides/notesSlide13.xml" Id="R3ddff20234c843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3bea172474ec0" /><Relationship Type="http://schemas.openxmlformats.org/officeDocument/2006/relationships/notesSlide" Target="/ppt/notesSlides/notesSlide14.xml" Id="Rf217af1f87a047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eaf967b5c54189" /><Relationship Type="http://schemas.openxmlformats.org/officeDocument/2006/relationships/notesSlide" Target="/ppt/notesSlides/notesSlide15.xml" Id="R151403022dd643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1cf84b8984af1" /><Relationship Type="http://schemas.openxmlformats.org/officeDocument/2006/relationships/notesSlide" Target="/ppt/notesSlides/notesSlide16.xml" Id="Rd7a5be3ffbd348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19fe343064d54" /><Relationship Type="http://schemas.openxmlformats.org/officeDocument/2006/relationships/notesSlide" Target="/ppt/notesSlides/notesSlide17.xml" Id="R9e3df941113542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e3496b72644de" /><Relationship Type="http://schemas.openxmlformats.org/officeDocument/2006/relationships/notesSlide" Target="/ppt/notesSlides/notesSlide18.xml" Id="R1314545e19d44f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5f54a5934449f" /><Relationship Type="http://schemas.openxmlformats.org/officeDocument/2006/relationships/chart" Target="/ppt/slides/charts/chart1.xml" Id="Rd818639046924f17" /><Relationship Type="http://schemas.openxmlformats.org/officeDocument/2006/relationships/notesSlide" Target="/ppt/notesSlides/notesSlide19.xml" Id="R3e51141167be40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6b34bea4b42c7" /><Relationship Type="http://schemas.openxmlformats.org/officeDocument/2006/relationships/hyperlink" Target="https://dice-database.org/" TargetMode="External" Id="R18b7f36c1ae249a9" /><Relationship Type="http://schemas.openxmlformats.org/officeDocument/2006/relationships/notesSlide" Target="/ppt/notesSlides/notesSlide20.xml" Id="R686f0001ac1046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bed6160544a13" /><Relationship Type="http://schemas.openxmlformats.org/officeDocument/2006/relationships/notesSlide" Target="/ppt/notesSlides/notesSlide21.xml" Id="R584e9f9cf0af4f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bd7e0b5b84dfb" /><Relationship Type="http://schemas.openxmlformats.org/officeDocument/2006/relationships/image" Target="/ppt/media/image2.png" Id="R8d766b39ed484e8f" /><Relationship Type="http://schemas.openxmlformats.org/officeDocument/2006/relationships/notesSlide" Target="/ppt/notesSlides/notesSlide22.xml" Id="R609a26f990da49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7fb8a9445430d" /><Relationship Type="http://schemas.openxmlformats.org/officeDocument/2006/relationships/image" Target="/ppt/media/image3.png" Id="R300a3ee6f3ee45ea" /><Relationship Type="http://schemas.openxmlformats.org/officeDocument/2006/relationships/notesSlide" Target="/ppt/notesSlides/notesSlide23.xml" Id="Rf93d29f5c96041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7257f900c4041" /><Relationship Type="http://schemas.openxmlformats.org/officeDocument/2006/relationships/image" Target="/ppt/media/image4.png" Id="Re254bbd82edc4b7e" /><Relationship Type="http://schemas.openxmlformats.org/officeDocument/2006/relationships/notesSlide" Target="/ppt/notesSlides/notesSlide24.xml" Id="Rdbf91d558b4044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5174eed6c4d03" /><Relationship Type="http://schemas.openxmlformats.org/officeDocument/2006/relationships/image" Target="/ppt/media/image5.png" Id="R8846ee30beaa47f1" /><Relationship Type="http://schemas.openxmlformats.org/officeDocument/2006/relationships/notesSlide" Target="/ppt/notesSlides/notesSlide25.xml" Id="Ra03759e1dc074e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7f809283b4450" /><Relationship Type="http://schemas.openxmlformats.org/officeDocument/2006/relationships/image" Target="/ppt/media/image6.png" Id="Ref441bcb46e34e08" /><Relationship Type="http://schemas.openxmlformats.org/officeDocument/2006/relationships/notesSlide" Target="/ppt/notesSlides/notesSlide26.xml" Id="R94d0fcb7eb2043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3c6befaec4f3f" /><Relationship Type="http://schemas.openxmlformats.org/officeDocument/2006/relationships/image" Target="/ppt/media/image7.png" Id="Rbd196fd873e04c5a" /><Relationship Type="http://schemas.openxmlformats.org/officeDocument/2006/relationships/notesSlide" Target="/ppt/notesSlides/notesSlide27.xml" Id="R8ee78e27555540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d3004e807482e" /><Relationship Type="http://schemas.openxmlformats.org/officeDocument/2006/relationships/hyperlink" Target="https://doi.org/10.1038/s41586-021-04158-y" TargetMode="External" Id="R3670e2ead52349cf" /><Relationship Type="http://schemas.openxmlformats.org/officeDocument/2006/relationships/hyperlink" Target="https://www.ebi.ac.uk/gxa/sc/experiments/E-MTAB-3929/Results" TargetMode="External" Id="Rb0fa87ae57cf4b54" /><Relationship Type="http://schemas.openxmlformats.org/officeDocument/2006/relationships/notesSlide" Target="/ppt/notesSlides/notesSlide28.xml" Id="R51219c4253f345d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e8f983fa64c1f" /><Relationship Type="http://schemas.openxmlformats.org/officeDocument/2006/relationships/image" Target="/ppt/media/image8.png" Id="Rc5dd9caafbea4f50" /><Relationship Type="http://schemas.openxmlformats.org/officeDocument/2006/relationships/notesSlide" Target="/ppt/notesSlides/notesSlide29.xml" Id="Re9107c742f3043f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0c86bf5b6441f" /><Relationship Type="http://schemas.openxmlformats.org/officeDocument/2006/relationships/image" Target="/ppt/media/image9.png" Id="Rb51a064ed941491a" /><Relationship Type="http://schemas.openxmlformats.org/officeDocument/2006/relationships/notesSlide" Target="/ppt/notesSlides/notesSlide30.xml" Id="R01f64ac6a06d44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65e8d83e24d0e" /><Relationship Type="http://schemas.openxmlformats.org/officeDocument/2006/relationships/notesSlide" Target="/ppt/notesSlides/notesSlide31.xml" Id="R10f6b5a509a84a4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5083dc9274b7e" /><Relationship Type="http://schemas.openxmlformats.org/officeDocument/2006/relationships/hyperlink" Target="https://v23.proteinatlas.org/about/download" TargetMode="External" Id="Rd9004ac1058e4b73" /><Relationship Type="http://schemas.openxmlformats.org/officeDocument/2006/relationships/hyperlink" Target="https://v23.proteinatlas.org/about/download" TargetMode="External" Id="Rfa072ae60b4b489c" /><Relationship Type="http://schemas.openxmlformats.org/officeDocument/2006/relationships/hyperlink" Target="https://v23.proteinatlas.org/about/download" TargetMode="External" Id="Rdd92e5b065fd434c" /><Relationship Type="http://schemas.openxmlformats.org/officeDocument/2006/relationships/hyperlink" Target="https://v23.proteinatlas.org/about/download" TargetMode="External" Id="R4d30ffed6f4d4a95" /><Relationship Type="http://schemas.openxmlformats.org/officeDocument/2006/relationships/hyperlink" Target="https://gtexportal.org/home/downloads/adult-gtex" TargetMode="External" Id="R1acad8211e4643ca" /><Relationship Type="http://schemas.openxmlformats.org/officeDocument/2006/relationships/hyperlink" Target="https://v23.proteinatlas.org/about/download" TargetMode="External" Id="R12e48b6c053f48a7" /><Relationship Type="http://schemas.openxmlformats.org/officeDocument/2006/relationships/hyperlink" Target="https://dice-database.org/" TargetMode="External" Id="R866ed4adb6504f3c" /><Relationship Type="http://schemas.openxmlformats.org/officeDocument/2006/relationships/notesSlide" Target="/ppt/notesSlides/notesSlide32.xml" Id="Reebee3d664be411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1ac75e66a4a36" /><Relationship Type="http://schemas.openxmlformats.org/officeDocument/2006/relationships/notesSlide" Target="/ppt/notesSlides/notesSlide33.xml" Id="R04bc480362f4401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26b2c010f47ef" /><Relationship Type="http://schemas.openxmlformats.org/officeDocument/2006/relationships/hyperlink" Target="https://doi.org/10.1038/s41467-024-47649-y" TargetMode="External" Id="R886a0d49f7b04191" /><Relationship Type="http://schemas.openxmlformats.org/officeDocument/2006/relationships/hyperlink" Target="https://pmc.ncbi.nlm.nih.gov/articles/PMC11388079/" TargetMode="External" Id="R56f1f297e0d74c0b" /><Relationship Type="http://schemas.openxmlformats.org/officeDocument/2006/relationships/hyperlink" Target="https://pmc.ncbi.nlm.nih.gov/articles/PMC6658352/" TargetMode="External" Id="R10d66ddd02554c1a" /><Relationship Type="http://schemas.openxmlformats.org/officeDocument/2006/relationships/notesSlide" Target="/ppt/notesSlides/notesSlide34.xml" Id="R8e89b4ad69a4411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496c8cfc24daa" /><Relationship Type="http://schemas.openxmlformats.org/officeDocument/2006/relationships/notesSlide" Target="/ppt/notesSlides/notesSlide35.xml" Id="Re9e9552d377d425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c2c9d32e2453b" /><Relationship Type="http://schemas.openxmlformats.org/officeDocument/2006/relationships/hyperlink" Target="https://gtexportal.org/home/downloads/adult-gtex" TargetMode="External" Id="Rdbc796c13a5b4cae" /><Relationship Type="http://schemas.openxmlformats.org/officeDocument/2006/relationships/hyperlink" Target="https://www.proteinatlas.org/about/releases" TargetMode="External" Id="R05589bb6c40a45b0" /><Relationship Type="http://schemas.openxmlformats.org/officeDocument/2006/relationships/hyperlink" Target="https://gtexportal.org/home/downloads/adult-gtex" TargetMode="External" Id="R416f7fdcd08941d6" /><Relationship Type="http://schemas.openxmlformats.org/officeDocument/2006/relationships/hyperlink" Target="https://v23.proteinatlas.org/about/download" TargetMode="External" Id="R8cc76ca91857413c" /><Relationship Type="http://schemas.openxmlformats.org/officeDocument/2006/relationships/notesSlide" Target="/ppt/notesSlides/notesSlide36.xml" Id="R94a7fd8ed2cb44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Eligible so far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Data'!$A$2:$A$17</c:f>
              <c:strCache>
                <c:ptCount val="16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Normal-cell knowledge</c:v>
                </c:pt>
                <c:pt idx="4">
                  <c:v>Curated protein</c:v>
                </c:pt>
                <c:pt idx="5">
                  <c:v>Cornea</c:v>
                </c:pt>
                <c:pt idx="6">
                  <c:v>DICE</c:v>
                </c:pt>
                <c:pt idx="7">
                  <c:v>Monaco</c:v>
                </c:pt>
                <c:pt idx="8">
                  <c:v>HPA immune</c:v>
                </c:pt>
                <c:pt idx="9">
                  <c:v>Tissue clusters</c:v>
                </c:pt>
                <c:pt idx="10">
                  <c:v>Bulk RNA</c:v>
                </c:pt>
                <c:pt idx="11">
                  <c:v>Concentration</c:v>
                </c:pt>
                <c:pt idx="12">
                  <c:v>Coverage</c:v>
                </c:pt>
                <c:pt idx="13">
                  <c:v>HPA protein</c:v>
                </c:pt>
                <c:pt idx="14">
                  <c:v>Cancer expression</c:v>
                </c:pt>
                <c:pt idx="15">
                  <c:v>Reproductive evidence</c:v>
                </c:pt>
              </c:strCache>
            </c:strRef>
          </c:cat>
          <c:val>
            <c:numRef>
              <c:f>'Chart Data'!$B$2:$B$17</c:f>
              <c:numCache>
                <c:formatCode>General</c:formatCode>
                <c:ptCount val="16"/>
                <c:pt idx="0">
                  <c:v>701</c:v>
                </c:pt>
                <c:pt idx="1">
                  <c:v>701</c:v>
                </c:pt>
                <c:pt idx="2">
                  <c:v>701</c:v>
                </c:pt>
                <c:pt idx="3">
                  <c:v>702</c:v>
                </c:pt>
                <c:pt idx="4">
                  <c:v>702</c:v>
                </c:pt>
                <c:pt idx="5">
                  <c:v>705</c:v>
                </c:pt>
                <c:pt idx="6">
                  <c:v>708</c:v>
                </c:pt>
                <c:pt idx="7">
                  <c:v>727</c:v>
                </c:pt>
                <c:pt idx="8">
                  <c:v>734</c:v>
                </c:pt>
                <c:pt idx="9">
                  <c:v>746</c:v>
                </c:pt>
                <c:pt idx="10">
                  <c:v>984</c:v>
                </c:pt>
                <c:pt idx="11">
                  <c:v>4429</c:v>
                </c:pt>
                <c:pt idx="12">
                  <c:v>5426</c:v>
                </c:pt>
                <c:pt idx="13">
                  <c:v>5638</c:v>
                </c:pt>
                <c:pt idx="14">
                  <c:v>17682</c:v>
                </c:pt>
                <c:pt idx="15">
                  <c:v>17691</c:v>
                </c:pt>
              </c:numCache>
            </c:numRef>
          </c:val>
        </c:ser>
        <c:ser>
          <c:idx val="1"/>
          <c:order val="1"/>
          <c:tx>
            <c:v>Unsafe</c:v>
          </c:tx>
          <c:spPr>
            <a:solidFill xmlns:a="http://schemas.openxmlformats.org/drawingml/2006/main">
              <a:srgbClr val="AC493B"/>
            </a:solidFill>
          </c:spPr>
          <c:invertIfNegative val="0"/>
          <c:cat>
            <c:strRef>
              <c:f>'Chart Data'!$C$2:$C$17</c:f>
              <c:strCache>
                <c:ptCount val="16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Normal-cell knowledge</c:v>
                </c:pt>
                <c:pt idx="4">
                  <c:v>Curated protein</c:v>
                </c:pt>
                <c:pt idx="5">
                  <c:v>Cornea</c:v>
                </c:pt>
                <c:pt idx="6">
                  <c:v>DICE</c:v>
                </c:pt>
                <c:pt idx="7">
                  <c:v>Monaco</c:v>
                </c:pt>
                <c:pt idx="8">
                  <c:v>HPA immune</c:v>
                </c:pt>
                <c:pt idx="9">
                  <c:v>Tissue clusters</c:v>
                </c:pt>
                <c:pt idx="10">
                  <c:v>Bulk RNA</c:v>
                </c:pt>
                <c:pt idx="11">
                  <c:v>Concentration</c:v>
                </c:pt>
                <c:pt idx="12">
                  <c:v>Coverage</c:v>
                </c:pt>
                <c:pt idx="13">
                  <c:v>HPA protein</c:v>
                </c:pt>
                <c:pt idx="14">
                  <c:v>Cancer expression</c:v>
                </c:pt>
                <c:pt idx="15">
                  <c:v>Reproductive evidence</c:v>
                </c:pt>
              </c:strCache>
            </c:strRef>
          </c:cat>
          <c:val>
            <c:numRef>
              <c:f>'Chart Data'!$D$2:$D$17</c:f>
              <c:numCache>
                <c:formatCode>General</c:formatCode>
                <c:ptCount val="16"/>
                <c:pt idx="0">
                  <c:v>18062</c:v>
                </c:pt>
                <c:pt idx="1">
                  <c:v>18062</c:v>
                </c:pt>
                <c:pt idx="2">
                  <c:v>18062</c:v>
                </c:pt>
                <c:pt idx="3">
                  <c:v>18061</c:v>
                </c:pt>
                <c:pt idx="4">
                  <c:v>18030</c:v>
                </c:pt>
                <c:pt idx="5">
                  <c:v>18028</c:v>
                </c:pt>
                <c:pt idx="6">
                  <c:v>18016</c:v>
                </c:pt>
                <c:pt idx="7">
                  <c:v>17961</c:v>
                </c:pt>
                <c:pt idx="8">
                  <c:v>17944</c:v>
                </c:pt>
                <c:pt idx="9">
                  <c:v>17914</c:v>
                </c:pt>
                <c:pt idx="10">
                  <c:v>17500</c:v>
                </c:pt>
                <c:pt idx="11">
                  <c:v>10094</c:v>
                </c:pt>
                <c:pt idx="12">
                  <c:v>10094</c:v>
                </c:pt>
                <c:pt idx="13">
                  <c:v>10094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ser>
          <c:idx val="2"/>
          <c:order val="2"/>
          <c:tx>
            <c:v>Other</c:v>
          </c:tx>
          <c:spPr>
            <a:solidFill xmlns:a="http://schemas.openxmlformats.org/drawingml/2006/main">
              <a:srgbClr val="A28C68"/>
            </a:solidFill>
          </c:spPr>
          <c:invertIfNegative val="0"/>
          <c:cat>
            <c:strRef>
              <c:f>'Chart Data'!$E$2:$E$17</c:f>
              <c:strCache>
                <c:ptCount val="16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Normal-cell knowledge</c:v>
                </c:pt>
                <c:pt idx="4">
                  <c:v>Curated protein</c:v>
                </c:pt>
                <c:pt idx="5">
                  <c:v>Cornea</c:v>
                </c:pt>
                <c:pt idx="6">
                  <c:v>DICE</c:v>
                </c:pt>
                <c:pt idx="7">
                  <c:v>Monaco</c:v>
                </c:pt>
                <c:pt idx="8">
                  <c:v>HPA immune</c:v>
                </c:pt>
                <c:pt idx="9">
                  <c:v>Tissue clusters</c:v>
                </c:pt>
                <c:pt idx="10">
                  <c:v>Bulk RNA</c:v>
                </c:pt>
                <c:pt idx="11">
                  <c:v>Concentration</c:v>
                </c:pt>
                <c:pt idx="12">
                  <c:v>Coverage</c:v>
                </c:pt>
                <c:pt idx="13">
                  <c:v>HPA protein</c:v>
                </c:pt>
                <c:pt idx="14">
                  <c:v>Cancer expression</c:v>
                </c:pt>
                <c:pt idx="15">
                  <c:v>Reproductive evidence</c:v>
                </c:pt>
              </c:strCache>
            </c:strRef>
          </c:cat>
          <c:val>
            <c:numRef>
              <c:f>'Chart Data'!$F$2:$F$17</c:f>
              <c:numCache>
                <c:formatCode>General</c:formatCode>
                <c:ptCount val="16"/>
                <c:pt idx="0">
                  <c:v>454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ser>
          <c:idx val="3"/>
          <c:order val="3"/>
          <c:tx>
            <c:v>Unassigned</c:v>
          </c:tx>
          <c:spPr>
            <a:solidFill xmlns:a="http://schemas.openxmlformats.org/drawingml/2006/main">
              <a:srgbClr val="B9C3CD"/>
            </a:solidFill>
          </c:spPr>
          <c:invertIfNegative val="0"/>
          <c:cat>
            <c:strRef>
              <c:f>'Chart Data'!$G$2:$G$17</c:f>
              <c:strCache>
                <c:ptCount val="16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Normal-cell knowledge</c:v>
                </c:pt>
                <c:pt idx="4">
                  <c:v>Curated protein</c:v>
                </c:pt>
                <c:pt idx="5">
                  <c:v>Cornea</c:v>
                </c:pt>
                <c:pt idx="6">
                  <c:v>DICE</c:v>
                </c:pt>
                <c:pt idx="7">
                  <c:v>Monaco</c:v>
                </c:pt>
                <c:pt idx="8">
                  <c:v>HPA immune</c:v>
                </c:pt>
                <c:pt idx="9">
                  <c:v>Tissue clusters</c:v>
                </c:pt>
                <c:pt idx="10">
                  <c:v>Bulk RNA</c:v>
                </c:pt>
                <c:pt idx="11">
                  <c:v>Concentration</c:v>
                </c:pt>
                <c:pt idx="12">
                  <c:v>Coverage</c:v>
                </c:pt>
                <c:pt idx="13">
                  <c:v>HPA protein</c:v>
                </c:pt>
                <c:pt idx="14">
                  <c:v>Cancer expression</c:v>
                </c:pt>
                <c:pt idx="15">
                  <c:v>Reproductive evidence</c:v>
                </c:pt>
              </c:strCache>
            </c:strRef>
          </c:cat>
          <c:val>
            <c:numRef>
              <c:f>'Chart Data'!$H$2:$H$17</c:f>
              <c:numCache>
                <c:formatCode>General</c:formatCode>
                <c:ptCount val="16"/>
                <c:pt idx="0">
                  <c:v>646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1131</c:v>
                </c:pt>
                <c:pt idx="5">
                  <c:v>1130</c:v>
                </c:pt>
                <c:pt idx="6">
                  <c:v>1139</c:v>
                </c:pt>
                <c:pt idx="7">
                  <c:v>1175</c:v>
                </c:pt>
                <c:pt idx="8">
                  <c:v>1185</c:v>
                </c:pt>
                <c:pt idx="9">
                  <c:v>1203</c:v>
                </c:pt>
                <c:pt idx="10">
                  <c:v>1379</c:v>
                </c:pt>
                <c:pt idx="11">
                  <c:v>5340</c:v>
                </c:pt>
                <c:pt idx="12">
                  <c:v>4343</c:v>
                </c:pt>
                <c:pt idx="13">
                  <c:v>4131</c:v>
                </c:pt>
                <c:pt idx="14">
                  <c:v>2181</c:v>
                </c:pt>
                <c:pt idx="15">
                  <c:v>2172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B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3B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3E92-5BE7-48E8-A3AC-37A860EC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3A9D3-71B7-44D0-AC2B-6621E6E8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Human and dog CTA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E9D70-E574-4C7F-BBA3-DB62DE4B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F05AC-CD20-43C1-9E8F-45D037E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501E8-40A7-4D43-AA2D-866DC9D9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701 human CTA proteins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95E18-1C85-441A-95BF-BB3D3FDE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747 loci   /   18,062 Unsafe   /   454 Other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E8393-5535-4D6A-BE90-3A6C0D9E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646 unassigned; dog selection remains unassessed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368C1-EAFA-4475-838C-6F9EF8E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Sources, expression profiles, single-cutoff filtering and measured tissue evidence.</a:t>
            </a:r>
          </a:p>
        </p:txBody>
      </p:sp>
    </p:spTree>
    <p:extLst>
      <p:ext uri="{BB962C8B-B14F-4D97-AF65-F5344CB8AC3E}">
        <p14:creationId xmlns:p14="http://schemas.microsoft.com/office/powerpoint/2010/main" val="575902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C1BBE-29F7-4406-9843-2DF8C0F2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INDEPENDENT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B3E3D-BF96-41C1-9B2D-3CFE13D4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Safety, cancer and Reproductive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21E4A-402E-4C8A-BED5-430B618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86CCF-EEDC-4752-85DE-3D54508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B5EF5-48ED-4AF5-849A-F3B00995D5A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05300"/>
                <a:gridCol w="38100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rule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Concerning normal expression?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Absolute RNA / IHC and clinical rules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 expression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Expressed in a measured cancer?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sample &gt;0 TPM/pTPM or reviewed tumor protein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Expression in a qualifying branch?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Bulk/cell RNA ≥5, reliable reproductive protein, or embryonic RNA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 required panels measured?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GTEx core contexts and existing HPA panels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60091-3C69-472D-A22F-A61E152A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Only safety establishes Unsafe. Missing core data remain unassigned. RNA is not a direct protein measurement.</a:t>
            </a:r>
          </a:p>
        </p:txBody>
      </p:sp>
    </p:spTree>
    <p:extLst>
      <p:ext uri="{BB962C8B-B14F-4D97-AF65-F5344CB8AC3E}">
        <p14:creationId xmlns:p14="http://schemas.microsoft.com/office/powerpoint/2010/main" val="120334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743B9-8813-4B8C-A266-1262C6A1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HPA PROFILE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5B57E-12F5-4E3D-86C2-85D0AC84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Diffuse expression is an identity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D59F8-6EF8-40A0-A00B-0987B66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B2CA4-3EEB-42DA-B800-54245C2D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1A064-F204-405B-8C60-007E09CE6AE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fe6bde7e00144e8"/>
                        </a:rPr>
                        <a:t>HPA v23</a:t>
                      </a:r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normal-tissue 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Highest Reproductive nTPM in </a:t>
                      </a:r>
                      <a:r>
                        <a:rPr sz="2025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87835ca253884b40"/>
                        </a:rPr>
                        <a:t>HPA v23</a:t>
                      </a:r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(adult/placental)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 / (N + R)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 across 29 organs / 38 contexts; thymus excluded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Active boundary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 &gt;10%, with a supported positive R and complete comparison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2C63-375B-451D-AF6B-BF528D05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MTCP1 is Other:Diffuse at 24.53%. Thymus is excluded. Embryonic concentration remains unassessed.</a:t>
            </a:r>
          </a:p>
        </p:txBody>
      </p:sp>
    </p:spTree>
    <p:extLst>
      <p:ext uri="{BB962C8B-B14F-4D97-AF65-F5344CB8AC3E}">
        <p14:creationId xmlns:p14="http://schemas.microsoft.com/office/powerpoint/2010/main" val="409566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6B08B-7844-4F81-AB12-E5C7EDCB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89CD7-FEFA-4CAF-8C9F-2023B53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 fixed GTEx core for every protein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C35D1-44AF-4DF9-A87F-0DA173E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D2432-EFBF-4E08-9227-BB832558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E22E8-F860-427F-8889-F5EFC331173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a2000c8dcc54421b"/>
                        </a:rPr>
                        <a:t>GTEx v11</a:t>
                      </a:r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: 52 bulk contexts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contexts for every protein; measured zero counts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member loci measured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identities are not replaced by paralogs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core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Blocks CTA; unassigned unless independent Unsafe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Optional </a:t>
                      </a:r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20bbf57c1a294b76"/>
                        </a:rPr>
                        <a:t>DICE</a:t>
                      </a:r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coverage allowed; observed safety evidence counts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C39D5-59D2-44B3-84BF-BAAE67BC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GTEx does not cover every organ, fetal stage or rare cell. Existing HPA cell / immune coverage requirements also apply.</a:t>
            </a:r>
          </a:p>
        </p:txBody>
      </p:sp>
    </p:spTree>
    <p:extLst>
      <p:ext uri="{BB962C8B-B14F-4D97-AF65-F5344CB8AC3E}">
        <p14:creationId xmlns:p14="http://schemas.microsoft.com/office/powerpoint/2010/main" val="296879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D9DF3-1210-449D-B8C5-D2ACBF29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CALCULATION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B7AF6-D01E-444D-93F6-73578D12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ZNF730: panel composition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D49B0-577C-4C2C-BBE9-47F1476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0E28E-1657-4A7A-9134-80E27F5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D9140-455E-404E-A8A7-D920D697179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v23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GTEx v11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reference (testis)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4.9 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4.91414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source panel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9.53%: 29 anatomy units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1.65%: 23 anatomy units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20 anatomy units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6.36%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1.71%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E851C-B210-4951-AD9B-155D7FA1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Thymus is Permissive: excluded from both sides of the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39FF6-BC6A-43A9-BEFC-DA902129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Thymus exclusion changes HPA 10.34% → 9.53%. Independent safety evidence keeps ZNF730 Unsafe.</a:t>
            </a:r>
          </a:p>
        </p:txBody>
      </p:sp>
    </p:spTree>
    <p:extLst>
      <p:ext uri="{BB962C8B-B14F-4D97-AF65-F5344CB8AC3E}">
        <p14:creationId xmlns:p14="http://schemas.microsoft.com/office/powerpoint/2010/main" val="4314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C61D8-A6F9-4DB0-B334-9F01DE97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ANNOTATIONS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E35F1-5F00-4965-B8AD-3B80F52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Published candidate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83319-FEC8-40C6-B0D6-1887EEF2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A3091-BAA9-4619-A570-962BCBF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9B0DC-6AA2-4741-9888-CF28524D7845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428750"/>
                <a:gridCol w="1333500"/>
                <a:gridCol w="1524000"/>
                <a:gridCol w="1428750"/>
                <a:gridCol w="1543050"/>
              </a:tblGrid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0f9e3a21a7ae4124"/>
                        </a:rPr>
                        <a:t>da Silva et al. (2017)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9c1cede378c7434c"/>
                        </a:rPr>
                        <a:t>Wang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519840c986614779"/>
                        </a:rPr>
                        <a:t>Chang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26f33ed686934cdc"/>
                        </a:rPr>
                        <a:t>Gong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6c949424c895479f"/>
                        </a:rPr>
                        <a:t>Bruggeman et al. (2018)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3abdb07866d14b7f"/>
                        </a:rPr>
                        <a:t>Jamin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6fff4e6b2dfc42e0"/>
                        </a:rPr>
                        <a:t>Loriot et al. (2025)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759173306524f2b"/>
                        </a:rPr>
                        <a:t>Carter et al. (2023)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951131d773b84352"/>
                        </a:rPr>
                        <a:t>Hirbo et al. (2015)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5ebc2d143e8e49be"/>
                        </a:rPr>
                        <a:t>Seager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c63fd527d23a44ff"/>
                        </a:rPr>
                        <a:t>Sasaroli et al. (2011)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b6f542ba9ec54105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15095-9F1B-488E-9B2D-25C3CD44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Union: 2,514 proteins / 2,570 loci. 565 selected proteins have an annotation; 136 do not.</a:t>
            </a:r>
          </a:p>
        </p:txBody>
      </p:sp>
    </p:spTree>
    <p:extLst>
      <p:ext uri="{BB962C8B-B14F-4D97-AF65-F5344CB8AC3E}">
        <p14:creationId xmlns:p14="http://schemas.microsoft.com/office/powerpoint/2010/main" val="394077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7A05-19BE-40D5-ACCE-95A4587C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PUBLICATION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605B5-D99E-4186-A2A2-0DD2D702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Broader published nominations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1F93A-BDA8-4D88-B6A8-68559C1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E9B72-42AE-407F-ABF4-E54FBF22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A43F9-D771-4D97-9AF5-860119D24A46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42925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 accounting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76567bc5024a4fa3"/>
                        </a:rPr>
                        <a:t>Sasaroli et al. (2011)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detailed tumor-vascular candidates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matched genes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a1e25f7bef6947ef"/>
                        </a:rPr>
                        <a:t>Hirbo et al. (2015)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 placenta-enriched genes, including 30 fast-evolving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82 matched, 4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Compact source view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Bai, Boël and Bradley covered by larger sets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memberships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5f57b6b00a7844b1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Still uniquely contributes SPAG9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in main view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E32F3-F2E5-43F9-9829-3E0DF9EC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Vascular and placental nominations retain their scope. Paper membership never bypasses the quantitative funnel.</a:t>
            </a:r>
          </a:p>
        </p:txBody>
      </p:sp>
    </p:spTree>
    <p:extLst>
      <p:ext uri="{BB962C8B-B14F-4D97-AF65-F5344CB8AC3E}">
        <p14:creationId xmlns:p14="http://schemas.microsoft.com/office/powerpoint/2010/main" val="935529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D6D92-ACE0-470A-A73E-36B60F72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ANNOTATIONS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48D98-1DFE-478E-8813-A0C9A27F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Overlap between published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80B44-FC33-47FE-8665-CD65EA2E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CAA8D-8E1C-44F6-BD52-6AF992B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78AF2-1AFF-4182-9BE5-6427DEA84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f58e6a26d4a01"/>
          <a:stretch xmlns:a="http://schemas.openxmlformats.org/drawingml/2006/main"/>
        </p:blipFill>
        <p:spPr>
          <a:xfrm xmlns:a="http://schemas.openxmlformats.org/drawingml/2006/main">
            <a:off x="1333500" y="1447800"/>
            <a:ext cx="952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816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215F4-57C9-4F3A-B011-941D781D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POSITIVE EXPRESSION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3DB0B-7D98-4D3B-84B6-A62EEFFE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Reproductive evidence: measured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B6581-B72A-494A-ADB2-1002D156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DA412-42D6-4846-BF78-0CF93F0A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FFC2D-0FFF-434E-9137-A974D93E2F6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533650"/>
                <a:gridCol w="253365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Qualifying route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Entrants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Adult/placental evidence only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4,686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Embryonic-only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measured routes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12,546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0F39C-430D-4FB1-863B-74E84F4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RNA and reliable reproductive IHC establish association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9714F-4C77-4B8B-A0D4-756FB2A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Entrants count positive expression before the other admission gates. Reproductive presence and profile concentration are separate questions.</a:t>
            </a:r>
          </a:p>
        </p:txBody>
      </p:sp>
    </p:spTree>
    <p:extLst>
      <p:ext uri="{BB962C8B-B14F-4D97-AF65-F5344CB8AC3E}">
        <p14:creationId xmlns:p14="http://schemas.microsoft.com/office/powerpoint/2010/main" val="61638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B1F64-36A4-46DE-B6E2-A4AA378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7197-D8FC-43A3-9AF8-D2D40EE8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Normal and cancer measurement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73F7B-344E-4B8A-B870-4CA3C7B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A5CB5-6F63-4FA0-B58D-1DA72E9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A5970-EC5E-4681-AA49-3F8018A320A2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429250"/>
                <a:gridCol w="2590800"/>
              </a:tblGrid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reproductive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09f44c4ccf84c32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consensus / brain + </a:t>
                      </a:r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547e1c0e1e064e2f"/>
                        </a:rPr>
                        <a:t>GTEx v11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tissue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5450feb2ba7493f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clusters, at least 20 reads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39717ab75c1f4872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Monaco / original </a:t>
                      </a:r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d01ca8c35574525"/>
                        </a:rPr>
                        <a:t>DICE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Collin et al., </a:t>
                      </a:r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ee4728ae63e547c5"/>
                        </a:rPr>
                        <a:t>GSE155683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CP10K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78a1c5df16124db5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+ curated external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Staining / reagent confidence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132 compatible OncoRef cohort views + HPA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TPM / protein-coding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gastrulation + Petropoulos preimplantation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lineage mean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3D7C0-B13F-4A85-9DA8-DBA2A044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4bc310db60754f4c"/>
              </a:rPr>
              <a:t>DICE</a:t>
            </a: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and corneal coverage are optional. Measured counterevidence still contributes.</a:t>
            </a:r>
          </a:p>
        </p:txBody>
      </p:sp>
    </p:spTree>
    <p:extLst>
      <p:ext uri="{BB962C8B-B14F-4D97-AF65-F5344CB8AC3E}">
        <p14:creationId xmlns:p14="http://schemas.microsoft.com/office/powerpoint/2010/main" val="827701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02118-ABF8-45A8-B299-5EBA44B1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9CAD3-0B1A-4100-8485-757A630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RNA cutoffs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B5BA6-0CF5-4681-B661-E0A90345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A59FC-DA95-4D29-B6EB-8861EBD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530A0-B8BE-47E5-A823-AAF6C08C490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33625"/>
                <a:gridCol w="1895475"/>
                <a:gridCol w="1895475"/>
                <a:gridCol w="1895475"/>
              </a:tblGrid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Ceiling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/ unusable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793C3-AEC9-49E4-84D5-F9D3C06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One boundary: above-cutoff Vital / Protected is Unsafe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84513-77FC-4E26-806D-82D079EA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Manageable excess blocks CTA. Bowel epithelium and identified fibroblasts use Manageable. Equality passes.</a:t>
            </a:r>
          </a:p>
        </p:txBody>
      </p:sp>
    </p:spTree>
    <p:extLst>
      <p:ext uri="{BB962C8B-B14F-4D97-AF65-F5344CB8AC3E}">
        <p14:creationId xmlns:p14="http://schemas.microsoft.com/office/powerpoint/2010/main" val="4592369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E4EA8-05D5-41F5-848C-E65857D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TCR-T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C034E-6C90-45A6-9CE8-EA252E3E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Clinical evidence adjusts RNA ceilings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FC5C3-B092-4A74-8D89-BA31961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464B1-DB43-4EC2-833C-E50BDE10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D0308-26B2-45CA-A337-4C2C96D14B6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33625"/>
                <a:gridCol w="1895475"/>
                <a:gridCol w="1895475"/>
                <a:gridCol w="1895475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 clinical credit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/ unusable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E94B4-072E-4AFD-97AC-198B014C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IHC grades stay unchanged. Trials do not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C4B18-FDB6-4733-A331-FF5493D3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Protein and clinical-injury exclusions remain. This is protein-profile credit with tested epitope limitations, not clinical clearance.</a:t>
            </a:r>
          </a:p>
        </p:txBody>
      </p:sp>
    </p:spTree>
    <p:extLst>
      <p:ext uri="{BB962C8B-B14F-4D97-AF65-F5344CB8AC3E}">
        <p14:creationId xmlns:p14="http://schemas.microsoft.com/office/powerpoint/2010/main" val="788163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937CE-B918-4B1E-81B2-18AE2D4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CLINICAL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EBBA-459C-47A5-90A3-8B84DE14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Serious events and antigen specificity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54046-6D91-4B65-A138-1679EA35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58BB8-F853-4A2B-AE46-89748202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BD61D-EDE7-4CA3-951C-1ACD23BC63E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05250"/>
                <a:gridCol w="3686175"/>
              </a:tblGrid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Targeted CTA epitope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Important event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Specificity attribution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MAGE-A3 / a3a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fatal cardiac injuries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Titin cross-recognition implicated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MAGE-A3/A9 / NCI receptor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neurological cases; two deaths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MAGE-A12 brain recognition implicated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NY-ESO-1 / LAGE-1A, c259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 cardiac death; two GBS cases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Peptide-specific mechanism not established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NY-ESO-1 / TBI-1301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Grade 3 lung injury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Unresolved; no credit for this product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MAGE-A4 / afami-cel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Aplasia and stroke deaths in phase 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demonstrated antigen-specific mechanism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MAGE-A10 / ADP-A2M10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Grade 4 CRS; fatal aplasia after repeat treatment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Conditioning favored for marrow injury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EE2CB-FD9C-4F2C-B447-7ADE6F49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5de70f731ef4380"/>
              </a:rPr>
              <a:t>Clinical trial and SAE review</a:t>
            </a: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. Seriousness differs from severity; this is a selected summary, not a pooled event rate.</a:t>
            </a:r>
          </a:p>
        </p:txBody>
      </p:sp>
    </p:spTree>
    <p:extLst>
      <p:ext uri="{BB962C8B-B14F-4D97-AF65-F5344CB8AC3E}">
        <p14:creationId xmlns:p14="http://schemas.microsoft.com/office/powerpoint/2010/main" val="464206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7FAE9-84E8-4FB7-B950-B0E4E22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CATEGORICAL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B9927-D0B4-4FB7-A987-076C5A0E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Other categories: identity and cancer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C7465-07C4-4819-8D3E-68AA73A9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AC951-794E-4064-9A25-BBFFF26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C066E-3F73-49C1-B546-3B0A2471A3A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400800"/>
                <a:gridCol w="133350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Other:Diffuse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measured profile is too dispersed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Other:Reproductive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evidence qualifies; cancer evidence does not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Other:Inducible (legacy)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current rows; reviewed normal protein enters safety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Other:Tumor-supported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Strong tumor evidence; restriction remains unestablished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C7B7D-617C-4E1F-9375-4AB2494E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Every assessed protein has one label. There is no unnamed Other remainder.</a:t>
            </a:r>
          </a:p>
        </p:txBody>
      </p:sp>
    </p:spTree>
    <p:extLst>
      <p:ext uri="{BB962C8B-B14F-4D97-AF65-F5344CB8AC3E}">
        <p14:creationId xmlns:p14="http://schemas.microsoft.com/office/powerpoint/2010/main" val="801249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F47B9-0148-4318-AE50-59DFE99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CATEGORICAL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8CDD0-7EE9-40F8-A2E4-E7F372D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Other categories: normal expression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5813C-1795-4D6E-A858-38F96138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EAC8D-2859-4443-AB72-40AE5594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850A5-C3A5-42B0-9E56-DD052A60C35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400800"/>
                <a:gridCol w="133350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Other:Disposable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Positive Disposable evidence; low measured RNA elsewhere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Other:Low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normal RNA &lt;2; no detected normal protein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Other:Normal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normal expression; no preceding category applies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Other:Weak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Below admission floors or insufficient expression support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C2E18-5145-4CB1-9361-AF46001C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Every assessed protein has one label. There is no unnamed Other remainder.</a:t>
            </a:r>
          </a:p>
        </p:txBody>
      </p:sp>
    </p:spTree>
    <p:extLst>
      <p:ext uri="{BB962C8B-B14F-4D97-AF65-F5344CB8AC3E}">
        <p14:creationId xmlns:p14="http://schemas.microsoft.com/office/powerpoint/2010/main" val="7834214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8D40D-C509-4626-B13D-7198445D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POSITIVE ASSOCIATION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305DD-D935-43F4-BE0B-AC1E44CD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Reproductive cell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7B560-2D38-4850-AEB6-98BDDF1C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D0F92-1D11-445D-9CF3-D79FE483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923F6-BDF3-412E-913C-16A8D8CC41E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952875"/>
                <a:gridCol w="440055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Positive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requirements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Identified lineage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≥5 nTPM with ≥20 reads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Mapped reproductive lineage; all protein loci measured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Indirect site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Generic/immune cell in reproductive tissue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outside cluster panel; every value &lt;5 nTPM; no normal-induction conflict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CAGE1 208.9; PRDM9 61.8; FOXR2 5.2 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Spermatids / spermatocytes / spermatogonia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Counterexample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IFNA2 and IFNA14 in breast macrophages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 normal immune protein → 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D6FC9-C517-45C3-AAC6-61FCBC48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Indirect support identifies the sample site, not the producing cell. Normal and bulk-concentration gates still apply.</a:t>
            </a:r>
          </a:p>
        </p:txBody>
      </p:sp>
    </p:spTree>
    <p:extLst>
      <p:ext uri="{BB962C8B-B14F-4D97-AF65-F5344CB8AC3E}">
        <p14:creationId xmlns:p14="http://schemas.microsoft.com/office/powerpoint/2010/main" val="17946679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B63AE-0D17-44EF-96C9-6517506B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LITERATURE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CD8EB-88F5-4E16-AFD0-65F7EC6F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Reviewed normal-cell knowledge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976B0-18D6-4253-AB7C-89BEEC16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D3825-ABBE-4120-8D9E-406A30D0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4E82B-42D1-460A-96B2-FAA91516D43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Established normal production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Vital/Protected protein or localized RNA plus orthogonal cell function can establish 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Unresolved normal findings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Sparse RNA, uncertain species/stage or isoforms remain review holds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Supplies presence below the RNA floor; safety and concentration still apply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 and curation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611 baseline Other genes searched; accepted findings remain separate from search leads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8BCA4-2A70-4AF7-8760-54F13DC0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Rare normal cells and activation states count. Expression exclusions do not assert clinical injury.</a:t>
            </a:r>
          </a:p>
        </p:txBody>
      </p:sp>
    </p:spTree>
    <p:extLst>
      <p:ext uri="{BB962C8B-B14F-4D97-AF65-F5344CB8AC3E}">
        <p14:creationId xmlns:p14="http://schemas.microsoft.com/office/powerpoint/2010/main" val="13952394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9237E-8218-4346-A9E1-9DE6E56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RECONSIDERATION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E2B93-F539-41D4-8BA8-AC0E673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Other:Tumor-supported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6D6FB-5A99-43E3-9D2D-DDC3856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6E98E-5F40-4B7C-92C2-0306737F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B4F23-66C6-42A3-B037-34C04942BC8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&gt;=10 TPM in two distinct samples; duplicate source views do not count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 alternative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 tumor protein evidence; aggregate IHC counts alone are insufficient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Outside cancer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 measured normal/developmental expression; all normal safety gates pass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 review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rare normal cells and states must be assessed before claiming tumor restriction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3C300-3537-4203-946F-F5E916A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46 of 66 numerical leads remain Other; the rest have safety exclusions or review holds. None is labelled tumor-only.</a:t>
            </a:r>
          </a:p>
        </p:txBody>
      </p:sp>
    </p:spTree>
    <p:extLst>
      <p:ext uri="{BB962C8B-B14F-4D97-AF65-F5344CB8AC3E}">
        <p14:creationId xmlns:p14="http://schemas.microsoft.com/office/powerpoint/2010/main" val="18403022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B4F64-0ED9-4113-A715-19A1694F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E70D4-DB02-412B-8B01-7BE7695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filtering layer can contribute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6AB90-1D46-455A-B912-B26DBA78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D2850-CB05-4345-A227-89DA672F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5F7E703-D303-4ABF-A974-E0008C643DB1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18639046924f1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AB194-6F59-4BDA-8173-801EF173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Final: 701 CTA / 18,062 Unsafe / 454 Other / 646 unassigned.</a:t>
            </a:r>
          </a:p>
        </p:txBody>
      </p:sp>
    </p:spTree>
    <p:extLst>
      <p:ext uri="{BB962C8B-B14F-4D97-AF65-F5344CB8AC3E}">
        <p14:creationId xmlns:p14="http://schemas.microsoft.com/office/powerpoint/2010/main" val="12329428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1B6DA-95FF-4B96-8565-64D0A46C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72C8D-C9D9-4061-A19C-FD713D78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Removals at each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E9BB9-90B7-44C0-8F2E-32D645A4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1E39-1478-412B-B21B-A2DE600D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4F898-6AC0-41BD-8B96-6861A101F3C2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1809750"/>
                <a:gridCol w="1809750"/>
                <a:gridCol w="1876425"/>
              </a:tblGrid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removals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Association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2,172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17,691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 expression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17,682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12,044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5,638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RNA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5,426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concentration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4,429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3,445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17,500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tissue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17,944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17,961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8b7f36c1ae249a9"/>
                        </a:rPr>
                        <a:t>DICE</a:t>
                      </a:r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Accepted normal-protein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 normal-cell knowledge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18,061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safety exclusion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18,062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validated 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18,062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92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 and Other assignments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18,062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048A6-0819-4778-B504-DF1FCC35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Sequential removals overlap. Final categories use every applicable evidence layer.</a:t>
            </a:r>
          </a:p>
        </p:txBody>
      </p:sp>
    </p:spTree>
    <p:extLst>
      <p:ext uri="{BB962C8B-B14F-4D97-AF65-F5344CB8AC3E}">
        <p14:creationId xmlns:p14="http://schemas.microsoft.com/office/powerpoint/2010/main" val="18461835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F9D0E-B733-4F9A-AB1B-46722C7A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ANATOMY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6028B-76EA-4AEE-A5BD-4B8C4929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IHC matching to measured RNA compartments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5D717-BC0B-4E08-891E-E0F44162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BE4FA-E9ED-4633-BB92-72325FA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1A9F7-2267-4A91-8AC8-1CB450EBD65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and current ceiling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colon epithelial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20.3 nTPM / 96 reads; Enhanced-negative glandular IHC; Manageable 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adrenal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3.6 nTPM; incomplete IHC coverage; Vital 4 → 8 with IMA203 credit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CTAG2 bronchial basal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24.9 nTPM / 58 reads; Enhanced-negative respiratory IHC; Vital 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Unrelated cells in the same tissue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negative-IHC credit without exact or declared compartment coverage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E6ED7-8B5D-41A8-9A5D-8728D10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PRAME and CTAG2 pass this policy. Parent-compartment sensitivity and PRAME’s Low adrenal protein remain explicit limitations.</a:t>
            </a:r>
          </a:p>
        </p:txBody>
      </p:sp>
    </p:spTree>
    <p:extLst>
      <p:ext uri="{BB962C8B-B14F-4D97-AF65-F5344CB8AC3E}">
        <p14:creationId xmlns:p14="http://schemas.microsoft.com/office/powerpoint/2010/main" val="7652894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03395-34BB-4446-A6EF-16CD4D87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A6585-47AF-42B3-8626-0E8ED0A8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adult/placental versus embryonic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D0E19-2635-4BE1-9D0D-82EF3429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2F9C-69FA-41D6-A3D8-4CC0B63A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1DC21-A423-4E73-BC39-278A380BF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66b39ed484e8f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EBE2F-FEB4-4CED-BA92-6659F4BA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2332391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86E89-E4AB-4399-A0D1-5AC64577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6F982-BE6F-4B41-A279-EFD58AC5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healthy RNA in TPM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8B4BA-A30A-4DA1-9EE7-92A5DE8F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EC8D7-EA17-4D1E-B78A-02C307A2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58253-96C3-4F68-BD76-FFBB1A3A48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a3ee6f3ee45ea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5D86-2F96-433B-84F1-B82FEE2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7076503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3EA8-7076-4699-87E2-7AB65B39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B4F54-AC70-4D3D-96B2-49512F37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normal corneal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4DAF-5B93-4319-8640-4A9DE80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CF8A8-A9D0-46E5-BA01-BDC4B665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62D31-D182-468E-BC78-A9212B4EC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4bbd82edc4b7e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BC32E-A93F-48DD-A3D2-852FD383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19158025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A5AFE-0EEE-42D8-956F-8440AF01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0CE7-72FE-4707-8358-6A75750B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adult/placental and embryonic RNA: labels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64EAD-02E7-4CF6-9197-96A75305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AA254-D47B-4C49-B761-A2689FA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81D0E-5658-429D-A973-BA013A255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6ee30beaa47f1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258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285F3-7F47-4421-90E7-B407896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558E8-17F1-49BB-ADDC-65CE18B6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adult/placental and embryonic RNA: labels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B668E-0F0B-4CDA-AD22-D412BCBC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6C6AC-03DA-494A-B566-437BB3F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3444F-88E4-42FD-9F8F-BD6009BCD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41bcb46e34e08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419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D7985-E221-4520-BB44-0BE6D8CF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0C7F2-DB9F-4FBC-B73F-405FC753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adult/placental and embryonic RNA: labels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3C851-E8F5-4A2D-A0A6-952176C3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DEB87-E003-4968-A94D-10824B4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7862-7BEE-4A08-B7BB-2126D2D6C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96fd873e04c5a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050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8B13F-BF70-4F76-9888-7661C68B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B360B-AE3F-46DD-9BBD-20EC88BD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Complementary embryonic measurements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FAE0B-5117-44B3-A3E0-66AE0C5C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99DE5-BB10-44EB-A6BE-0258A1EA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A5D17-B0EE-418B-8C24-6351F85E68D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000500"/>
                <a:gridCol w="354330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cells / embryos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3670e2ead52349cf"/>
                        </a:rPr>
                        <a:t>Tyser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1,195 cells / 1 embryo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Gastrulation, Carnegie stage 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b0fa87ae57cf4b54"/>
                        </a:rPr>
                        <a:t>Petropoulos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1,519 cells / 88 embryos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Preimplantation, days 3–7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Recovered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683 of 1,006 earlier missing 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TPM, including familiar CTAs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9EEFA-CBA9-4FFA-8D80-D143D6C9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PRAME, MAGE-A4, CTAG1A/B, XAGE1A/B and CT83 now have TPM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AF10-7A37-469E-A7D2-40D214D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Each source keeps its own stages. Neither atlas covers all fetal or pediatric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3254678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D2DF3-B5D3-4782-B1E2-6513EE9D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EC515-DDCB-4532-A867-8AFB6AE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antigens: adult/placental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2CAC3-ED1F-472E-A533-AF58977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473AC-B31A-4676-BA50-418E0B2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925A5-2B10-4BA4-AEB5-4C78FF98B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d9caafbea4f50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87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DB49E-8BAA-4F2B-879A-1201774C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EB952-FF1D-42BE-BB84-D27616A5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antigens: embryonic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115D7-0F16-467C-B1AE-FC741862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73DF4-16C8-4ED5-9D47-7678071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3AA9C-E7DB-427D-977A-5A54F94A0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a064ed941491a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51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6B456-E1EE-46E1-A4C4-EEA800EB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READING THE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E980B-FF84-4A3E-BE3F-8248561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Assessment status is separate from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9FB70-7417-4773-B7F0-B6B3DC1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188D-AE89-4D3E-8C49-6AE67E37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754C3-EA75-4E65-982D-4A5C4ED4AD3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924550"/>
                <a:gridCol w="161925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 status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 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Candidate, Unsafe or Other 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19,217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incomplete_evidence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Unassigned with missing coverage or unresolved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normal_evidence_hold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normal coverage passes; a normal-screen hold remains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unassessed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species-specific selection policy applied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C7C50-25E3-4BB1-ACD0-1081523C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Other requires a complete, resolved normal screen. Unassigned does not mean Unsafe or low expression.</a:t>
            </a:r>
          </a:p>
        </p:txBody>
      </p:sp>
    </p:spTree>
    <p:extLst>
      <p:ext uri="{BB962C8B-B14F-4D97-AF65-F5344CB8AC3E}">
        <p14:creationId xmlns:p14="http://schemas.microsoft.com/office/powerpoint/2010/main" val="14524509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B0AD7-E69B-4B26-83D3-92E4AA8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COVERAGE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93EC1-A45D-47BB-AC1D-286A5336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Which sources have incomplete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5A89E-80CB-4BFC-A5DE-DE7BB00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C10B9-6219-4E58-A9F5-F067C7C4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40986-E016-4E51-B4F9-9A4D95CE9F52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39250"/>
                <a:gridCol w="1733550"/>
              </a:tblGrid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or unresolved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d9004ac1058e4b73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consensus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 normal bulk: HPA consensus + HPA brain + direct GTEx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a072ae60b4b489c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tissue-cell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dd92e5b065fd434c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 cells via </a:t>
                      </a:r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d30ffed6f4d4a95"/>
                        </a:rPr>
                        <a:t>HPA v23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</a:t>
                      </a:r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acad8211e4643ca"/>
                        </a:rPr>
                        <a:t>GTEx v11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bulk panel (52 contexts)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 Tyser + Petropoulos TPM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tumor measurement: OncoRef + HPA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tumor, incomplete group profile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2e48b6c053f48a7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Uncertain normal-tissue IHC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6A2EA-3934-4291-90AA-8DFEB40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Overlapping gaps within 475 unassigned proteins. </a:t>
            </a:r>
            <a:r>
              <a:rPr sz="1800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6ed4adb6504f3c"/>
              </a:rPr>
              <a:t>DICE</a:t>
            </a: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and corneal coverage are optional.</a:t>
            </a:r>
          </a:p>
        </p:txBody>
      </p:sp>
    </p:spTree>
    <p:extLst>
      <p:ext uri="{BB962C8B-B14F-4D97-AF65-F5344CB8AC3E}">
        <p14:creationId xmlns:p14="http://schemas.microsoft.com/office/powerpoint/2010/main" val="14325719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23D95-6FD4-40A9-AD9A-32F142AE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SPECIES-SPECIFIC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13C9D-E7FD-48CC-A287-F169D65F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Dog evidence and integration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B1556-C987-488F-A92E-2F6029ED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8655-A614-4366-BBC9-F5E0C8CA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2AA3D-DE80-42F6-866D-42E8C8CEC09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Available evidence / remaining gap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Nominations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+ 10 − 1 shared = 14 native nominations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unique mappings; one ambiguous MAGE-family assay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developmental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Bgee TPM and BarkBase TMM-CPM need reference reconciliation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GSE304066 count/FPKM and reference conflicts remain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study IHC; Pfizer pooled iBAQ is not cell-resolved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14 unassigned / unassessed; no canine quantitative policy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F0E9A-445D-41E4-8724-14E3653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Human thresholds, antibody grades and normal-tissue absence never transfer by orthology.</a:t>
            </a:r>
          </a:p>
        </p:txBody>
      </p:sp>
    </p:spTree>
    <p:extLst>
      <p:ext uri="{BB962C8B-B14F-4D97-AF65-F5344CB8AC3E}">
        <p14:creationId xmlns:p14="http://schemas.microsoft.com/office/powerpoint/2010/main" val="17091637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E2262-87FF-472F-AB95-E15BE17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NOMINATIONS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EE453-C9AF-489D-9D9B-6F2CC20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Curated oncofetal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2C740-B5E8-4B01-9B34-8917E91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03276-8BCD-4806-9C7F-2EE5C4B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F834B-51A5-4C45-AFFE-41CB571C714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 and integration status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+ Petropoulos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gastrulation and preimplantation TPM sources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886a0d49f7b04191"/>
                        </a:rPr>
                        <a:t>Shaw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157 cancer-specific targets; six oncofetal annotations. Exon-specific scope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56f1f297e0d74c0b"/>
                        </a:rPr>
                        <a:t>TRIM71 liver study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Liver oncofetal signature; requires identity and measurement ingestion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0d66ddd02554c1a"/>
                        </a:rPr>
                        <a:t>Cardoso-Moreira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organ trajectories with child/adult comparisons; not integrated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61393-A946-4ED8-960A-0AF82957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Published nominations need independent normal/tumor filtering and postnatal coverage.</a:t>
            </a:r>
          </a:p>
        </p:txBody>
      </p:sp>
    </p:spTree>
    <p:extLst>
      <p:ext uri="{BB962C8B-B14F-4D97-AF65-F5344CB8AC3E}">
        <p14:creationId xmlns:p14="http://schemas.microsoft.com/office/powerpoint/2010/main" val="9920509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35457-0349-4E1C-BDBE-81CB1E15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1AC02-DCCB-431E-953E-80EB3C26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Common API with native evidence underneath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6DCB0-D635-44A2-AC03-0DB6FC9B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F8683-29F0-47C7-9AB7-F366E11C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02111-65F6-4FA9-933A-0FF4A1E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results = cta_selection.results(species="human")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 = cta_selection.audit(species="human")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audit.sources    audit.overlaps    audit.funnel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audit.explain("PRAME")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68FA1-ECAF-47E8-9D87-9076F7AD35F8}"/>
              </a:ext>
            </a:extLst>
          </p:cNvPr>
          <p:cNvGraphicFramePr/>
          <p:nvPr/>
        </p:nvGraphicFramePr>
        <p:xfrm>
          <a:off xmlns:a="http://schemas.openxmlformats.org/drawingml/2006/main" x="609600" y="381000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 / Unsafe / Other; classification gives the named category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assessment_status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Screened, incomplete evidence, normal hold, or unassessed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classification / subtype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categorical label; Other subtype always populated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11E81-A8FB-4CF1-9C85-808ADD56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Source-specific native units, tissue/cell context, confidence and coverage remain inspectable.</a:t>
            </a:r>
          </a:p>
        </p:txBody>
      </p:sp>
    </p:spTree>
    <p:extLst>
      <p:ext uri="{BB962C8B-B14F-4D97-AF65-F5344CB8AC3E}">
        <p14:creationId xmlns:p14="http://schemas.microsoft.com/office/powerpoint/2010/main" val="8291747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0A124-408F-46A7-8C42-EF474DC1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DATA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ADCE4-33D5-47DF-883B-B8CFB631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source resolves to a concrete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39D28-F1EE-47EA-853E-8BBE68F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31200-C25A-4696-BD6E-07A153F8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13428-B1D1-4E10-8DA3-77AB0DB2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catalog.ensure("gtex_tissue_rna")               # v11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catalog.ensure("gtex_tissue_rna", version="v10")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catalog.provenance("gtex_tissue_rna", "v11")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E1686-80A6-43EB-B24B-ADE851077FA5}"/>
              </a:ext>
            </a:extLst>
          </p:cNvPr>
          <p:cNvGraphicFramePr/>
          <p:nvPr/>
        </p:nvGraphicFramePr>
        <p:xfrm>
          <a:off xmlns:a="http://schemas.openxmlformats.org/drawingml/2006/main" x="609600" y="3238500"/>
          <a:ext xmlns:a="http://schemas.openxmlformats.org/drawingml/2006/main" cx="109728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Shared choice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Source-specific 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/ latest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Newest registered release; saved runs keep explicit pins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Concrete version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dbc796c13a5b4cae"/>
                        </a:rPr>
                        <a:t>GTEx v11</a:t>
                      </a:r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; </a:t>
                      </a:r>
                      <a:r>
                        <a:rPr sz="180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05589bb6c40a45b0"/>
                        </a:rPr>
                        <a:t>HPA v25.1</a:t>
                      </a:r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; a study snapshot or OncoRef build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Provenance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Version, content checksum, native unit, annotation and pipeline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same selector applies to native dog and mouse assets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B30B5-E476-43AB-B1F1-0F778D9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This analysis pins </a:t>
            </a:r>
            <a:r>
              <a:rPr sz="1725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416f7fdcd08941d6"/>
              </a:rPr>
              <a:t>GTEx v11</a:t>
            </a: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and </a:t>
            </a:r>
            <a:r>
              <a:rPr sz="1725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cc76ca91857413c"/>
              </a:rPr>
              <a:t>HPA v23</a:t>
            </a: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normal panels. A newer public default does not rewrite it.</a:t>
            </a:r>
          </a:p>
        </p:txBody>
      </p:sp>
    </p:spTree>
    <p:extLst>
      <p:ext uri="{BB962C8B-B14F-4D97-AF65-F5344CB8AC3E}">
        <p14:creationId xmlns:p14="http://schemas.microsoft.com/office/powerpoint/2010/main" val="1334150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2026-10-31T04:12:33.4770000Z</dcterms:created>
  <dcterms:modified xsi:type="dcterms:W3CDTF">2026-10-31T04:12:33.4770000Z</dcterms:modified>
</coreProperties>
</file>